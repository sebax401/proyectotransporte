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Bungee" charset="1" panose="00000000000000000000"/>
      <p:regular r:id="rId23"/>
    </p:embeddedFont>
    <p:embeddedFont>
      <p:font typeface="Questrial" charset="1" panose="02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2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2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2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1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grpSp>
        <p:nvGrpSpPr>
          <p:cNvPr name="Group 2" id="2"/>
          <p:cNvGrpSpPr/>
          <p:nvPr/>
        </p:nvGrpSpPr>
        <p:grpSpPr>
          <a:xfrm rot="0">
            <a:off x="878186" y="857737"/>
            <a:ext cx="16565336" cy="8571526"/>
            <a:chOff x="0" y="0"/>
            <a:chExt cx="4362887" cy="2257521"/>
          </a:xfrm>
        </p:grpSpPr>
        <p:sp>
          <p:nvSpPr>
            <p:cNvPr name="Freeform 3" id="3"/>
            <p:cNvSpPr/>
            <p:nvPr/>
          </p:nvSpPr>
          <p:spPr>
            <a:xfrm flipH="false" flipV="false" rot="0">
              <a:off x="0" y="0"/>
              <a:ext cx="4362887" cy="2257521"/>
            </a:xfrm>
            <a:custGeom>
              <a:avLst/>
              <a:gdLst/>
              <a:ahLst/>
              <a:cxnLst/>
              <a:rect r="r" b="b" t="t" l="l"/>
              <a:pathLst>
                <a:path h="2257521" w="4362887">
                  <a:moveTo>
                    <a:pt x="5141" y="0"/>
                  </a:moveTo>
                  <a:lnTo>
                    <a:pt x="4357746" y="0"/>
                  </a:lnTo>
                  <a:cubicBezTo>
                    <a:pt x="4360585" y="0"/>
                    <a:pt x="4362887" y="2302"/>
                    <a:pt x="4362887" y="5141"/>
                  </a:cubicBezTo>
                  <a:lnTo>
                    <a:pt x="4362887" y="2252380"/>
                  </a:lnTo>
                  <a:cubicBezTo>
                    <a:pt x="4362887" y="2253744"/>
                    <a:pt x="4362345" y="2255052"/>
                    <a:pt x="4361381" y="2256016"/>
                  </a:cubicBezTo>
                  <a:cubicBezTo>
                    <a:pt x="4360417" y="2256980"/>
                    <a:pt x="4359110" y="2257521"/>
                    <a:pt x="4357746" y="2257521"/>
                  </a:cubicBezTo>
                  <a:lnTo>
                    <a:pt x="5141" y="2257521"/>
                  </a:lnTo>
                  <a:cubicBezTo>
                    <a:pt x="2302" y="2257521"/>
                    <a:pt x="0" y="2255220"/>
                    <a:pt x="0" y="2252380"/>
                  </a:cubicBezTo>
                  <a:lnTo>
                    <a:pt x="0" y="5141"/>
                  </a:lnTo>
                  <a:cubicBezTo>
                    <a:pt x="0" y="2302"/>
                    <a:pt x="2302" y="0"/>
                    <a:pt x="5141" y="0"/>
                  </a:cubicBezTo>
                  <a:close/>
                </a:path>
              </a:pathLst>
            </a:custGeom>
            <a:solidFill>
              <a:srgbClr val="FFFFFF"/>
            </a:solidFill>
            <a:ln w="114300" cap="sq">
              <a:solidFill>
                <a:srgbClr val="000000"/>
              </a:solidFill>
              <a:prstDash val="solid"/>
              <a:miter/>
            </a:ln>
          </p:spPr>
        </p:sp>
        <p:sp>
          <p:nvSpPr>
            <p:cNvPr name="TextBox 4" id="4"/>
            <p:cNvSpPr txBox="true"/>
            <p:nvPr/>
          </p:nvSpPr>
          <p:spPr>
            <a:xfrm>
              <a:off x="0" y="-85725"/>
              <a:ext cx="4362887" cy="2343246"/>
            </a:xfrm>
            <a:prstGeom prst="rect">
              <a:avLst/>
            </a:prstGeom>
          </p:spPr>
          <p:txBody>
            <a:bodyPr anchor="ctr" rtlCol="false" tIns="50800" lIns="50800" bIns="50800" rIns="50800"/>
            <a:lstStyle/>
            <a:p>
              <a:pPr algn="ctr">
                <a:lnSpc>
                  <a:spcPts val="3174"/>
                </a:lnSpc>
              </a:pPr>
            </a:p>
          </p:txBody>
        </p:sp>
      </p:grpSp>
      <p:sp>
        <p:nvSpPr>
          <p:cNvPr name="Freeform 5" id="5"/>
          <p:cNvSpPr/>
          <p:nvPr/>
        </p:nvSpPr>
        <p:spPr>
          <a:xfrm flipH="false" flipV="false" rot="0">
            <a:off x="-7684322" y="4529169"/>
            <a:ext cx="11230619" cy="7330531"/>
          </a:xfrm>
          <a:custGeom>
            <a:avLst/>
            <a:gdLst/>
            <a:ahLst/>
            <a:cxnLst/>
            <a:rect r="r" b="b" t="t" l="l"/>
            <a:pathLst>
              <a:path h="7330531" w="11230619">
                <a:moveTo>
                  <a:pt x="0" y="0"/>
                </a:moveTo>
                <a:lnTo>
                  <a:pt x="11230619" y="0"/>
                </a:lnTo>
                <a:lnTo>
                  <a:pt x="11230619" y="7330531"/>
                </a:lnTo>
                <a:lnTo>
                  <a:pt x="0" y="73305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784509" y="-693607"/>
            <a:ext cx="10126259" cy="6609686"/>
          </a:xfrm>
          <a:custGeom>
            <a:avLst/>
            <a:gdLst/>
            <a:ahLst/>
            <a:cxnLst/>
            <a:rect r="r" b="b" t="t" l="l"/>
            <a:pathLst>
              <a:path h="6609686" w="10126259">
                <a:moveTo>
                  <a:pt x="0" y="0"/>
                </a:moveTo>
                <a:lnTo>
                  <a:pt x="10126259" y="0"/>
                </a:lnTo>
                <a:lnTo>
                  <a:pt x="10126259" y="6609686"/>
                </a:lnTo>
                <a:lnTo>
                  <a:pt x="0" y="66096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952162" y="338138"/>
            <a:ext cx="898807" cy="2019791"/>
          </a:xfrm>
          <a:custGeom>
            <a:avLst/>
            <a:gdLst/>
            <a:ahLst/>
            <a:cxnLst/>
            <a:rect r="r" b="b" t="t" l="l"/>
            <a:pathLst>
              <a:path h="2019791" w="898807">
                <a:moveTo>
                  <a:pt x="0" y="0"/>
                </a:moveTo>
                <a:lnTo>
                  <a:pt x="898807" y="0"/>
                </a:lnTo>
                <a:lnTo>
                  <a:pt x="898807" y="2019790"/>
                </a:lnTo>
                <a:lnTo>
                  <a:pt x="0" y="20197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1935342">
            <a:off x="15277174" y="6801731"/>
            <a:ext cx="1183605" cy="2188484"/>
          </a:xfrm>
          <a:custGeom>
            <a:avLst/>
            <a:gdLst/>
            <a:ahLst/>
            <a:cxnLst/>
            <a:rect r="r" b="b" t="t" l="l"/>
            <a:pathLst>
              <a:path h="2188484" w="1183605">
                <a:moveTo>
                  <a:pt x="1183605" y="0"/>
                </a:moveTo>
                <a:lnTo>
                  <a:pt x="0" y="0"/>
                </a:lnTo>
                <a:lnTo>
                  <a:pt x="0" y="2188484"/>
                </a:lnTo>
                <a:lnTo>
                  <a:pt x="1183605" y="2188484"/>
                </a:lnTo>
                <a:lnTo>
                  <a:pt x="118360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2483638">
            <a:off x="8424582" y="1490240"/>
            <a:ext cx="1472544" cy="1487728"/>
          </a:xfrm>
          <a:custGeom>
            <a:avLst/>
            <a:gdLst/>
            <a:ahLst/>
            <a:cxnLst/>
            <a:rect r="r" b="b" t="t" l="l"/>
            <a:pathLst>
              <a:path h="1487728" w="1472544">
                <a:moveTo>
                  <a:pt x="0" y="0"/>
                </a:moveTo>
                <a:lnTo>
                  <a:pt x="1472544" y="0"/>
                </a:lnTo>
                <a:lnTo>
                  <a:pt x="1472544" y="1487727"/>
                </a:lnTo>
                <a:lnTo>
                  <a:pt x="0" y="1487727"/>
                </a:lnTo>
                <a:lnTo>
                  <a:pt x="0" y="0"/>
                </a:lnTo>
                <a:close/>
              </a:path>
            </a:pathLst>
          </a:custGeom>
          <a:blipFill>
            <a:blip r:embed="rId8"/>
            <a:stretch>
              <a:fillRect l="0" t="0" r="-90511" b="-89118"/>
            </a:stretch>
          </a:blipFill>
        </p:spPr>
      </p:sp>
      <p:grpSp>
        <p:nvGrpSpPr>
          <p:cNvPr name="Group 10" id="10"/>
          <p:cNvGrpSpPr/>
          <p:nvPr/>
        </p:nvGrpSpPr>
        <p:grpSpPr>
          <a:xfrm rot="0">
            <a:off x="2973510" y="4824140"/>
            <a:ext cx="12340981" cy="2183877"/>
            <a:chOff x="0" y="0"/>
            <a:chExt cx="2911740" cy="515266"/>
          </a:xfrm>
        </p:grpSpPr>
        <p:sp>
          <p:nvSpPr>
            <p:cNvPr name="Freeform 11" id="11"/>
            <p:cNvSpPr/>
            <p:nvPr/>
          </p:nvSpPr>
          <p:spPr>
            <a:xfrm flipH="false" flipV="false" rot="0">
              <a:off x="0" y="0"/>
              <a:ext cx="2911740" cy="515266"/>
            </a:xfrm>
            <a:custGeom>
              <a:avLst/>
              <a:gdLst/>
              <a:ahLst/>
              <a:cxnLst/>
              <a:rect r="r" b="b" t="t" l="l"/>
              <a:pathLst>
                <a:path h="515266" w="2911740">
                  <a:moveTo>
                    <a:pt x="7528" y="0"/>
                  </a:moveTo>
                  <a:lnTo>
                    <a:pt x="2904212" y="0"/>
                  </a:lnTo>
                  <a:cubicBezTo>
                    <a:pt x="2908370" y="0"/>
                    <a:pt x="2911740" y="3370"/>
                    <a:pt x="2911740" y="7528"/>
                  </a:cubicBezTo>
                  <a:lnTo>
                    <a:pt x="2911740" y="507738"/>
                  </a:lnTo>
                  <a:cubicBezTo>
                    <a:pt x="2911740" y="509734"/>
                    <a:pt x="2910947" y="511649"/>
                    <a:pt x="2909535" y="513061"/>
                  </a:cubicBezTo>
                  <a:cubicBezTo>
                    <a:pt x="2908123" y="514472"/>
                    <a:pt x="2906208" y="515266"/>
                    <a:pt x="2904212" y="515266"/>
                  </a:cubicBezTo>
                  <a:lnTo>
                    <a:pt x="7528" y="515266"/>
                  </a:lnTo>
                  <a:cubicBezTo>
                    <a:pt x="5531" y="515266"/>
                    <a:pt x="3617" y="514472"/>
                    <a:pt x="2205" y="513061"/>
                  </a:cubicBezTo>
                  <a:cubicBezTo>
                    <a:pt x="793" y="511649"/>
                    <a:pt x="0" y="509734"/>
                    <a:pt x="0" y="507738"/>
                  </a:cubicBezTo>
                  <a:lnTo>
                    <a:pt x="0" y="7528"/>
                  </a:lnTo>
                  <a:cubicBezTo>
                    <a:pt x="0" y="5531"/>
                    <a:pt x="793" y="3617"/>
                    <a:pt x="2205" y="2205"/>
                  </a:cubicBezTo>
                  <a:cubicBezTo>
                    <a:pt x="3617" y="793"/>
                    <a:pt x="5531" y="0"/>
                    <a:pt x="7528" y="0"/>
                  </a:cubicBezTo>
                  <a:close/>
                </a:path>
              </a:pathLst>
            </a:custGeom>
            <a:solidFill>
              <a:srgbClr val="70B2E2"/>
            </a:solidFill>
          </p:spPr>
        </p:sp>
        <p:sp>
          <p:nvSpPr>
            <p:cNvPr name="TextBox 12" id="12"/>
            <p:cNvSpPr txBox="true"/>
            <p:nvPr/>
          </p:nvSpPr>
          <p:spPr>
            <a:xfrm>
              <a:off x="0" y="-85725"/>
              <a:ext cx="2911740" cy="600991"/>
            </a:xfrm>
            <a:prstGeom prst="rect">
              <a:avLst/>
            </a:prstGeom>
          </p:spPr>
          <p:txBody>
            <a:bodyPr anchor="ctr" rtlCol="false" tIns="0" lIns="0" bIns="0" rIns="0"/>
            <a:lstStyle/>
            <a:p>
              <a:pPr algn="ctr">
                <a:lnSpc>
                  <a:spcPts val="3035"/>
                </a:lnSpc>
              </a:pPr>
            </a:p>
          </p:txBody>
        </p:sp>
      </p:grpSp>
      <p:sp>
        <p:nvSpPr>
          <p:cNvPr name="TextBox 13" id="13"/>
          <p:cNvSpPr txBox="true"/>
          <p:nvPr/>
        </p:nvSpPr>
        <p:spPr>
          <a:xfrm rot="0">
            <a:off x="2802300" y="3145633"/>
            <a:ext cx="12683400" cy="1678507"/>
          </a:xfrm>
          <a:prstGeom prst="rect">
            <a:avLst/>
          </a:prstGeom>
        </p:spPr>
        <p:txBody>
          <a:bodyPr anchor="t" rtlCol="false" tIns="0" lIns="0" bIns="0" rIns="0">
            <a:spAutoFit/>
          </a:bodyPr>
          <a:lstStyle/>
          <a:p>
            <a:pPr algn="ctr" marL="0" indent="0" lvl="0">
              <a:lnSpc>
                <a:spcPts val="11504"/>
              </a:lnSpc>
            </a:pPr>
            <a:r>
              <a:rPr lang="en-US" sz="10181">
                <a:solidFill>
                  <a:srgbClr val="000000"/>
                </a:solidFill>
                <a:latin typeface="Bungee"/>
                <a:ea typeface="Bungee"/>
                <a:cs typeface="Bungee"/>
                <a:sym typeface="Bungee"/>
              </a:rPr>
              <a:t>PROYECTO:</a:t>
            </a:r>
          </a:p>
        </p:txBody>
      </p:sp>
      <p:sp>
        <p:nvSpPr>
          <p:cNvPr name="TextBox 14" id="14"/>
          <p:cNvSpPr txBox="true"/>
          <p:nvPr/>
        </p:nvSpPr>
        <p:spPr>
          <a:xfrm rot="0">
            <a:off x="3042170" y="5002646"/>
            <a:ext cx="12237369" cy="1919235"/>
          </a:xfrm>
          <a:prstGeom prst="rect">
            <a:avLst/>
          </a:prstGeom>
        </p:spPr>
        <p:txBody>
          <a:bodyPr anchor="t" rtlCol="false" tIns="0" lIns="0" bIns="0" rIns="0">
            <a:spAutoFit/>
          </a:bodyPr>
          <a:lstStyle/>
          <a:p>
            <a:pPr algn="ctr" marL="0" indent="0" lvl="0">
              <a:lnSpc>
                <a:spcPts val="12450"/>
              </a:lnSpc>
            </a:pPr>
            <a:r>
              <a:rPr lang="en-US" sz="12835">
                <a:solidFill>
                  <a:srgbClr val="FFFFFF"/>
                </a:solidFill>
                <a:latin typeface="Bungee"/>
                <a:ea typeface="Bungee"/>
                <a:cs typeface="Bungee"/>
                <a:sym typeface="Bungee"/>
              </a:rPr>
              <a:t>RUTAGEST</a:t>
            </a:r>
          </a:p>
        </p:txBody>
      </p:sp>
      <p:sp>
        <p:nvSpPr>
          <p:cNvPr name="TextBox 15" id="15"/>
          <p:cNvSpPr txBox="true"/>
          <p:nvPr/>
        </p:nvSpPr>
        <p:spPr>
          <a:xfrm rot="0">
            <a:off x="2688824" y="7413210"/>
            <a:ext cx="12237369" cy="1233297"/>
          </a:xfrm>
          <a:prstGeom prst="rect">
            <a:avLst/>
          </a:prstGeom>
        </p:spPr>
        <p:txBody>
          <a:bodyPr anchor="t" rtlCol="false" tIns="0" lIns="0" bIns="0" rIns="0">
            <a:spAutoFit/>
          </a:bodyPr>
          <a:lstStyle/>
          <a:p>
            <a:pPr algn="ctr">
              <a:lnSpc>
                <a:spcPts val="3174"/>
              </a:lnSpc>
            </a:pPr>
            <a:r>
              <a:rPr lang="en-US" sz="2300" spc="-266">
                <a:solidFill>
                  <a:srgbClr val="000000"/>
                </a:solidFill>
                <a:latin typeface="Bungee"/>
                <a:ea typeface="Bungee"/>
                <a:cs typeface="Bungee"/>
                <a:sym typeface="Bungee"/>
              </a:rPr>
              <a:t>Integrantes:  Sebastian  cabrera,  cristobal oyarzun.</a:t>
            </a:r>
          </a:p>
          <a:p>
            <a:pPr algn="ctr">
              <a:lnSpc>
                <a:spcPts val="3174"/>
              </a:lnSpc>
            </a:pPr>
            <a:r>
              <a:rPr lang="en-US" sz="2300" spc="-266">
                <a:solidFill>
                  <a:srgbClr val="000000"/>
                </a:solidFill>
                <a:latin typeface="Bungee"/>
                <a:ea typeface="Bungee"/>
                <a:cs typeface="Bungee"/>
                <a:sym typeface="Bungee"/>
              </a:rPr>
              <a:t>docente:  Mauricio  Figueroa</a:t>
            </a:r>
          </a:p>
          <a:p>
            <a:pPr algn="ctr">
              <a:lnSpc>
                <a:spcPts val="3174"/>
              </a:lnSpc>
              <a:spcBef>
                <a:spcPct val="0"/>
              </a:spcBef>
            </a:pPr>
            <a:r>
              <a:rPr lang="en-US" sz="2300" spc="-266">
                <a:solidFill>
                  <a:srgbClr val="000000"/>
                </a:solidFill>
                <a:latin typeface="Bungee"/>
                <a:ea typeface="Bungee"/>
                <a:cs typeface="Bungee"/>
                <a:sym typeface="Bungee"/>
              </a:rPr>
              <a:t>Asignatura:  Capstone  oo2d</a:t>
            </a:r>
          </a:p>
        </p:txBody>
      </p:sp>
      <p:sp>
        <p:nvSpPr>
          <p:cNvPr name="TextBox 16" id="16"/>
          <p:cNvSpPr txBox="true"/>
          <p:nvPr/>
        </p:nvSpPr>
        <p:spPr>
          <a:xfrm rot="0">
            <a:off x="430474" y="152498"/>
            <a:ext cx="185589" cy="465921"/>
          </a:xfrm>
          <a:prstGeom prst="rect">
            <a:avLst/>
          </a:prstGeom>
        </p:spPr>
        <p:txBody>
          <a:bodyPr anchor="t" rtlCol="false" tIns="0" lIns="0" bIns="0" rIns="0">
            <a:spAutoFit/>
          </a:bodyPr>
          <a:lstStyle/>
          <a:p>
            <a:pPr algn="ctr">
              <a:lnSpc>
                <a:spcPts val="3719"/>
              </a:lnSpc>
              <a:spcBef>
                <a:spcPct val="0"/>
              </a:spcBef>
            </a:pPr>
            <a:r>
              <a:rPr lang="en-US" sz="2656">
                <a:solidFill>
                  <a:srgbClr val="000000"/>
                </a:solidFill>
                <a:latin typeface="Questrial"/>
                <a:ea typeface="Questrial"/>
                <a:cs typeface="Questrial"/>
                <a:sym typeface="Questrial"/>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grpSp>
        <p:nvGrpSpPr>
          <p:cNvPr name="Group 2" id="2"/>
          <p:cNvGrpSpPr/>
          <p:nvPr/>
        </p:nvGrpSpPr>
        <p:grpSpPr>
          <a:xfrm rot="0">
            <a:off x="861332" y="686774"/>
            <a:ext cx="16565336" cy="8913453"/>
            <a:chOff x="0" y="0"/>
            <a:chExt cx="4362887" cy="2347576"/>
          </a:xfrm>
        </p:grpSpPr>
        <p:sp>
          <p:nvSpPr>
            <p:cNvPr name="Freeform 3" id="3"/>
            <p:cNvSpPr/>
            <p:nvPr/>
          </p:nvSpPr>
          <p:spPr>
            <a:xfrm flipH="false" flipV="false" rot="0">
              <a:off x="0" y="0"/>
              <a:ext cx="4362887" cy="2347576"/>
            </a:xfrm>
            <a:custGeom>
              <a:avLst/>
              <a:gdLst/>
              <a:ahLst/>
              <a:cxnLst/>
              <a:rect r="r" b="b" t="t" l="l"/>
              <a:pathLst>
                <a:path h="2347576" w="4362887">
                  <a:moveTo>
                    <a:pt x="5141" y="0"/>
                  </a:moveTo>
                  <a:lnTo>
                    <a:pt x="4357746" y="0"/>
                  </a:lnTo>
                  <a:cubicBezTo>
                    <a:pt x="4360585" y="0"/>
                    <a:pt x="4362887" y="2302"/>
                    <a:pt x="4362887" y="5141"/>
                  </a:cubicBezTo>
                  <a:lnTo>
                    <a:pt x="4362887" y="2342435"/>
                  </a:lnTo>
                  <a:cubicBezTo>
                    <a:pt x="4362887" y="2345274"/>
                    <a:pt x="4360585" y="2347576"/>
                    <a:pt x="4357746" y="2347576"/>
                  </a:cubicBezTo>
                  <a:lnTo>
                    <a:pt x="5141" y="2347576"/>
                  </a:lnTo>
                  <a:cubicBezTo>
                    <a:pt x="3777" y="2347576"/>
                    <a:pt x="2470" y="2347034"/>
                    <a:pt x="1506" y="2346070"/>
                  </a:cubicBezTo>
                  <a:cubicBezTo>
                    <a:pt x="542" y="2345106"/>
                    <a:pt x="0" y="2343799"/>
                    <a:pt x="0" y="2342435"/>
                  </a:cubicBezTo>
                  <a:lnTo>
                    <a:pt x="0" y="5141"/>
                  </a:lnTo>
                  <a:cubicBezTo>
                    <a:pt x="0" y="2302"/>
                    <a:pt x="2302" y="0"/>
                    <a:pt x="5141" y="0"/>
                  </a:cubicBezTo>
                  <a:close/>
                </a:path>
              </a:pathLst>
            </a:custGeom>
            <a:solidFill>
              <a:srgbClr val="FFFFFF"/>
            </a:solidFill>
            <a:ln w="66675" cap="sq">
              <a:solidFill>
                <a:srgbClr val="000000"/>
              </a:solidFill>
              <a:prstDash val="solid"/>
              <a:miter/>
            </a:ln>
          </p:spPr>
        </p:sp>
        <p:sp>
          <p:nvSpPr>
            <p:cNvPr name="TextBox 4" id="4"/>
            <p:cNvSpPr txBox="true"/>
            <p:nvPr/>
          </p:nvSpPr>
          <p:spPr>
            <a:xfrm>
              <a:off x="0" y="-85725"/>
              <a:ext cx="4362887" cy="2433301"/>
            </a:xfrm>
            <a:prstGeom prst="rect">
              <a:avLst/>
            </a:prstGeom>
          </p:spPr>
          <p:txBody>
            <a:bodyPr anchor="ctr" rtlCol="false" tIns="50800" lIns="50800" bIns="50800" rIns="50800"/>
            <a:lstStyle/>
            <a:p>
              <a:pPr algn="ctr">
                <a:lnSpc>
                  <a:spcPts val="3174"/>
                </a:lnSpc>
              </a:pPr>
            </a:p>
          </p:txBody>
        </p:sp>
      </p:grpSp>
      <p:sp>
        <p:nvSpPr>
          <p:cNvPr name="AutoShape 5" id="5"/>
          <p:cNvSpPr/>
          <p:nvPr/>
        </p:nvSpPr>
        <p:spPr>
          <a:xfrm>
            <a:off x="10189274" y="1828754"/>
            <a:ext cx="6197823" cy="0"/>
          </a:xfrm>
          <a:prstGeom prst="line">
            <a:avLst/>
          </a:prstGeom>
          <a:ln cap="flat" w="28575">
            <a:solidFill>
              <a:srgbClr val="000000"/>
            </a:solidFill>
            <a:prstDash val="solid"/>
            <a:headEnd type="none" len="sm" w="sm"/>
            <a:tailEnd type="none" len="sm" w="sm"/>
          </a:ln>
        </p:spPr>
      </p:sp>
      <p:sp>
        <p:nvSpPr>
          <p:cNvPr name="AutoShape 6" id="6"/>
          <p:cNvSpPr/>
          <p:nvPr/>
        </p:nvSpPr>
        <p:spPr>
          <a:xfrm>
            <a:off x="10189274" y="2614103"/>
            <a:ext cx="6197823" cy="0"/>
          </a:xfrm>
          <a:prstGeom prst="line">
            <a:avLst/>
          </a:prstGeom>
          <a:ln cap="flat" w="28575">
            <a:solidFill>
              <a:srgbClr val="000000"/>
            </a:solidFill>
            <a:prstDash val="solid"/>
            <a:headEnd type="none" len="sm" w="sm"/>
            <a:tailEnd type="none" len="sm" w="sm"/>
          </a:ln>
        </p:spPr>
      </p:sp>
      <p:sp>
        <p:nvSpPr>
          <p:cNvPr name="AutoShape 7" id="7"/>
          <p:cNvSpPr/>
          <p:nvPr/>
        </p:nvSpPr>
        <p:spPr>
          <a:xfrm>
            <a:off x="10189274" y="3399451"/>
            <a:ext cx="6197823" cy="0"/>
          </a:xfrm>
          <a:prstGeom prst="line">
            <a:avLst/>
          </a:prstGeom>
          <a:ln cap="flat" w="28575">
            <a:solidFill>
              <a:srgbClr val="000000"/>
            </a:solidFill>
            <a:prstDash val="solid"/>
            <a:headEnd type="none" len="sm" w="sm"/>
            <a:tailEnd type="none" len="sm" w="sm"/>
          </a:ln>
        </p:spPr>
      </p:sp>
      <p:sp>
        <p:nvSpPr>
          <p:cNvPr name="AutoShape 8" id="8"/>
          <p:cNvSpPr/>
          <p:nvPr/>
        </p:nvSpPr>
        <p:spPr>
          <a:xfrm>
            <a:off x="10189274" y="4184799"/>
            <a:ext cx="6197823" cy="0"/>
          </a:xfrm>
          <a:prstGeom prst="line">
            <a:avLst/>
          </a:prstGeom>
          <a:ln cap="flat" w="28575">
            <a:solidFill>
              <a:srgbClr val="000000"/>
            </a:solidFill>
            <a:prstDash val="solid"/>
            <a:headEnd type="none" len="sm" w="sm"/>
            <a:tailEnd type="none" len="sm" w="sm"/>
          </a:ln>
        </p:spPr>
      </p:sp>
      <p:sp>
        <p:nvSpPr>
          <p:cNvPr name="AutoShape 9" id="9"/>
          <p:cNvSpPr/>
          <p:nvPr/>
        </p:nvSpPr>
        <p:spPr>
          <a:xfrm>
            <a:off x="10189274" y="4970147"/>
            <a:ext cx="6197823" cy="0"/>
          </a:xfrm>
          <a:prstGeom prst="line">
            <a:avLst/>
          </a:prstGeom>
          <a:ln cap="flat" w="28575">
            <a:solidFill>
              <a:srgbClr val="000000"/>
            </a:solidFill>
            <a:prstDash val="solid"/>
            <a:headEnd type="none" len="sm" w="sm"/>
            <a:tailEnd type="none" len="sm" w="sm"/>
          </a:ln>
        </p:spPr>
      </p:sp>
      <p:sp>
        <p:nvSpPr>
          <p:cNvPr name="AutoShape 10" id="10"/>
          <p:cNvSpPr/>
          <p:nvPr/>
        </p:nvSpPr>
        <p:spPr>
          <a:xfrm flipV="true">
            <a:off x="10189274" y="1042987"/>
            <a:ext cx="6197823" cy="0"/>
          </a:xfrm>
          <a:prstGeom prst="line">
            <a:avLst/>
          </a:prstGeom>
          <a:ln cap="flat" w="28575">
            <a:solidFill>
              <a:srgbClr val="000000"/>
            </a:solidFill>
            <a:prstDash val="solid"/>
            <a:headEnd type="none" len="sm" w="sm"/>
            <a:tailEnd type="none" len="sm" w="sm"/>
          </a:ln>
        </p:spPr>
      </p:sp>
      <p:sp>
        <p:nvSpPr>
          <p:cNvPr name="AutoShape 11" id="11"/>
          <p:cNvSpPr/>
          <p:nvPr/>
        </p:nvSpPr>
        <p:spPr>
          <a:xfrm>
            <a:off x="10189274" y="5794692"/>
            <a:ext cx="6197823" cy="0"/>
          </a:xfrm>
          <a:prstGeom prst="line">
            <a:avLst/>
          </a:prstGeom>
          <a:ln cap="flat" w="28575">
            <a:solidFill>
              <a:srgbClr val="000000"/>
            </a:solidFill>
            <a:prstDash val="solid"/>
            <a:headEnd type="none" len="sm" w="sm"/>
            <a:tailEnd type="none" len="sm" w="sm"/>
          </a:ln>
        </p:spPr>
      </p:sp>
      <p:sp>
        <p:nvSpPr>
          <p:cNvPr name="AutoShape 12" id="12"/>
          <p:cNvSpPr/>
          <p:nvPr/>
        </p:nvSpPr>
        <p:spPr>
          <a:xfrm>
            <a:off x="10189274" y="6580040"/>
            <a:ext cx="6197823" cy="0"/>
          </a:xfrm>
          <a:prstGeom prst="line">
            <a:avLst/>
          </a:prstGeom>
          <a:ln cap="flat" w="28575">
            <a:solidFill>
              <a:srgbClr val="000000"/>
            </a:solidFill>
            <a:prstDash val="solid"/>
            <a:headEnd type="none" len="sm" w="sm"/>
            <a:tailEnd type="none" len="sm" w="sm"/>
          </a:ln>
        </p:spPr>
      </p:sp>
      <p:sp>
        <p:nvSpPr>
          <p:cNvPr name="AutoShape 13" id="13"/>
          <p:cNvSpPr/>
          <p:nvPr/>
        </p:nvSpPr>
        <p:spPr>
          <a:xfrm>
            <a:off x="10189274" y="7365389"/>
            <a:ext cx="6197823" cy="0"/>
          </a:xfrm>
          <a:prstGeom prst="line">
            <a:avLst/>
          </a:prstGeom>
          <a:ln cap="flat" w="28575">
            <a:solidFill>
              <a:srgbClr val="000000"/>
            </a:solidFill>
            <a:prstDash val="solid"/>
            <a:headEnd type="none" len="sm" w="sm"/>
            <a:tailEnd type="none" len="sm" w="sm"/>
          </a:ln>
        </p:spPr>
      </p:sp>
      <p:sp>
        <p:nvSpPr>
          <p:cNvPr name="TextBox 14" id="14"/>
          <p:cNvSpPr txBox="true"/>
          <p:nvPr/>
        </p:nvSpPr>
        <p:spPr>
          <a:xfrm rot="0">
            <a:off x="10189274" y="1153254"/>
            <a:ext cx="6474282" cy="470330"/>
          </a:xfrm>
          <a:prstGeom prst="rect">
            <a:avLst/>
          </a:prstGeom>
        </p:spPr>
        <p:txBody>
          <a:bodyPr anchor="t" rtlCol="false" tIns="0" lIns="0" bIns="0" rIns="0">
            <a:spAutoFit/>
          </a:bodyPr>
          <a:lstStyle/>
          <a:p>
            <a:pPr algn="l">
              <a:lnSpc>
                <a:spcPts val="3719"/>
              </a:lnSpc>
              <a:spcBef>
                <a:spcPct val="0"/>
              </a:spcBef>
            </a:pPr>
            <a:r>
              <a:rPr lang="en-US" sz="2656">
                <a:solidFill>
                  <a:srgbClr val="05061C"/>
                </a:solidFill>
                <a:latin typeface="Questrial"/>
                <a:ea typeface="Questrial"/>
                <a:cs typeface="Questrial"/>
                <a:sym typeface="Questrial"/>
              </a:rPr>
              <a:t>01. Contexto</a:t>
            </a:r>
          </a:p>
        </p:txBody>
      </p:sp>
      <p:sp>
        <p:nvSpPr>
          <p:cNvPr name="TextBox 15" id="15"/>
          <p:cNvSpPr txBox="true"/>
          <p:nvPr/>
        </p:nvSpPr>
        <p:spPr>
          <a:xfrm rot="0">
            <a:off x="10189274" y="1933777"/>
            <a:ext cx="6474282" cy="470330"/>
          </a:xfrm>
          <a:prstGeom prst="rect">
            <a:avLst/>
          </a:prstGeom>
        </p:spPr>
        <p:txBody>
          <a:bodyPr anchor="t" rtlCol="false" tIns="0" lIns="0" bIns="0" rIns="0">
            <a:spAutoFit/>
          </a:bodyPr>
          <a:lstStyle/>
          <a:p>
            <a:pPr algn="l">
              <a:lnSpc>
                <a:spcPts val="3719"/>
              </a:lnSpc>
              <a:spcBef>
                <a:spcPct val="0"/>
              </a:spcBef>
            </a:pPr>
            <a:r>
              <a:rPr lang="en-US" sz="2656">
                <a:solidFill>
                  <a:srgbClr val="05061C"/>
                </a:solidFill>
                <a:latin typeface="Questrial"/>
                <a:ea typeface="Questrial"/>
                <a:cs typeface="Questrial"/>
                <a:sym typeface="Questrial"/>
              </a:rPr>
              <a:t>02. Problema</a:t>
            </a:r>
          </a:p>
        </p:txBody>
      </p:sp>
      <p:sp>
        <p:nvSpPr>
          <p:cNvPr name="TextBox 16" id="16"/>
          <p:cNvSpPr txBox="true"/>
          <p:nvPr/>
        </p:nvSpPr>
        <p:spPr>
          <a:xfrm rot="0">
            <a:off x="10189274" y="2728599"/>
            <a:ext cx="6474282" cy="470330"/>
          </a:xfrm>
          <a:prstGeom prst="rect">
            <a:avLst/>
          </a:prstGeom>
        </p:spPr>
        <p:txBody>
          <a:bodyPr anchor="t" rtlCol="false" tIns="0" lIns="0" bIns="0" rIns="0">
            <a:spAutoFit/>
          </a:bodyPr>
          <a:lstStyle/>
          <a:p>
            <a:pPr algn="l">
              <a:lnSpc>
                <a:spcPts val="3719"/>
              </a:lnSpc>
              <a:spcBef>
                <a:spcPct val="0"/>
              </a:spcBef>
            </a:pPr>
            <a:r>
              <a:rPr lang="en-US" sz="2656">
                <a:solidFill>
                  <a:srgbClr val="05061C"/>
                </a:solidFill>
                <a:latin typeface="Questrial"/>
                <a:ea typeface="Questrial"/>
                <a:cs typeface="Questrial"/>
                <a:sym typeface="Questrial"/>
              </a:rPr>
              <a:t>03. Necesidad</a:t>
            </a:r>
          </a:p>
        </p:txBody>
      </p:sp>
      <p:sp>
        <p:nvSpPr>
          <p:cNvPr name="TextBox 17" id="17"/>
          <p:cNvSpPr txBox="true"/>
          <p:nvPr/>
        </p:nvSpPr>
        <p:spPr>
          <a:xfrm rot="0">
            <a:off x="10189274" y="3512072"/>
            <a:ext cx="6474282" cy="470330"/>
          </a:xfrm>
          <a:prstGeom prst="rect">
            <a:avLst/>
          </a:prstGeom>
        </p:spPr>
        <p:txBody>
          <a:bodyPr anchor="t" rtlCol="false" tIns="0" lIns="0" bIns="0" rIns="0">
            <a:spAutoFit/>
          </a:bodyPr>
          <a:lstStyle/>
          <a:p>
            <a:pPr algn="l">
              <a:lnSpc>
                <a:spcPts val="3719"/>
              </a:lnSpc>
              <a:spcBef>
                <a:spcPct val="0"/>
              </a:spcBef>
            </a:pPr>
            <a:r>
              <a:rPr lang="en-US" sz="2656">
                <a:solidFill>
                  <a:srgbClr val="05061C"/>
                </a:solidFill>
                <a:latin typeface="Questrial"/>
                <a:ea typeface="Questrial"/>
                <a:cs typeface="Questrial"/>
                <a:sym typeface="Questrial"/>
              </a:rPr>
              <a:t>04. Solucion</a:t>
            </a:r>
          </a:p>
        </p:txBody>
      </p:sp>
      <p:sp>
        <p:nvSpPr>
          <p:cNvPr name="TextBox 18" id="18"/>
          <p:cNvSpPr txBox="true"/>
          <p:nvPr/>
        </p:nvSpPr>
        <p:spPr>
          <a:xfrm rot="0">
            <a:off x="10189274" y="4297420"/>
            <a:ext cx="6474282" cy="470330"/>
          </a:xfrm>
          <a:prstGeom prst="rect">
            <a:avLst/>
          </a:prstGeom>
        </p:spPr>
        <p:txBody>
          <a:bodyPr anchor="t" rtlCol="false" tIns="0" lIns="0" bIns="0" rIns="0">
            <a:spAutoFit/>
          </a:bodyPr>
          <a:lstStyle/>
          <a:p>
            <a:pPr algn="l">
              <a:lnSpc>
                <a:spcPts val="3719"/>
              </a:lnSpc>
              <a:spcBef>
                <a:spcPct val="0"/>
              </a:spcBef>
            </a:pPr>
            <a:r>
              <a:rPr lang="en-US" sz="2656">
                <a:solidFill>
                  <a:srgbClr val="05061C"/>
                </a:solidFill>
                <a:latin typeface="Questrial"/>
                <a:ea typeface="Questrial"/>
                <a:cs typeface="Questrial"/>
                <a:sym typeface="Questrial"/>
              </a:rPr>
              <a:t>05. Requerimientos</a:t>
            </a:r>
          </a:p>
        </p:txBody>
      </p:sp>
      <p:sp>
        <p:nvSpPr>
          <p:cNvPr name="TextBox 19" id="19"/>
          <p:cNvSpPr txBox="true"/>
          <p:nvPr/>
        </p:nvSpPr>
        <p:spPr>
          <a:xfrm rot="0">
            <a:off x="10189274" y="5123841"/>
            <a:ext cx="6474282" cy="470330"/>
          </a:xfrm>
          <a:prstGeom prst="rect">
            <a:avLst/>
          </a:prstGeom>
        </p:spPr>
        <p:txBody>
          <a:bodyPr anchor="t" rtlCol="false" tIns="0" lIns="0" bIns="0" rIns="0">
            <a:spAutoFit/>
          </a:bodyPr>
          <a:lstStyle/>
          <a:p>
            <a:pPr algn="l">
              <a:lnSpc>
                <a:spcPts val="3719"/>
              </a:lnSpc>
              <a:spcBef>
                <a:spcPct val="0"/>
              </a:spcBef>
            </a:pPr>
            <a:r>
              <a:rPr lang="en-US" sz="2656">
                <a:solidFill>
                  <a:srgbClr val="05061C"/>
                </a:solidFill>
                <a:latin typeface="Questrial"/>
                <a:ea typeface="Questrial"/>
                <a:cs typeface="Questrial"/>
                <a:sym typeface="Questrial"/>
              </a:rPr>
              <a:t>06. Arquitecturas</a:t>
            </a:r>
          </a:p>
        </p:txBody>
      </p:sp>
      <p:sp>
        <p:nvSpPr>
          <p:cNvPr name="TextBox 20" id="20"/>
          <p:cNvSpPr txBox="true"/>
          <p:nvPr/>
        </p:nvSpPr>
        <p:spPr>
          <a:xfrm rot="0">
            <a:off x="10189274" y="5907314"/>
            <a:ext cx="6474282" cy="470330"/>
          </a:xfrm>
          <a:prstGeom prst="rect">
            <a:avLst/>
          </a:prstGeom>
        </p:spPr>
        <p:txBody>
          <a:bodyPr anchor="t" rtlCol="false" tIns="0" lIns="0" bIns="0" rIns="0">
            <a:spAutoFit/>
          </a:bodyPr>
          <a:lstStyle/>
          <a:p>
            <a:pPr algn="l">
              <a:lnSpc>
                <a:spcPts val="3719"/>
              </a:lnSpc>
              <a:spcBef>
                <a:spcPct val="0"/>
              </a:spcBef>
            </a:pPr>
            <a:r>
              <a:rPr lang="en-US" sz="2656">
                <a:solidFill>
                  <a:srgbClr val="05061C"/>
                </a:solidFill>
                <a:latin typeface="Questrial"/>
                <a:ea typeface="Questrial"/>
                <a:cs typeface="Questrial"/>
                <a:sym typeface="Questrial"/>
              </a:rPr>
              <a:t>07. Metodologias</a:t>
            </a:r>
          </a:p>
        </p:txBody>
      </p:sp>
      <p:sp>
        <p:nvSpPr>
          <p:cNvPr name="TextBox 21" id="21"/>
          <p:cNvSpPr txBox="true"/>
          <p:nvPr/>
        </p:nvSpPr>
        <p:spPr>
          <a:xfrm rot="0">
            <a:off x="10189274" y="6692662"/>
            <a:ext cx="6474282" cy="470330"/>
          </a:xfrm>
          <a:prstGeom prst="rect">
            <a:avLst/>
          </a:prstGeom>
        </p:spPr>
        <p:txBody>
          <a:bodyPr anchor="t" rtlCol="false" tIns="0" lIns="0" bIns="0" rIns="0">
            <a:spAutoFit/>
          </a:bodyPr>
          <a:lstStyle/>
          <a:p>
            <a:pPr algn="l">
              <a:lnSpc>
                <a:spcPts val="3719"/>
              </a:lnSpc>
              <a:spcBef>
                <a:spcPct val="0"/>
              </a:spcBef>
            </a:pPr>
            <a:r>
              <a:rPr lang="en-US" sz="2656">
                <a:solidFill>
                  <a:srgbClr val="05061C"/>
                </a:solidFill>
                <a:latin typeface="Questrial"/>
                <a:ea typeface="Questrial"/>
                <a:cs typeface="Questrial"/>
                <a:sym typeface="Questrial"/>
              </a:rPr>
              <a:t>08. Evidencias</a:t>
            </a:r>
          </a:p>
        </p:txBody>
      </p:sp>
      <p:sp>
        <p:nvSpPr>
          <p:cNvPr name="TextBox 22" id="22"/>
          <p:cNvSpPr txBox="true"/>
          <p:nvPr/>
        </p:nvSpPr>
        <p:spPr>
          <a:xfrm rot="0">
            <a:off x="2870975" y="1793595"/>
            <a:ext cx="6273025" cy="1106371"/>
          </a:xfrm>
          <a:prstGeom prst="rect">
            <a:avLst/>
          </a:prstGeom>
        </p:spPr>
        <p:txBody>
          <a:bodyPr anchor="t" rtlCol="false" tIns="0" lIns="0" bIns="0" rIns="0">
            <a:spAutoFit/>
          </a:bodyPr>
          <a:lstStyle/>
          <a:p>
            <a:pPr algn="just" marL="0" indent="0" lvl="0">
              <a:lnSpc>
                <a:spcPts val="7552"/>
              </a:lnSpc>
              <a:spcBef>
                <a:spcPct val="0"/>
              </a:spcBef>
            </a:pPr>
            <a:r>
              <a:rPr lang="en-US" sz="6865" spc="645">
                <a:solidFill>
                  <a:srgbClr val="05061C"/>
                </a:solidFill>
                <a:latin typeface="Bungee"/>
                <a:ea typeface="Bungee"/>
                <a:cs typeface="Bungee"/>
                <a:sym typeface="Bungee"/>
              </a:rPr>
              <a:t>CONTENIDO</a:t>
            </a:r>
          </a:p>
        </p:txBody>
      </p:sp>
      <p:sp>
        <p:nvSpPr>
          <p:cNvPr name="Freeform 23" id="23"/>
          <p:cNvSpPr/>
          <p:nvPr/>
        </p:nvSpPr>
        <p:spPr>
          <a:xfrm flipH="true" flipV="false" rot="0">
            <a:off x="2454737" y="3251570"/>
            <a:ext cx="6086046" cy="5521703"/>
          </a:xfrm>
          <a:custGeom>
            <a:avLst/>
            <a:gdLst/>
            <a:ahLst/>
            <a:cxnLst/>
            <a:rect r="r" b="b" t="t" l="l"/>
            <a:pathLst>
              <a:path h="5521703" w="6086046">
                <a:moveTo>
                  <a:pt x="6086046" y="0"/>
                </a:moveTo>
                <a:lnTo>
                  <a:pt x="0" y="0"/>
                </a:lnTo>
                <a:lnTo>
                  <a:pt x="0" y="5521704"/>
                </a:lnTo>
                <a:lnTo>
                  <a:pt x="6086046" y="5521704"/>
                </a:lnTo>
                <a:lnTo>
                  <a:pt x="608604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24" id="24"/>
          <p:cNvSpPr/>
          <p:nvPr/>
        </p:nvSpPr>
        <p:spPr>
          <a:xfrm>
            <a:off x="10189274" y="8129844"/>
            <a:ext cx="6197823" cy="0"/>
          </a:xfrm>
          <a:prstGeom prst="line">
            <a:avLst/>
          </a:prstGeom>
          <a:ln cap="flat" w="28575">
            <a:solidFill>
              <a:srgbClr val="000000"/>
            </a:solidFill>
            <a:prstDash val="solid"/>
            <a:headEnd type="none" len="sm" w="sm"/>
            <a:tailEnd type="none" len="sm" w="sm"/>
          </a:ln>
        </p:spPr>
      </p:sp>
      <p:sp>
        <p:nvSpPr>
          <p:cNvPr name="TextBox 25" id="25"/>
          <p:cNvSpPr txBox="true"/>
          <p:nvPr/>
        </p:nvSpPr>
        <p:spPr>
          <a:xfrm rot="0">
            <a:off x="10189274" y="7457117"/>
            <a:ext cx="6474282" cy="470330"/>
          </a:xfrm>
          <a:prstGeom prst="rect">
            <a:avLst/>
          </a:prstGeom>
        </p:spPr>
        <p:txBody>
          <a:bodyPr anchor="t" rtlCol="false" tIns="0" lIns="0" bIns="0" rIns="0">
            <a:spAutoFit/>
          </a:bodyPr>
          <a:lstStyle/>
          <a:p>
            <a:pPr algn="l">
              <a:lnSpc>
                <a:spcPts val="3719"/>
              </a:lnSpc>
              <a:spcBef>
                <a:spcPct val="0"/>
              </a:spcBef>
            </a:pPr>
            <a:r>
              <a:rPr lang="en-US" sz="2656">
                <a:solidFill>
                  <a:srgbClr val="05061C"/>
                </a:solidFill>
                <a:latin typeface="Questrial"/>
                <a:ea typeface="Questrial"/>
                <a:cs typeface="Questrial"/>
                <a:sym typeface="Questrial"/>
              </a:rPr>
              <a:t>09. Cronograma</a:t>
            </a:r>
          </a:p>
        </p:txBody>
      </p:sp>
      <p:sp>
        <p:nvSpPr>
          <p:cNvPr name="AutoShape 26" id="26"/>
          <p:cNvSpPr/>
          <p:nvPr/>
        </p:nvSpPr>
        <p:spPr>
          <a:xfrm>
            <a:off x="10189274" y="8959733"/>
            <a:ext cx="6197823" cy="0"/>
          </a:xfrm>
          <a:prstGeom prst="line">
            <a:avLst/>
          </a:prstGeom>
          <a:ln cap="flat" w="28575">
            <a:solidFill>
              <a:srgbClr val="000000"/>
            </a:solidFill>
            <a:prstDash val="solid"/>
            <a:headEnd type="none" len="sm" w="sm"/>
            <a:tailEnd type="none" len="sm" w="sm"/>
          </a:ln>
        </p:spPr>
      </p:sp>
      <p:sp>
        <p:nvSpPr>
          <p:cNvPr name="TextBox 27" id="27"/>
          <p:cNvSpPr txBox="true"/>
          <p:nvPr/>
        </p:nvSpPr>
        <p:spPr>
          <a:xfrm rot="0">
            <a:off x="10189274" y="8287006"/>
            <a:ext cx="6474282" cy="470330"/>
          </a:xfrm>
          <a:prstGeom prst="rect">
            <a:avLst/>
          </a:prstGeom>
        </p:spPr>
        <p:txBody>
          <a:bodyPr anchor="t" rtlCol="false" tIns="0" lIns="0" bIns="0" rIns="0">
            <a:spAutoFit/>
          </a:bodyPr>
          <a:lstStyle/>
          <a:p>
            <a:pPr algn="l">
              <a:lnSpc>
                <a:spcPts val="3719"/>
              </a:lnSpc>
              <a:spcBef>
                <a:spcPct val="0"/>
              </a:spcBef>
            </a:pPr>
            <a:r>
              <a:rPr lang="en-US" sz="2656">
                <a:solidFill>
                  <a:srgbClr val="05061C"/>
                </a:solidFill>
                <a:latin typeface="Questrial"/>
                <a:ea typeface="Questrial"/>
                <a:cs typeface="Questrial"/>
                <a:sym typeface="Questrial"/>
              </a:rPr>
              <a:t>10. Conclucion</a:t>
            </a:r>
          </a:p>
        </p:txBody>
      </p:sp>
      <p:sp>
        <p:nvSpPr>
          <p:cNvPr name="TextBox 28" id="28"/>
          <p:cNvSpPr txBox="true"/>
          <p:nvPr/>
        </p:nvSpPr>
        <p:spPr>
          <a:xfrm rot="0">
            <a:off x="430474" y="152498"/>
            <a:ext cx="185589" cy="465921"/>
          </a:xfrm>
          <a:prstGeom prst="rect">
            <a:avLst/>
          </a:prstGeom>
        </p:spPr>
        <p:txBody>
          <a:bodyPr anchor="t" rtlCol="false" tIns="0" lIns="0" bIns="0" rIns="0">
            <a:spAutoFit/>
          </a:bodyPr>
          <a:lstStyle/>
          <a:p>
            <a:pPr algn="ctr">
              <a:lnSpc>
                <a:spcPts val="3719"/>
              </a:lnSpc>
              <a:spcBef>
                <a:spcPct val="0"/>
              </a:spcBef>
            </a:pPr>
            <a:r>
              <a:rPr lang="en-US" sz="2656">
                <a:solidFill>
                  <a:srgbClr val="000000"/>
                </a:solidFill>
                <a:latin typeface="Questrial"/>
                <a:ea typeface="Questrial"/>
                <a:cs typeface="Questrial"/>
                <a:sym typeface="Questrial"/>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grpSp>
        <p:nvGrpSpPr>
          <p:cNvPr name="Group 2" id="2"/>
          <p:cNvGrpSpPr/>
          <p:nvPr/>
        </p:nvGrpSpPr>
        <p:grpSpPr>
          <a:xfrm rot="0">
            <a:off x="861332" y="686774"/>
            <a:ext cx="16565336" cy="8913453"/>
            <a:chOff x="0" y="0"/>
            <a:chExt cx="4362887" cy="2347576"/>
          </a:xfrm>
        </p:grpSpPr>
        <p:sp>
          <p:nvSpPr>
            <p:cNvPr name="Freeform 3" id="3"/>
            <p:cNvSpPr/>
            <p:nvPr/>
          </p:nvSpPr>
          <p:spPr>
            <a:xfrm flipH="false" flipV="false" rot="0">
              <a:off x="0" y="0"/>
              <a:ext cx="4362887" cy="2347576"/>
            </a:xfrm>
            <a:custGeom>
              <a:avLst/>
              <a:gdLst/>
              <a:ahLst/>
              <a:cxnLst/>
              <a:rect r="r" b="b" t="t" l="l"/>
              <a:pathLst>
                <a:path h="2347576" w="4362887">
                  <a:moveTo>
                    <a:pt x="5141" y="0"/>
                  </a:moveTo>
                  <a:lnTo>
                    <a:pt x="4357746" y="0"/>
                  </a:lnTo>
                  <a:cubicBezTo>
                    <a:pt x="4360585" y="0"/>
                    <a:pt x="4362887" y="2302"/>
                    <a:pt x="4362887" y="5141"/>
                  </a:cubicBezTo>
                  <a:lnTo>
                    <a:pt x="4362887" y="2342435"/>
                  </a:lnTo>
                  <a:cubicBezTo>
                    <a:pt x="4362887" y="2345274"/>
                    <a:pt x="4360585" y="2347576"/>
                    <a:pt x="4357746" y="2347576"/>
                  </a:cubicBezTo>
                  <a:lnTo>
                    <a:pt x="5141" y="2347576"/>
                  </a:lnTo>
                  <a:cubicBezTo>
                    <a:pt x="3777" y="2347576"/>
                    <a:pt x="2470" y="2347034"/>
                    <a:pt x="1506" y="2346070"/>
                  </a:cubicBezTo>
                  <a:cubicBezTo>
                    <a:pt x="542" y="2345106"/>
                    <a:pt x="0" y="2343799"/>
                    <a:pt x="0" y="2342435"/>
                  </a:cubicBezTo>
                  <a:lnTo>
                    <a:pt x="0" y="5141"/>
                  </a:lnTo>
                  <a:cubicBezTo>
                    <a:pt x="0" y="2302"/>
                    <a:pt x="2302" y="0"/>
                    <a:pt x="5141" y="0"/>
                  </a:cubicBezTo>
                  <a:close/>
                </a:path>
              </a:pathLst>
            </a:custGeom>
            <a:solidFill>
              <a:srgbClr val="FFFFFF"/>
            </a:solidFill>
            <a:ln w="66675" cap="sq">
              <a:solidFill>
                <a:srgbClr val="000000"/>
              </a:solidFill>
              <a:prstDash val="solid"/>
              <a:miter/>
            </a:ln>
          </p:spPr>
        </p:sp>
        <p:sp>
          <p:nvSpPr>
            <p:cNvPr name="TextBox 4" id="4"/>
            <p:cNvSpPr txBox="true"/>
            <p:nvPr/>
          </p:nvSpPr>
          <p:spPr>
            <a:xfrm>
              <a:off x="0" y="-85725"/>
              <a:ext cx="4362887" cy="2433301"/>
            </a:xfrm>
            <a:prstGeom prst="rect">
              <a:avLst/>
            </a:prstGeom>
          </p:spPr>
          <p:txBody>
            <a:bodyPr anchor="ctr" rtlCol="false" tIns="50800" lIns="50800" bIns="50800" rIns="50800"/>
            <a:lstStyle/>
            <a:p>
              <a:pPr algn="ctr">
                <a:lnSpc>
                  <a:spcPts val="3174"/>
                </a:lnSpc>
              </a:pPr>
            </a:p>
          </p:txBody>
        </p:sp>
      </p:grpSp>
      <p:sp>
        <p:nvSpPr>
          <p:cNvPr name="TextBox 5" id="5"/>
          <p:cNvSpPr txBox="true"/>
          <p:nvPr/>
        </p:nvSpPr>
        <p:spPr>
          <a:xfrm rot="0">
            <a:off x="2237710" y="1914456"/>
            <a:ext cx="14230194" cy="1588455"/>
          </a:xfrm>
          <a:prstGeom prst="rect">
            <a:avLst/>
          </a:prstGeom>
        </p:spPr>
        <p:txBody>
          <a:bodyPr anchor="t" rtlCol="false" tIns="0" lIns="0" bIns="0" rIns="0">
            <a:spAutoFit/>
          </a:bodyPr>
          <a:lstStyle/>
          <a:p>
            <a:pPr algn="ctr" marL="0" indent="0" lvl="0">
              <a:lnSpc>
                <a:spcPts val="11199"/>
              </a:lnSpc>
              <a:spcBef>
                <a:spcPct val="0"/>
              </a:spcBef>
            </a:pPr>
            <a:r>
              <a:rPr lang="en-US" sz="9332">
                <a:solidFill>
                  <a:srgbClr val="000000"/>
                </a:solidFill>
                <a:latin typeface="Bungee"/>
                <a:ea typeface="Bungee"/>
                <a:cs typeface="Bungee"/>
                <a:sym typeface="Bungee"/>
              </a:rPr>
              <a:t>Contexto</a:t>
            </a:r>
          </a:p>
        </p:txBody>
      </p:sp>
      <p:sp>
        <p:nvSpPr>
          <p:cNvPr name="Freeform 6" id="6"/>
          <p:cNvSpPr/>
          <p:nvPr/>
        </p:nvSpPr>
        <p:spPr>
          <a:xfrm flipH="false" flipV="false" rot="0">
            <a:off x="15904238" y="219173"/>
            <a:ext cx="720479" cy="1619054"/>
          </a:xfrm>
          <a:custGeom>
            <a:avLst/>
            <a:gdLst/>
            <a:ahLst/>
            <a:cxnLst/>
            <a:rect r="r" b="b" t="t" l="l"/>
            <a:pathLst>
              <a:path h="1619054" w="720479">
                <a:moveTo>
                  <a:pt x="0" y="0"/>
                </a:moveTo>
                <a:lnTo>
                  <a:pt x="720479" y="0"/>
                </a:lnTo>
                <a:lnTo>
                  <a:pt x="720479" y="1619054"/>
                </a:lnTo>
                <a:lnTo>
                  <a:pt x="0" y="16190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3222147">
            <a:off x="1928567" y="1283965"/>
            <a:ext cx="1183605" cy="2188484"/>
          </a:xfrm>
          <a:custGeom>
            <a:avLst/>
            <a:gdLst/>
            <a:ahLst/>
            <a:cxnLst/>
            <a:rect r="r" b="b" t="t" l="l"/>
            <a:pathLst>
              <a:path h="2188484" w="1183605">
                <a:moveTo>
                  <a:pt x="0" y="0"/>
                </a:moveTo>
                <a:lnTo>
                  <a:pt x="1183605" y="0"/>
                </a:lnTo>
                <a:lnTo>
                  <a:pt x="1183605" y="2188484"/>
                </a:lnTo>
                <a:lnTo>
                  <a:pt x="0" y="21884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1175499" y="4261331"/>
            <a:ext cx="5778062" cy="3414424"/>
          </a:xfrm>
          <a:custGeom>
            <a:avLst/>
            <a:gdLst/>
            <a:ahLst/>
            <a:cxnLst/>
            <a:rect r="r" b="b" t="t" l="l"/>
            <a:pathLst>
              <a:path h="3414424" w="5778062">
                <a:moveTo>
                  <a:pt x="0" y="0"/>
                </a:moveTo>
                <a:lnTo>
                  <a:pt x="5778062" y="0"/>
                </a:lnTo>
                <a:lnTo>
                  <a:pt x="5778062" y="3414425"/>
                </a:lnTo>
                <a:lnTo>
                  <a:pt x="0" y="3414425"/>
                </a:lnTo>
                <a:lnTo>
                  <a:pt x="0" y="0"/>
                </a:lnTo>
                <a:close/>
              </a:path>
            </a:pathLst>
          </a:custGeom>
          <a:blipFill>
            <a:blip r:embed="rId6"/>
            <a:stretch>
              <a:fillRect l="0" t="-69225" r="0" b="0"/>
            </a:stretch>
          </a:blipFill>
        </p:spPr>
      </p:sp>
      <p:sp>
        <p:nvSpPr>
          <p:cNvPr name="TextBox 9" id="9"/>
          <p:cNvSpPr txBox="true"/>
          <p:nvPr/>
        </p:nvSpPr>
        <p:spPr>
          <a:xfrm rot="0">
            <a:off x="2237710" y="3729130"/>
            <a:ext cx="7828650" cy="4653459"/>
          </a:xfrm>
          <a:prstGeom prst="rect">
            <a:avLst/>
          </a:prstGeom>
        </p:spPr>
        <p:txBody>
          <a:bodyPr anchor="t" rtlCol="false" tIns="0" lIns="0" bIns="0" rIns="0">
            <a:spAutoFit/>
          </a:bodyPr>
          <a:lstStyle/>
          <a:p>
            <a:pPr algn="l">
              <a:lnSpc>
                <a:spcPts val="3076"/>
              </a:lnSpc>
            </a:pPr>
            <a:r>
              <a:rPr lang="en-US" sz="2197">
                <a:solidFill>
                  <a:srgbClr val="000000"/>
                </a:solidFill>
                <a:latin typeface="Questrial"/>
                <a:ea typeface="Questrial"/>
                <a:cs typeface="Questrial"/>
                <a:sym typeface="Questrial"/>
              </a:rPr>
              <a:t>Transporte Guillermo Varas</a:t>
            </a:r>
          </a:p>
          <a:p>
            <a:pPr algn="l" marL="474484" indent="-237242" lvl="1">
              <a:lnSpc>
                <a:spcPts val="3076"/>
              </a:lnSpc>
              <a:buFont typeface="Arial"/>
              <a:buChar char="•"/>
            </a:pPr>
            <a:r>
              <a:rPr lang="en-US" sz="2197">
                <a:solidFill>
                  <a:srgbClr val="000000"/>
                </a:solidFill>
                <a:latin typeface="Questrial"/>
                <a:ea typeface="Questrial"/>
                <a:cs typeface="Questrial"/>
                <a:sym typeface="Questrial"/>
              </a:rPr>
              <a:t>Empresa dedicada a la prestación de servicios de transporte de vehículos y personal.</a:t>
            </a:r>
          </a:p>
          <a:p>
            <a:pPr algn="l" marL="474484" indent="-237242" lvl="1">
              <a:lnSpc>
                <a:spcPts val="3076"/>
              </a:lnSpc>
              <a:buFont typeface="Arial"/>
              <a:buChar char="•"/>
            </a:pPr>
            <a:r>
              <a:rPr lang="en-US" sz="2197">
                <a:solidFill>
                  <a:srgbClr val="000000"/>
                </a:solidFill>
                <a:latin typeface="Questrial"/>
                <a:ea typeface="Questrial"/>
                <a:cs typeface="Questrial"/>
                <a:sym typeface="Questrial"/>
              </a:rPr>
              <a:t>Ofrece servicios que incluyen chofer y peoneta, adaptándose a las necesidades de sus clientes.</a:t>
            </a:r>
          </a:p>
          <a:p>
            <a:pPr algn="l" marL="474484" indent="-237242" lvl="1">
              <a:lnSpc>
                <a:spcPts val="3076"/>
              </a:lnSpc>
              <a:buFont typeface="Arial"/>
              <a:buChar char="•"/>
            </a:pPr>
            <a:r>
              <a:rPr lang="en-US" sz="2197">
                <a:solidFill>
                  <a:srgbClr val="000000"/>
                </a:solidFill>
                <a:latin typeface="Questrial"/>
                <a:ea typeface="Questrial"/>
                <a:cs typeface="Questrial"/>
                <a:sym typeface="Questrial"/>
              </a:rPr>
              <a:t>Ubicada en la V Región de Valparaíso.</a:t>
            </a:r>
          </a:p>
          <a:p>
            <a:pPr algn="l" marL="474484" indent="-237242" lvl="1">
              <a:lnSpc>
                <a:spcPts val="3076"/>
              </a:lnSpc>
              <a:buFont typeface="Arial"/>
              <a:buChar char="•"/>
            </a:pPr>
            <a:r>
              <a:rPr lang="en-US" sz="2197">
                <a:solidFill>
                  <a:srgbClr val="000000"/>
                </a:solidFill>
                <a:latin typeface="Questrial"/>
                <a:ea typeface="Questrial"/>
                <a:cs typeface="Questrial"/>
                <a:sym typeface="Questrial"/>
              </a:rPr>
              <a:t>Cuenta con una amplia trayectoria y experiencia en el rubro del transporte.</a:t>
            </a:r>
          </a:p>
          <a:p>
            <a:pPr algn="l" marL="474484" indent="-237242" lvl="1">
              <a:lnSpc>
                <a:spcPts val="3076"/>
              </a:lnSpc>
              <a:buFont typeface="Arial"/>
              <a:buChar char="•"/>
            </a:pPr>
            <a:r>
              <a:rPr lang="en-US" sz="2197">
                <a:solidFill>
                  <a:srgbClr val="000000"/>
                </a:solidFill>
                <a:latin typeface="Questrial"/>
                <a:ea typeface="Questrial"/>
                <a:cs typeface="Questrial"/>
                <a:sym typeface="Questrial"/>
              </a:rPr>
              <a:t>Entre sus principales clientes se encuentran Starken, Correos de Chile y FedEx.</a:t>
            </a:r>
          </a:p>
          <a:p>
            <a:pPr algn="l" marL="474484" indent="-237242" lvl="1">
              <a:lnSpc>
                <a:spcPts val="3076"/>
              </a:lnSpc>
              <a:buFont typeface="Arial"/>
              <a:buChar char="•"/>
            </a:pPr>
            <a:r>
              <a:rPr lang="en-US" sz="2197">
                <a:solidFill>
                  <a:srgbClr val="000000"/>
                </a:solidFill>
                <a:latin typeface="Questrial"/>
                <a:ea typeface="Questrial"/>
                <a:cs typeface="Questrial"/>
                <a:sym typeface="Questrial"/>
              </a:rPr>
              <a:t>Actualmente cuenta con 37 empleados.</a:t>
            </a:r>
          </a:p>
          <a:p>
            <a:pPr algn="l">
              <a:lnSpc>
                <a:spcPts val="3076"/>
              </a:lnSpc>
            </a:pPr>
          </a:p>
        </p:txBody>
      </p:sp>
      <p:sp>
        <p:nvSpPr>
          <p:cNvPr name="TextBox 10" id="10"/>
          <p:cNvSpPr txBox="true"/>
          <p:nvPr/>
        </p:nvSpPr>
        <p:spPr>
          <a:xfrm rot="0">
            <a:off x="430474" y="152498"/>
            <a:ext cx="185589" cy="465921"/>
          </a:xfrm>
          <a:prstGeom prst="rect">
            <a:avLst/>
          </a:prstGeom>
        </p:spPr>
        <p:txBody>
          <a:bodyPr anchor="t" rtlCol="false" tIns="0" lIns="0" bIns="0" rIns="0">
            <a:spAutoFit/>
          </a:bodyPr>
          <a:lstStyle/>
          <a:p>
            <a:pPr algn="ctr">
              <a:lnSpc>
                <a:spcPts val="3719"/>
              </a:lnSpc>
              <a:spcBef>
                <a:spcPct val="0"/>
              </a:spcBef>
            </a:pPr>
            <a:r>
              <a:rPr lang="en-US" sz="2656">
                <a:solidFill>
                  <a:srgbClr val="000000"/>
                </a:solidFill>
                <a:latin typeface="Questrial"/>
                <a:ea typeface="Questrial"/>
                <a:cs typeface="Questrial"/>
                <a:sym typeface="Questrial"/>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grpSp>
        <p:nvGrpSpPr>
          <p:cNvPr name="Group 2" id="2"/>
          <p:cNvGrpSpPr/>
          <p:nvPr/>
        </p:nvGrpSpPr>
        <p:grpSpPr>
          <a:xfrm rot="0">
            <a:off x="861332" y="877750"/>
            <a:ext cx="16668680" cy="8913453"/>
            <a:chOff x="0" y="0"/>
            <a:chExt cx="4390105" cy="2347576"/>
          </a:xfrm>
        </p:grpSpPr>
        <p:sp>
          <p:nvSpPr>
            <p:cNvPr name="Freeform 3" id="3"/>
            <p:cNvSpPr/>
            <p:nvPr/>
          </p:nvSpPr>
          <p:spPr>
            <a:xfrm flipH="false" flipV="false" rot="0">
              <a:off x="0" y="0"/>
              <a:ext cx="4390105" cy="2347576"/>
            </a:xfrm>
            <a:custGeom>
              <a:avLst/>
              <a:gdLst/>
              <a:ahLst/>
              <a:cxnLst/>
              <a:rect r="r" b="b" t="t" l="l"/>
              <a:pathLst>
                <a:path h="2347576" w="4390105">
                  <a:moveTo>
                    <a:pt x="5109" y="0"/>
                  </a:moveTo>
                  <a:lnTo>
                    <a:pt x="4384996" y="0"/>
                  </a:lnTo>
                  <a:cubicBezTo>
                    <a:pt x="4386351" y="0"/>
                    <a:pt x="4387650" y="538"/>
                    <a:pt x="4388608" y="1496"/>
                  </a:cubicBezTo>
                  <a:cubicBezTo>
                    <a:pt x="4389567" y="2455"/>
                    <a:pt x="4390105" y="3754"/>
                    <a:pt x="4390105" y="5109"/>
                  </a:cubicBezTo>
                  <a:lnTo>
                    <a:pt x="4390105" y="2342467"/>
                  </a:lnTo>
                  <a:cubicBezTo>
                    <a:pt x="4390105" y="2343822"/>
                    <a:pt x="4389567" y="2345122"/>
                    <a:pt x="4388608" y="2346080"/>
                  </a:cubicBezTo>
                  <a:cubicBezTo>
                    <a:pt x="4387650" y="2347038"/>
                    <a:pt x="4386351" y="2347576"/>
                    <a:pt x="4384996" y="2347576"/>
                  </a:cubicBezTo>
                  <a:lnTo>
                    <a:pt x="5109" y="2347576"/>
                  </a:lnTo>
                  <a:cubicBezTo>
                    <a:pt x="3754" y="2347576"/>
                    <a:pt x="2455" y="2347038"/>
                    <a:pt x="1496" y="2346080"/>
                  </a:cubicBezTo>
                  <a:cubicBezTo>
                    <a:pt x="538" y="2345122"/>
                    <a:pt x="0" y="2343822"/>
                    <a:pt x="0" y="2342467"/>
                  </a:cubicBezTo>
                  <a:lnTo>
                    <a:pt x="0" y="5109"/>
                  </a:lnTo>
                  <a:cubicBezTo>
                    <a:pt x="0" y="3754"/>
                    <a:pt x="538" y="2455"/>
                    <a:pt x="1496" y="1496"/>
                  </a:cubicBezTo>
                  <a:cubicBezTo>
                    <a:pt x="2455" y="538"/>
                    <a:pt x="3754" y="0"/>
                    <a:pt x="5109" y="0"/>
                  </a:cubicBezTo>
                  <a:close/>
                </a:path>
              </a:pathLst>
            </a:custGeom>
            <a:solidFill>
              <a:srgbClr val="FFFFFF"/>
            </a:solidFill>
            <a:ln w="66675" cap="sq">
              <a:solidFill>
                <a:srgbClr val="000000"/>
              </a:solidFill>
              <a:prstDash val="solid"/>
              <a:miter/>
            </a:ln>
          </p:spPr>
        </p:sp>
        <p:sp>
          <p:nvSpPr>
            <p:cNvPr name="TextBox 4" id="4"/>
            <p:cNvSpPr txBox="true"/>
            <p:nvPr/>
          </p:nvSpPr>
          <p:spPr>
            <a:xfrm>
              <a:off x="0" y="-85725"/>
              <a:ext cx="4390105" cy="2433301"/>
            </a:xfrm>
            <a:prstGeom prst="rect">
              <a:avLst/>
            </a:prstGeom>
          </p:spPr>
          <p:txBody>
            <a:bodyPr anchor="ctr" rtlCol="false" tIns="50800" lIns="50800" bIns="50800" rIns="50800"/>
            <a:lstStyle/>
            <a:p>
              <a:pPr algn="ctr">
                <a:lnSpc>
                  <a:spcPts val="3174"/>
                </a:lnSpc>
              </a:pPr>
            </a:p>
          </p:txBody>
        </p:sp>
      </p:grpSp>
      <p:sp>
        <p:nvSpPr>
          <p:cNvPr name="TextBox 5" id="5"/>
          <p:cNvSpPr txBox="true"/>
          <p:nvPr/>
        </p:nvSpPr>
        <p:spPr>
          <a:xfrm rot="0">
            <a:off x="2905150" y="1745485"/>
            <a:ext cx="12477700" cy="1858143"/>
          </a:xfrm>
          <a:prstGeom prst="rect">
            <a:avLst/>
          </a:prstGeom>
        </p:spPr>
        <p:txBody>
          <a:bodyPr anchor="t" rtlCol="false" tIns="0" lIns="0" bIns="0" rIns="0">
            <a:spAutoFit/>
          </a:bodyPr>
          <a:lstStyle/>
          <a:p>
            <a:pPr algn="ctr" marL="0" indent="0" lvl="0">
              <a:lnSpc>
                <a:spcPts val="13220"/>
              </a:lnSpc>
            </a:pPr>
            <a:r>
              <a:rPr lang="en-US" sz="10328">
                <a:solidFill>
                  <a:srgbClr val="05061C"/>
                </a:solidFill>
                <a:latin typeface="Bungee"/>
                <a:ea typeface="Bungee"/>
                <a:cs typeface="Bungee"/>
                <a:sym typeface="Bungee"/>
              </a:rPr>
              <a:t>Problemas</a:t>
            </a:r>
          </a:p>
        </p:txBody>
      </p:sp>
      <p:sp>
        <p:nvSpPr>
          <p:cNvPr name="Freeform 6" id="6"/>
          <p:cNvSpPr/>
          <p:nvPr/>
        </p:nvSpPr>
        <p:spPr>
          <a:xfrm flipH="true" flipV="false" rot="2232313">
            <a:off x="15485485" y="6766416"/>
            <a:ext cx="1183605" cy="2188484"/>
          </a:xfrm>
          <a:custGeom>
            <a:avLst/>
            <a:gdLst/>
            <a:ahLst/>
            <a:cxnLst/>
            <a:rect r="r" b="b" t="t" l="l"/>
            <a:pathLst>
              <a:path h="2188484" w="1183605">
                <a:moveTo>
                  <a:pt x="1183605" y="0"/>
                </a:moveTo>
                <a:lnTo>
                  <a:pt x="0" y="0"/>
                </a:lnTo>
                <a:lnTo>
                  <a:pt x="0" y="2188484"/>
                </a:lnTo>
                <a:lnTo>
                  <a:pt x="1183605" y="2188484"/>
                </a:lnTo>
                <a:lnTo>
                  <a:pt x="118360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222452">
            <a:off x="1729227" y="1330429"/>
            <a:ext cx="1427633" cy="1442354"/>
          </a:xfrm>
          <a:custGeom>
            <a:avLst/>
            <a:gdLst/>
            <a:ahLst/>
            <a:cxnLst/>
            <a:rect r="r" b="b" t="t" l="l"/>
            <a:pathLst>
              <a:path h="1442354" w="1427633">
                <a:moveTo>
                  <a:pt x="0" y="0"/>
                </a:moveTo>
                <a:lnTo>
                  <a:pt x="1427633" y="0"/>
                </a:lnTo>
                <a:lnTo>
                  <a:pt x="1427633" y="1442354"/>
                </a:lnTo>
                <a:lnTo>
                  <a:pt x="0" y="1442354"/>
                </a:lnTo>
                <a:lnTo>
                  <a:pt x="0" y="0"/>
                </a:lnTo>
                <a:close/>
              </a:path>
            </a:pathLst>
          </a:custGeom>
          <a:blipFill>
            <a:blip r:embed="rId4"/>
            <a:stretch>
              <a:fillRect l="0" t="0" r="-90511" b="-89118"/>
            </a:stretch>
          </a:blipFill>
        </p:spPr>
      </p:sp>
      <p:sp>
        <p:nvSpPr>
          <p:cNvPr name="Freeform 8" id="8"/>
          <p:cNvSpPr/>
          <p:nvPr/>
        </p:nvSpPr>
        <p:spPr>
          <a:xfrm flipH="false" flipV="false" rot="0">
            <a:off x="15542985" y="2577092"/>
            <a:ext cx="1125832" cy="1220414"/>
          </a:xfrm>
          <a:custGeom>
            <a:avLst/>
            <a:gdLst/>
            <a:ahLst/>
            <a:cxnLst/>
            <a:rect r="r" b="b" t="t" l="l"/>
            <a:pathLst>
              <a:path h="1220414" w="1125832">
                <a:moveTo>
                  <a:pt x="0" y="0"/>
                </a:moveTo>
                <a:lnTo>
                  <a:pt x="1125832" y="0"/>
                </a:lnTo>
                <a:lnTo>
                  <a:pt x="1125832" y="1220414"/>
                </a:lnTo>
                <a:lnTo>
                  <a:pt x="0" y="12204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5008682" y="1285781"/>
            <a:ext cx="1068605" cy="1158380"/>
          </a:xfrm>
          <a:custGeom>
            <a:avLst/>
            <a:gdLst/>
            <a:ahLst/>
            <a:cxnLst/>
            <a:rect r="r" b="b" t="t" l="l"/>
            <a:pathLst>
              <a:path h="1158380" w="1068605">
                <a:moveTo>
                  <a:pt x="0" y="0"/>
                </a:moveTo>
                <a:lnTo>
                  <a:pt x="1068606" y="0"/>
                </a:lnTo>
                <a:lnTo>
                  <a:pt x="1068606" y="1158380"/>
                </a:lnTo>
                <a:lnTo>
                  <a:pt x="0" y="11583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908741" y="7860658"/>
            <a:ext cx="1125832" cy="1220414"/>
          </a:xfrm>
          <a:custGeom>
            <a:avLst/>
            <a:gdLst/>
            <a:ahLst/>
            <a:cxnLst/>
            <a:rect r="r" b="b" t="t" l="l"/>
            <a:pathLst>
              <a:path h="1220414" w="1125832">
                <a:moveTo>
                  <a:pt x="0" y="0"/>
                </a:moveTo>
                <a:lnTo>
                  <a:pt x="1125832" y="0"/>
                </a:lnTo>
                <a:lnTo>
                  <a:pt x="1125832" y="1220414"/>
                </a:lnTo>
                <a:lnTo>
                  <a:pt x="0" y="12204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374438" y="6631275"/>
            <a:ext cx="1068605" cy="1158380"/>
          </a:xfrm>
          <a:custGeom>
            <a:avLst/>
            <a:gdLst/>
            <a:ahLst/>
            <a:cxnLst/>
            <a:rect r="r" b="b" t="t" l="l"/>
            <a:pathLst>
              <a:path h="1158380" w="1068605">
                <a:moveTo>
                  <a:pt x="0" y="0"/>
                </a:moveTo>
                <a:lnTo>
                  <a:pt x="1068606" y="0"/>
                </a:lnTo>
                <a:lnTo>
                  <a:pt x="1068606" y="1158380"/>
                </a:lnTo>
                <a:lnTo>
                  <a:pt x="0" y="11583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430474" y="152498"/>
            <a:ext cx="185589" cy="465921"/>
          </a:xfrm>
          <a:prstGeom prst="rect">
            <a:avLst/>
          </a:prstGeom>
        </p:spPr>
        <p:txBody>
          <a:bodyPr anchor="t" rtlCol="false" tIns="0" lIns="0" bIns="0" rIns="0">
            <a:spAutoFit/>
          </a:bodyPr>
          <a:lstStyle/>
          <a:p>
            <a:pPr algn="ctr">
              <a:lnSpc>
                <a:spcPts val="3719"/>
              </a:lnSpc>
              <a:spcBef>
                <a:spcPct val="0"/>
              </a:spcBef>
            </a:pPr>
            <a:r>
              <a:rPr lang="en-US" sz="2656">
                <a:solidFill>
                  <a:srgbClr val="000000"/>
                </a:solidFill>
                <a:latin typeface="Questrial"/>
                <a:ea typeface="Questrial"/>
                <a:cs typeface="Questrial"/>
                <a:sym typeface="Questrial"/>
              </a:rPr>
              <a:t>4</a:t>
            </a:r>
          </a:p>
        </p:txBody>
      </p:sp>
      <p:grpSp>
        <p:nvGrpSpPr>
          <p:cNvPr name="Group 13" id="13"/>
          <p:cNvGrpSpPr/>
          <p:nvPr/>
        </p:nvGrpSpPr>
        <p:grpSpPr>
          <a:xfrm rot="0">
            <a:off x="3202000" y="5646252"/>
            <a:ext cx="5378144" cy="1347880"/>
            <a:chOff x="0" y="0"/>
            <a:chExt cx="3243133" cy="812800"/>
          </a:xfrm>
        </p:grpSpPr>
        <p:sp>
          <p:nvSpPr>
            <p:cNvPr name="Freeform 14" id="14"/>
            <p:cNvSpPr/>
            <p:nvPr/>
          </p:nvSpPr>
          <p:spPr>
            <a:xfrm flipH="false" flipV="false" rot="0">
              <a:off x="0" y="0"/>
              <a:ext cx="3243133" cy="812800"/>
            </a:xfrm>
            <a:custGeom>
              <a:avLst/>
              <a:gdLst/>
              <a:ahLst/>
              <a:cxnLst/>
              <a:rect r="r" b="b" t="t" l="l"/>
              <a:pathLst>
                <a:path h="812800" w="3243133">
                  <a:moveTo>
                    <a:pt x="38173" y="0"/>
                  </a:moveTo>
                  <a:lnTo>
                    <a:pt x="3204960" y="0"/>
                  </a:lnTo>
                  <a:cubicBezTo>
                    <a:pt x="3226042" y="0"/>
                    <a:pt x="3243133" y="17091"/>
                    <a:pt x="3243133" y="38173"/>
                  </a:cubicBezTo>
                  <a:lnTo>
                    <a:pt x="3243133" y="774627"/>
                  </a:lnTo>
                  <a:cubicBezTo>
                    <a:pt x="3243133" y="795709"/>
                    <a:pt x="3226042" y="812800"/>
                    <a:pt x="3204960" y="812800"/>
                  </a:cubicBezTo>
                  <a:lnTo>
                    <a:pt x="38173" y="812800"/>
                  </a:lnTo>
                  <a:cubicBezTo>
                    <a:pt x="17091" y="812800"/>
                    <a:pt x="0" y="795709"/>
                    <a:pt x="0" y="774627"/>
                  </a:cubicBezTo>
                  <a:lnTo>
                    <a:pt x="0" y="38173"/>
                  </a:lnTo>
                  <a:cubicBezTo>
                    <a:pt x="0" y="17091"/>
                    <a:pt x="17091" y="0"/>
                    <a:pt x="38173" y="0"/>
                  </a:cubicBezTo>
                  <a:close/>
                </a:path>
              </a:pathLst>
            </a:custGeom>
            <a:solidFill>
              <a:srgbClr val="70B2E2"/>
            </a:solidFill>
          </p:spPr>
        </p:sp>
        <p:sp>
          <p:nvSpPr>
            <p:cNvPr name="TextBox 15" id="15"/>
            <p:cNvSpPr txBox="true"/>
            <p:nvPr/>
          </p:nvSpPr>
          <p:spPr>
            <a:xfrm>
              <a:off x="0" y="-66675"/>
              <a:ext cx="3243133" cy="879475"/>
            </a:xfrm>
            <a:prstGeom prst="rect">
              <a:avLst/>
            </a:prstGeom>
          </p:spPr>
          <p:txBody>
            <a:bodyPr anchor="ctr" rtlCol="false" tIns="50800" lIns="50800" bIns="50800" rIns="50800"/>
            <a:lstStyle/>
            <a:p>
              <a:pPr algn="ctr">
                <a:lnSpc>
                  <a:spcPts val="2859"/>
                </a:lnSpc>
              </a:pPr>
              <a:r>
                <a:rPr lang="en-US" sz="2199">
                  <a:solidFill>
                    <a:srgbClr val="FFFFFF"/>
                  </a:solidFill>
                  <a:latin typeface="Bungee"/>
                  <a:ea typeface="Bungee"/>
                  <a:cs typeface="Bungee"/>
                  <a:sym typeface="Bungee"/>
                </a:rPr>
                <a:t>problemas de Administración </a:t>
              </a:r>
            </a:p>
          </p:txBody>
        </p:sp>
      </p:grpSp>
      <p:grpSp>
        <p:nvGrpSpPr>
          <p:cNvPr name="Group 16" id="16"/>
          <p:cNvGrpSpPr/>
          <p:nvPr/>
        </p:nvGrpSpPr>
        <p:grpSpPr>
          <a:xfrm rot="0">
            <a:off x="9144000" y="3769572"/>
            <a:ext cx="5378144" cy="1347880"/>
            <a:chOff x="0" y="0"/>
            <a:chExt cx="3243133" cy="812800"/>
          </a:xfrm>
        </p:grpSpPr>
        <p:sp>
          <p:nvSpPr>
            <p:cNvPr name="Freeform 17" id="17"/>
            <p:cNvSpPr/>
            <p:nvPr/>
          </p:nvSpPr>
          <p:spPr>
            <a:xfrm flipH="false" flipV="false" rot="0">
              <a:off x="0" y="0"/>
              <a:ext cx="3243133" cy="812800"/>
            </a:xfrm>
            <a:custGeom>
              <a:avLst/>
              <a:gdLst/>
              <a:ahLst/>
              <a:cxnLst/>
              <a:rect r="r" b="b" t="t" l="l"/>
              <a:pathLst>
                <a:path h="812800" w="3243133">
                  <a:moveTo>
                    <a:pt x="38173" y="0"/>
                  </a:moveTo>
                  <a:lnTo>
                    <a:pt x="3204960" y="0"/>
                  </a:lnTo>
                  <a:cubicBezTo>
                    <a:pt x="3226042" y="0"/>
                    <a:pt x="3243133" y="17091"/>
                    <a:pt x="3243133" y="38173"/>
                  </a:cubicBezTo>
                  <a:lnTo>
                    <a:pt x="3243133" y="774627"/>
                  </a:lnTo>
                  <a:cubicBezTo>
                    <a:pt x="3243133" y="795709"/>
                    <a:pt x="3226042" y="812800"/>
                    <a:pt x="3204960" y="812800"/>
                  </a:cubicBezTo>
                  <a:lnTo>
                    <a:pt x="38173" y="812800"/>
                  </a:lnTo>
                  <a:cubicBezTo>
                    <a:pt x="17091" y="812800"/>
                    <a:pt x="0" y="795709"/>
                    <a:pt x="0" y="774627"/>
                  </a:cubicBezTo>
                  <a:lnTo>
                    <a:pt x="0" y="38173"/>
                  </a:lnTo>
                  <a:cubicBezTo>
                    <a:pt x="0" y="17091"/>
                    <a:pt x="17091" y="0"/>
                    <a:pt x="38173" y="0"/>
                  </a:cubicBezTo>
                  <a:close/>
                </a:path>
              </a:pathLst>
            </a:custGeom>
            <a:solidFill>
              <a:srgbClr val="70B2E2"/>
            </a:solidFill>
          </p:spPr>
        </p:sp>
        <p:sp>
          <p:nvSpPr>
            <p:cNvPr name="TextBox 18" id="18"/>
            <p:cNvSpPr txBox="true"/>
            <p:nvPr/>
          </p:nvSpPr>
          <p:spPr>
            <a:xfrm>
              <a:off x="0" y="-66675"/>
              <a:ext cx="3243133" cy="879475"/>
            </a:xfrm>
            <a:prstGeom prst="rect">
              <a:avLst/>
            </a:prstGeom>
          </p:spPr>
          <p:txBody>
            <a:bodyPr anchor="ctr" rtlCol="false" tIns="50800" lIns="50800" bIns="50800" rIns="50800"/>
            <a:lstStyle/>
            <a:p>
              <a:pPr algn="ctr">
                <a:lnSpc>
                  <a:spcPts val="2859"/>
                </a:lnSpc>
              </a:pPr>
              <a:r>
                <a:rPr lang="en-US" sz="2199">
                  <a:solidFill>
                    <a:srgbClr val="FFFFFF"/>
                  </a:solidFill>
                  <a:latin typeface="Bungee"/>
                  <a:ea typeface="Bungee"/>
                  <a:cs typeface="Bungee"/>
                  <a:sym typeface="Bungee"/>
                </a:rPr>
                <a:t>Información dispersa</a:t>
              </a:r>
            </a:p>
          </p:txBody>
        </p:sp>
      </p:grpSp>
      <p:grpSp>
        <p:nvGrpSpPr>
          <p:cNvPr name="Group 19" id="19"/>
          <p:cNvGrpSpPr/>
          <p:nvPr/>
        </p:nvGrpSpPr>
        <p:grpSpPr>
          <a:xfrm rot="0">
            <a:off x="9144000" y="5646252"/>
            <a:ext cx="5378144" cy="1347880"/>
            <a:chOff x="0" y="0"/>
            <a:chExt cx="3243133" cy="812800"/>
          </a:xfrm>
        </p:grpSpPr>
        <p:sp>
          <p:nvSpPr>
            <p:cNvPr name="Freeform 20" id="20"/>
            <p:cNvSpPr/>
            <p:nvPr/>
          </p:nvSpPr>
          <p:spPr>
            <a:xfrm flipH="false" flipV="false" rot="0">
              <a:off x="0" y="0"/>
              <a:ext cx="3243133" cy="812800"/>
            </a:xfrm>
            <a:custGeom>
              <a:avLst/>
              <a:gdLst/>
              <a:ahLst/>
              <a:cxnLst/>
              <a:rect r="r" b="b" t="t" l="l"/>
              <a:pathLst>
                <a:path h="812800" w="3243133">
                  <a:moveTo>
                    <a:pt x="38173" y="0"/>
                  </a:moveTo>
                  <a:lnTo>
                    <a:pt x="3204960" y="0"/>
                  </a:lnTo>
                  <a:cubicBezTo>
                    <a:pt x="3226042" y="0"/>
                    <a:pt x="3243133" y="17091"/>
                    <a:pt x="3243133" y="38173"/>
                  </a:cubicBezTo>
                  <a:lnTo>
                    <a:pt x="3243133" y="774627"/>
                  </a:lnTo>
                  <a:cubicBezTo>
                    <a:pt x="3243133" y="795709"/>
                    <a:pt x="3226042" y="812800"/>
                    <a:pt x="3204960" y="812800"/>
                  </a:cubicBezTo>
                  <a:lnTo>
                    <a:pt x="38173" y="812800"/>
                  </a:lnTo>
                  <a:cubicBezTo>
                    <a:pt x="17091" y="812800"/>
                    <a:pt x="0" y="795709"/>
                    <a:pt x="0" y="774627"/>
                  </a:cubicBezTo>
                  <a:lnTo>
                    <a:pt x="0" y="38173"/>
                  </a:lnTo>
                  <a:cubicBezTo>
                    <a:pt x="0" y="17091"/>
                    <a:pt x="17091" y="0"/>
                    <a:pt x="38173" y="0"/>
                  </a:cubicBezTo>
                  <a:close/>
                </a:path>
              </a:pathLst>
            </a:custGeom>
            <a:solidFill>
              <a:srgbClr val="70B2E2"/>
            </a:solidFill>
          </p:spPr>
        </p:sp>
        <p:sp>
          <p:nvSpPr>
            <p:cNvPr name="TextBox 21" id="21"/>
            <p:cNvSpPr txBox="true"/>
            <p:nvPr/>
          </p:nvSpPr>
          <p:spPr>
            <a:xfrm>
              <a:off x="0" y="-66675"/>
              <a:ext cx="3243133" cy="879475"/>
            </a:xfrm>
            <a:prstGeom prst="rect">
              <a:avLst/>
            </a:prstGeom>
          </p:spPr>
          <p:txBody>
            <a:bodyPr anchor="ctr" rtlCol="false" tIns="50800" lIns="50800" bIns="50800" rIns="50800"/>
            <a:lstStyle/>
            <a:p>
              <a:pPr algn="ctr">
                <a:lnSpc>
                  <a:spcPts val="2859"/>
                </a:lnSpc>
              </a:pPr>
              <a:r>
                <a:rPr lang="en-US" sz="2199">
                  <a:solidFill>
                    <a:srgbClr val="FFFFFF"/>
                  </a:solidFill>
                  <a:latin typeface="Bungee"/>
                  <a:ea typeface="Bungee"/>
                  <a:cs typeface="Bungee"/>
                  <a:sym typeface="Bungee"/>
                </a:rPr>
                <a:t>Poca coordicación entre vehiculos </a:t>
              </a:r>
            </a:p>
          </p:txBody>
        </p:sp>
      </p:grpSp>
      <p:grpSp>
        <p:nvGrpSpPr>
          <p:cNvPr name="Group 22" id="22"/>
          <p:cNvGrpSpPr/>
          <p:nvPr/>
        </p:nvGrpSpPr>
        <p:grpSpPr>
          <a:xfrm rot="0">
            <a:off x="3202000" y="3769572"/>
            <a:ext cx="5378144" cy="1347880"/>
            <a:chOff x="0" y="0"/>
            <a:chExt cx="3243133" cy="812800"/>
          </a:xfrm>
        </p:grpSpPr>
        <p:sp>
          <p:nvSpPr>
            <p:cNvPr name="Freeform 23" id="23"/>
            <p:cNvSpPr/>
            <p:nvPr/>
          </p:nvSpPr>
          <p:spPr>
            <a:xfrm flipH="false" flipV="false" rot="0">
              <a:off x="0" y="0"/>
              <a:ext cx="3243133" cy="812800"/>
            </a:xfrm>
            <a:custGeom>
              <a:avLst/>
              <a:gdLst/>
              <a:ahLst/>
              <a:cxnLst/>
              <a:rect r="r" b="b" t="t" l="l"/>
              <a:pathLst>
                <a:path h="812800" w="3243133">
                  <a:moveTo>
                    <a:pt x="38173" y="0"/>
                  </a:moveTo>
                  <a:lnTo>
                    <a:pt x="3204960" y="0"/>
                  </a:lnTo>
                  <a:cubicBezTo>
                    <a:pt x="3226042" y="0"/>
                    <a:pt x="3243133" y="17091"/>
                    <a:pt x="3243133" y="38173"/>
                  </a:cubicBezTo>
                  <a:lnTo>
                    <a:pt x="3243133" y="774627"/>
                  </a:lnTo>
                  <a:cubicBezTo>
                    <a:pt x="3243133" y="795709"/>
                    <a:pt x="3226042" y="812800"/>
                    <a:pt x="3204960" y="812800"/>
                  </a:cubicBezTo>
                  <a:lnTo>
                    <a:pt x="38173" y="812800"/>
                  </a:lnTo>
                  <a:cubicBezTo>
                    <a:pt x="17091" y="812800"/>
                    <a:pt x="0" y="795709"/>
                    <a:pt x="0" y="774627"/>
                  </a:cubicBezTo>
                  <a:lnTo>
                    <a:pt x="0" y="38173"/>
                  </a:lnTo>
                  <a:cubicBezTo>
                    <a:pt x="0" y="17091"/>
                    <a:pt x="17091" y="0"/>
                    <a:pt x="38173" y="0"/>
                  </a:cubicBezTo>
                  <a:close/>
                </a:path>
              </a:pathLst>
            </a:custGeom>
            <a:solidFill>
              <a:srgbClr val="70B2E2"/>
            </a:solidFill>
          </p:spPr>
        </p:sp>
        <p:sp>
          <p:nvSpPr>
            <p:cNvPr name="TextBox 24" id="24"/>
            <p:cNvSpPr txBox="true"/>
            <p:nvPr/>
          </p:nvSpPr>
          <p:spPr>
            <a:xfrm>
              <a:off x="0" y="-66675"/>
              <a:ext cx="3243133" cy="879475"/>
            </a:xfrm>
            <a:prstGeom prst="rect">
              <a:avLst/>
            </a:prstGeom>
          </p:spPr>
          <p:txBody>
            <a:bodyPr anchor="ctr" rtlCol="false" tIns="50800" lIns="50800" bIns="50800" rIns="50800"/>
            <a:lstStyle/>
            <a:p>
              <a:pPr algn="ctr">
                <a:lnSpc>
                  <a:spcPts val="2859"/>
                </a:lnSpc>
              </a:pPr>
              <a:r>
                <a:rPr lang="en-US" sz="2199">
                  <a:solidFill>
                    <a:srgbClr val="FFFFFF"/>
                  </a:solidFill>
                  <a:latin typeface="Bungee"/>
                  <a:ea typeface="Bungee"/>
                  <a:cs typeface="Bungee"/>
                  <a:sym typeface="Bungee"/>
                </a:rPr>
                <a:t>DIficultad para tomar desiciones</a:t>
              </a:r>
            </a:p>
          </p:txBody>
        </p:sp>
      </p:grpSp>
      <p:grpSp>
        <p:nvGrpSpPr>
          <p:cNvPr name="Group 25" id="25"/>
          <p:cNvGrpSpPr/>
          <p:nvPr/>
        </p:nvGrpSpPr>
        <p:grpSpPr>
          <a:xfrm rot="0">
            <a:off x="6455177" y="7186718"/>
            <a:ext cx="5378144" cy="1347880"/>
            <a:chOff x="0" y="0"/>
            <a:chExt cx="3243133" cy="812800"/>
          </a:xfrm>
        </p:grpSpPr>
        <p:sp>
          <p:nvSpPr>
            <p:cNvPr name="Freeform 26" id="26"/>
            <p:cNvSpPr/>
            <p:nvPr/>
          </p:nvSpPr>
          <p:spPr>
            <a:xfrm flipH="false" flipV="false" rot="0">
              <a:off x="0" y="0"/>
              <a:ext cx="3243133" cy="812800"/>
            </a:xfrm>
            <a:custGeom>
              <a:avLst/>
              <a:gdLst/>
              <a:ahLst/>
              <a:cxnLst/>
              <a:rect r="r" b="b" t="t" l="l"/>
              <a:pathLst>
                <a:path h="812800" w="3243133">
                  <a:moveTo>
                    <a:pt x="38173" y="0"/>
                  </a:moveTo>
                  <a:lnTo>
                    <a:pt x="3204960" y="0"/>
                  </a:lnTo>
                  <a:cubicBezTo>
                    <a:pt x="3226042" y="0"/>
                    <a:pt x="3243133" y="17091"/>
                    <a:pt x="3243133" y="38173"/>
                  </a:cubicBezTo>
                  <a:lnTo>
                    <a:pt x="3243133" y="774627"/>
                  </a:lnTo>
                  <a:cubicBezTo>
                    <a:pt x="3243133" y="795709"/>
                    <a:pt x="3226042" y="812800"/>
                    <a:pt x="3204960" y="812800"/>
                  </a:cubicBezTo>
                  <a:lnTo>
                    <a:pt x="38173" y="812800"/>
                  </a:lnTo>
                  <a:cubicBezTo>
                    <a:pt x="17091" y="812800"/>
                    <a:pt x="0" y="795709"/>
                    <a:pt x="0" y="774627"/>
                  </a:cubicBezTo>
                  <a:lnTo>
                    <a:pt x="0" y="38173"/>
                  </a:lnTo>
                  <a:cubicBezTo>
                    <a:pt x="0" y="17091"/>
                    <a:pt x="17091" y="0"/>
                    <a:pt x="38173" y="0"/>
                  </a:cubicBezTo>
                  <a:close/>
                </a:path>
              </a:pathLst>
            </a:custGeom>
            <a:solidFill>
              <a:srgbClr val="70B2E2"/>
            </a:solidFill>
          </p:spPr>
        </p:sp>
        <p:sp>
          <p:nvSpPr>
            <p:cNvPr name="TextBox 27" id="27"/>
            <p:cNvSpPr txBox="true"/>
            <p:nvPr/>
          </p:nvSpPr>
          <p:spPr>
            <a:xfrm>
              <a:off x="0" y="-66675"/>
              <a:ext cx="3243133" cy="879475"/>
            </a:xfrm>
            <a:prstGeom prst="rect">
              <a:avLst/>
            </a:prstGeom>
          </p:spPr>
          <p:txBody>
            <a:bodyPr anchor="ctr" rtlCol="false" tIns="50800" lIns="50800" bIns="50800" rIns="50800"/>
            <a:lstStyle/>
            <a:p>
              <a:pPr algn="ctr">
                <a:lnSpc>
                  <a:spcPts val="2859"/>
                </a:lnSpc>
              </a:pPr>
              <a:r>
                <a:rPr lang="en-US" sz="2199">
                  <a:solidFill>
                    <a:srgbClr val="FFFFFF"/>
                  </a:solidFill>
                  <a:latin typeface="Bungee"/>
                  <a:ea typeface="Bungee"/>
                  <a:cs typeface="Bungee"/>
                  <a:sym typeface="Bungee"/>
                </a:rPr>
                <a:t>Perdida de información</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grpSp>
        <p:nvGrpSpPr>
          <p:cNvPr name="Group 2" id="2"/>
          <p:cNvGrpSpPr/>
          <p:nvPr/>
        </p:nvGrpSpPr>
        <p:grpSpPr>
          <a:xfrm rot="0">
            <a:off x="861332" y="686774"/>
            <a:ext cx="16565336" cy="8913453"/>
            <a:chOff x="0" y="0"/>
            <a:chExt cx="4362887" cy="2347576"/>
          </a:xfrm>
        </p:grpSpPr>
        <p:sp>
          <p:nvSpPr>
            <p:cNvPr name="Freeform 3" id="3"/>
            <p:cNvSpPr/>
            <p:nvPr/>
          </p:nvSpPr>
          <p:spPr>
            <a:xfrm flipH="false" flipV="false" rot="0">
              <a:off x="0" y="0"/>
              <a:ext cx="4362887" cy="2347576"/>
            </a:xfrm>
            <a:custGeom>
              <a:avLst/>
              <a:gdLst/>
              <a:ahLst/>
              <a:cxnLst/>
              <a:rect r="r" b="b" t="t" l="l"/>
              <a:pathLst>
                <a:path h="2347576" w="4362887">
                  <a:moveTo>
                    <a:pt x="5141" y="0"/>
                  </a:moveTo>
                  <a:lnTo>
                    <a:pt x="4357746" y="0"/>
                  </a:lnTo>
                  <a:cubicBezTo>
                    <a:pt x="4360585" y="0"/>
                    <a:pt x="4362887" y="2302"/>
                    <a:pt x="4362887" y="5141"/>
                  </a:cubicBezTo>
                  <a:lnTo>
                    <a:pt x="4362887" y="2342435"/>
                  </a:lnTo>
                  <a:cubicBezTo>
                    <a:pt x="4362887" y="2345274"/>
                    <a:pt x="4360585" y="2347576"/>
                    <a:pt x="4357746" y="2347576"/>
                  </a:cubicBezTo>
                  <a:lnTo>
                    <a:pt x="5141" y="2347576"/>
                  </a:lnTo>
                  <a:cubicBezTo>
                    <a:pt x="3777" y="2347576"/>
                    <a:pt x="2470" y="2347034"/>
                    <a:pt x="1506" y="2346070"/>
                  </a:cubicBezTo>
                  <a:cubicBezTo>
                    <a:pt x="542" y="2345106"/>
                    <a:pt x="0" y="2343799"/>
                    <a:pt x="0" y="2342435"/>
                  </a:cubicBezTo>
                  <a:lnTo>
                    <a:pt x="0" y="5141"/>
                  </a:lnTo>
                  <a:cubicBezTo>
                    <a:pt x="0" y="2302"/>
                    <a:pt x="2302" y="0"/>
                    <a:pt x="5141" y="0"/>
                  </a:cubicBezTo>
                  <a:close/>
                </a:path>
              </a:pathLst>
            </a:custGeom>
            <a:solidFill>
              <a:srgbClr val="FFFFFF"/>
            </a:solidFill>
            <a:ln w="66675" cap="sq">
              <a:solidFill>
                <a:srgbClr val="000000"/>
              </a:solidFill>
              <a:prstDash val="solid"/>
              <a:miter/>
            </a:ln>
          </p:spPr>
        </p:sp>
        <p:sp>
          <p:nvSpPr>
            <p:cNvPr name="TextBox 4" id="4"/>
            <p:cNvSpPr txBox="true"/>
            <p:nvPr/>
          </p:nvSpPr>
          <p:spPr>
            <a:xfrm>
              <a:off x="0" y="-85725"/>
              <a:ext cx="4362887" cy="2433301"/>
            </a:xfrm>
            <a:prstGeom prst="rect">
              <a:avLst/>
            </a:prstGeom>
          </p:spPr>
          <p:txBody>
            <a:bodyPr anchor="ctr" rtlCol="false" tIns="50800" lIns="50800" bIns="50800" rIns="50800"/>
            <a:lstStyle/>
            <a:p>
              <a:pPr algn="ctr">
                <a:lnSpc>
                  <a:spcPts val="3174"/>
                </a:lnSpc>
              </a:pPr>
            </a:p>
          </p:txBody>
        </p:sp>
      </p:grpSp>
      <p:sp>
        <p:nvSpPr>
          <p:cNvPr name="Freeform 5" id="5"/>
          <p:cNvSpPr/>
          <p:nvPr/>
        </p:nvSpPr>
        <p:spPr>
          <a:xfrm flipH="false" flipV="false" rot="-912249">
            <a:off x="13480163" y="2113358"/>
            <a:ext cx="1242421" cy="1255233"/>
          </a:xfrm>
          <a:custGeom>
            <a:avLst/>
            <a:gdLst/>
            <a:ahLst/>
            <a:cxnLst/>
            <a:rect r="r" b="b" t="t" l="l"/>
            <a:pathLst>
              <a:path h="1255233" w="1242421">
                <a:moveTo>
                  <a:pt x="0" y="0"/>
                </a:moveTo>
                <a:lnTo>
                  <a:pt x="1242421" y="0"/>
                </a:lnTo>
                <a:lnTo>
                  <a:pt x="1242421" y="1255233"/>
                </a:lnTo>
                <a:lnTo>
                  <a:pt x="0" y="1255233"/>
                </a:lnTo>
                <a:lnTo>
                  <a:pt x="0" y="0"/>
                </a:lnTo>
                <a:close/>
              </a:path>
            </a:pathLst>
          </a:custGeom>
          <a:blipFill>
            <a:blip r:embed="rId2"/>
            <a:stretch>
              <a:fillRect l="0" t="0" r="-90511" b="-89118"/>
            </a:stretch>
          </a:blipFill>
        </p:spPr>
      </p:sp>
      <p:sp>
        <p:nvSpPr>
          <p:cNvPr name="Freeform 6" id="6"/>
          <p:cNvSpPr/>
          <p:nvPr/>
        </p:nvSpPr>
        <p:spPr>
          <a:xfrm flipH="false" flipV="false" rot="0">
            <a:off x="16005368" y="1096105"/>
            <a:ext cx="1068605" cy="1158380"/>
          </a:xfrm>
          <a:custGeom>
            <a:avLst/>
            <a:gdLst/>
            <a:ahLst/>
            <a:cxnLst/>
            <a:rect r="r" b="b" t="t" l="l"/>
            <a:pathLst>
              <a:path h="1158380" w="1068605">
                <a:moveTo>
                  <a:pt x="0" y="0"/>
                </a:moveTo>
                <a:lnTo>
                  <a:pt x="1068605" y="0"/>
                </a:lnTo>
                <a:lnTo>
                  <a:pt x="1068605" y="1158380"/>
                </a:lnTo>
                <a:lnTo>
                  <a:pt x="0" y="11583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972611" y="1351445"/>
            <a:ext cx="8460131" cy="1632596"/>
          </a:xfrm>
          <a:prstGeom prst="rect">
            <a:avLst/>
          </a:prstGeom>
        </p:spPr>
        <p:txBody>
          <a:bodyPr anchor="t" rtlCol="false" tIns="0" lIns="0" bIns="0" rIns="0">
            <a:spAutoFit/>
          </a:bodyPr>
          <a:lstStyle/>
          <a:p>
            <a:pPr algn="l">
              <a:lnSpc>
                <a:spcPts val="12060"/>
              </a:lnSpc>
            </a:pPr>
            <a:r>
              <a:rPr lang="en-US" sz="8614">
                <a:solidFill>
                  <a:srgbClr val="05061C"/>
                </a:solidFill>
                <a:latin typeface="Bungee"/>
                <a:ea typeface="Bungee"/>
                <a:cs typeface="Bungee"/>
                <a:sym typeface="Bungee"/>
              </a:rPr>
              <a:t>NECESIDAD</a:t>
            </a:r>
          </a:p>
        </p:txBody>
      </p:sp>
      <p:sp>
        <p:nvSpPr>
          <p:cNvPr name="Freeform 8" id="8"/>
          <p:cNvSpPr/>
          <p:nvPr/>
        </p:nvSpPr>
        <p:spPr>
          <a:xfrm flipH="true" flipV="false" rot="0">
            <a:off x="14405892" y="2722881"/>
            <a:ext cx="2853408" cy="5095372"/>
          </a:xfrm>
          <a:custGeom>
            <a:avLst/>
            <a:gdLst/>
            <a:ahLst/>
            <a:cxnLst/>
            <a:rect r="r" b="b" t="t" l="l"/>
            <a:pathLst>
              <a:path h="5095372" w="2853408">
                <a:moveTo>
                  <a:pt x="2853408" y="0"/>
                </a:moveTo>
                <a:lnTo>
                  <a:pt x="0" y="0"/>
                </a:lnTo>
                <a:lnTo>
                  <a:pt x="0" y="5095372"/>
                </a:lnTo>
                <a:lnTo>
                  <a:pt x="2853408" y="5095372"/>
                </a:lnTo>
                <a:lnTo>
                  <a:pt x="2853408"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430474" y="152498"/>
            <a:ext cx="185589" cy="465921"/>
          </a:xfrm>
          <a:prstGeom prst="rect">
            <a:avLst/>
          </a:prstGeom>
        </p:spPr>
        <p:txBody>
          <a:bodyPr anchor="t" rtlCol="false" tIns="0" lIns="0" bIns="0" rIns="0">
            <a:spAutoFit/>
          </a:bodyPr>
          <a:lstStyle/>
          <a:p>
            <a:pPr algn="ctr">
              <a:lnSpc>
                <a:spcPts val="3719"/>
              </a:lnSpc>
              <a:spcBef>
                <a:spcPct val="0"/>
              </a:spcBef>
            </a:pPr>
            <a:r>
              <a:rPr lang="en-US" sz="2656">
                <a:solidFill>
                  <a:srgbClr val="000000"/>
                </a:solidFill>
                <a:latin typeface="Questrial"/>
                <a:ea typeface="Questrial"/>
                <a:cs typeface="Questrial"/>
                <a:sym typeface="Questrial"/>
              </a:rPr>
              <a:t>5</a:t>
            </a:r>
          </a:p>
        </p:txBody>
      </p:sp>
      <p:grpSp>
        <p:nvGrpSpPr>
          <p:cNvPr name="Group 10" id="10"/>
          <p:cNvGrpSpPr/>
          <p:nvPr/>
        </p:nvGrpSpPr>
        <p:grpSpPr>
          <a:xfrm rot="0">
            <a:off x="7743671" y="3795620"/>
            <a:ext cx="5378144" cy="1347880"/>
            <a:chOff x="0" y="0"/>
            <a:chExt cx="3243133" cy="812800"/>
          </a:xfrm>
        </p:grpSpPr>
        <p:sp>
          <p:nvSpPr>
            <p:cNvPr name="Freeform 11" id="11"/>
            <p:cNvSpPr/>
            <p:nvPr/>
          </p:nvSpPr>
          <p:spPr>
            <a:xfrm flipH="false" flipV="false" rot="0">
              <a:off x="0" y="0"/>
              <a:ext cx="3243133" cy="812800"/>
            </a:xfrm>
            <a:custGeom>
              <a:avLst/>
              <a:gdLst/>
              <a:ahLst/>
              <a:cxnLst/>
              <a:rect r="r" b="b" t="t" l="l"/>
              <a:pathLst>
                <a:path h="812800" w="3243133">
                  <a:moveTo>
                    <a:pt x="38173" y="0"/>
                  </a:moveTo>
                  <a:lnTo>
                    <a:pt x="3204960" y="0"/>
                  </a:lnTo>
                  <a:cubicBezTo>
                    <a:pt x="3226042" y="0"/>
                    <a:pt x="3243133" y="17091"/>
                    <a:pt x="3243133" y="38173"/>
                  </a:cubicBezTo>
                  <a:lnTo>
                    <a:pt x="3243133" y="774627"/>
                  </a:lnTo>
                  <a:cubicBezTo>
                    <a:pt x="3243133" y="795709"/>
                    <a:pt x="3226042" y="812800"/>
                    <a:pt x="3204960" y="812800"/>
                  </a:cubicBezTo>
                  <a:lnTo>
                    <a:pt x="38173" y="812800"/>
                  </a:lnTo>
                  <a:cubicBezTo>
                    <a:pt x="17091" y="812800"/>
                    <a:pt x="0" y="795709"/>
                    <a:pt x="0" y="774627"/>
                  </a:cubicBezTo>
                  <a:lnTo>
                    <a:pt x="0" y="38173"/>
                  </a:lnTo>
                  <a:cubicBezTo>
                    <a:pt x="0" y="17091"/>
                    <a:pt x="17091" y="0"/>
                    <a:pt x="38173" y="0"/>
                  </a:cubicBezTo>
                  <a:close/>
                </a:path>
              </a:pathLst>
            </a:custGeom>
            <a:solidFill>
              <a:srgbClr val="70B2E2"/>
            </a:solidFill>
          </p:spPr>
        </p:sp>
        <p:sp>
          <p:nvSpPr>
            <p:cNvPr name="TextBox 12" id="12"/>
            <p:cNvSpPr txBox="true"/>
            <p:nvPr/>
          </p:nvSpPr>
          <p:spPr>
            <a:xfrm>
              <a:off x="0" y="-66675"/>
              <a:ext cx="3243133" cy="879475"/>
            </a:xfrm>
            <a:prstGeom prst="rect">
              <a:avLst/>
            </a:prstGeom>
          </p:spPr>
          <p:txBody>
            <a:bodyPr anchor="ctr" rtlCol="false" tIns="50800" lIns="50800" bIns="50800" rIns="50800"/>
            <a:lstStyle/>
            <a:p>
              <a:pPr algn="ctr">
                <a:lnSpc>
                  <a:spcPts val="2859"/>
                </a:lnSpc>
              </a:pPr>
              <a:r>
                <a:rPr lang="en-US" sz="2199">
                  <a:solidFill>
                    <a:srgbClr val="FFFFFF"/>
                  </a:solidFill>
                  <a:latin typeface="Bungee"/>
                  <a:ea typeface="Bungee"/>
                  <a:cs typeface="Bungee"/>
                  <a:sym typeface="Bungee"/>
                </a:rPr>
                <a:t>Generación de informes</a:t>
              </a:r>
            </a:p>
          </p:txBody>
        </p:sp>
      </p:grpSp>
      <p:grpSp>
        <p:nvGrpSpPr>
          <p:cNvPr name="Group 13" id="13"/>
          <p:cNvGrpSpPr/>
          <p:nvPr/>
        </p:nvGrpSpPr>
        <p:grpSpPr>
          <a:xfrm rot="0">
            <a:off x="1803453" y="3795620"/>
            <a:ext cx="5378144" cy="1347880"/>
            <a:chOff x="0" y="0"/>
            <a:chExt cx="3243133" cy="812800"/>
          </a:xfrm>
        </p:grpSpPr>
        <p:sp>
          <p:nvSpPr>
            <p:cNvPr name="Freeform 14" id="14"/>
            <p:cNvSpPr/>
            <p:nvPr/>
          </p:nvSpPr>
          <p:spPr>
            <a:xfrm flipH="false" flipV="false" rot="0">
              <a:off x="0" y="0"/>
              <a:ext cx="3243133" cy="812800"/>
            </a:xfrm>
            <a:custGeom>
              <a:avLst/>
              <a:gdLst/>
              <a:ahLst/>
              <a:cxnLst/>
              <a:rect r="r" b="b" t="t" l="l"/>
              <a:pathLst>
                <a:path h="812800" w="3243133">
                  <a:moveTo>
                    <a:pt x="38173" y="0"/>
                  </a:moveTo>
                  <a:lnTo>
                    <a:pt x="3204960" y="0"/>
                  </a:lnTo>
                  <a:cubicBezTo>
                    <a:pt x="3226042" y="0"/>
                    <a:pt x="3243133" y="17091"/>
                    <a:pt x="3243133" y="38173"/>
                  </a:cubicBezTo>
                  <a:lnTo>
                    <a:pt x="3243133" y="774627"/>
                  </a:lnTo>
                  <a:cubicBezTo>
                    <a:pt x="3243133" y="795709"/>
                    <a:pt x="3226042" y="812800"/>
                    <a:pt x="3204960" y="812800"/>
                  </a:cubicBezTo>
                  <a:lnTo>
                    <a:pt x="38173" y="812800"/>
                  </a:lnTo>
                  <a:cubicBezTo>
                    <a:pt x="17091" y="812800"/>
                    <a:pt x="0" y="795709"/>
                    <a:pt x="0" y="774627"/>
                  </a:cubicBezTo>
                  <a:lnTo>
                    <a:pt x="0" y="38173"/>
                  </a:lnTo>
                  <a:cubicBezTo>
                    <a:pt x="0" y="17091"/>
                    <a:pt x="17091" y="0"/>
                    <a:pt x="38173" y="0"/>
                  </a:cubicBezTo>
                  <a:close/>
                </a:path>
              </a:pathLst>
            </a:custGeom>
            <a:solidFill>
              <a:srgbClr val="70B2E2"/>
            </a:solidFill>
          </p:spPr>
        </p:sp>
        <p:sp>
          <p:nvSpPr>
            <p:cNvPr name="TextBox 15" id="15"/>
            <p:cNvSpPr txBox="true"/>
            <p:nvPr/>
          </p:nvSpPr>
          <p:spPr>
            <a:xfrm>
              <a:off x="0" y="-66675"/>
              <a:ext cx="3243133" cy="879475"/>
            </a:xfrm>
            <a:prstGeom prst="rect">
              <a:avLst/>
            </a:prstGeom>
          </p:spPr>
          <p:txBody>
            <a:bodyPr anchor="ctr" rtlCol="false" tIns="50800" lIns="50800" bIns="50800" rIns="50800"/>
            <a:lstStyle/>
            <a:p>
              <a:pPr algn="ctr">
                <a:lnSpc>
                  <a:spcPts val="2859"/>
                </a:lnSpc>
              </a:pPr>
              <a:r>
                <a:rPr lang="en-US" sz="2199">
                  <a:solidFill>
                    <a:srgbClr val="FFFFFF"/>
                  </a:solidFill>
                  <a:latin typeface="Bungee"/>
                  <a:ea typeface="Bungee"/>
                  <a:cs typeface="Bungee"/>
                  <a:sym typeface="Bungee"/>
                </a:rPr>
                <a:t>organización de vehiculos</a:t>
              </a:r>
            </a:p>
          </p:txBody>
        </p:sp>
      </p:grpSp>
      <p:grpSp>
        <p:nvGrpSpPr>
          <p:cNvPr name="Group 16" id="16"/>
          <p:cNvGrpSpPr/>
          <p:nvPr/>
        </p:nvGrpSpPr>
        <p:grpSpPr>
          <a:xfrm rot="0">
            <a:off x="1803453" y="5553631"/>
            <a:ext cx="5378144" cy="1347880"/>
            <a:chOff x="0" y="0"/>
            <a:chExt cx="3243133" cy="812800"/>
          </a:xfrm>
        </p:grpSpPr>
        <p:sp>
          <p:nvSpPr>
            <p:cNvPr name="Freeform 17" id="17"/>
            <p:cNvSpPr/>
            <p:nvPr/>
          </p:nvSpPr>
          <p:spPr>
            <a:xfrm flipH="false" flipV="false" rot="0">
              <a:off x="0" y="0"/>
              <a:ext cx="3243133" cy="812800"/>
            </a:xfrm>
            <a:custGeom>
              <a:avLst/>
              <a:gdLst/>
              <a:ahLst/>
              <a:cxnLst/>
              <a:rect r="r" b="b" t="t" l="l"/>
              <a:pathLst>
                <a:path h="812800" w="3243133">
                  <a:moveTo>
                    <a:pt x="38173" y="0"/>
                  </a:moveTo>
                  <a:lnTo>
                    <a:pt x="3204960" y="0"/>
                  </a:lnTo>
                  <a:cubicBezTo>
                    <a:pt x="3226042" y="0"/>
                    <a:pt x="3243133" y="17091"/>
                    <a:pt x="3243133" y="38173"/>
                  </a:cubicBezTo>
                  <a:lnTo>
                    <a:pt x="3243133" y="774627"/>
                  </a:lnTo>
                  <a:cubicBezTo>
                    <a:pt x="3243133" y="795709"/>
                    <a:pt x="3226042" y="812800"/>
                    <a:pt x="3204960" y="812800"/>
                  </a:cubicBezTo>
                  <a:lnTo>
                    <a:pt x="38173" y="812800"/>
                  </a:lnTo>
                  <a:cubicBezTo>
                    <a:pt x="17091" y="812800"/>
                    <a:pt x="0" y="795709"/>
                    <a:pt x="0" y="774627"/>
                  </a:cubicBezTo>
                  <a:lnTo>
                    <a:pt x="0" y="38173"/>
                  </a:lnTo>
                  <a:cubicBezTo>
                    <a:pt x="0" y="17091"/>
                    <a:pt x="17091" y="0"/>
                    <a:pt x="38173" y="0"/>
                  </a:cubicBezTo>
                  <a:close/>
                </a:path>
              </a:pathLst>
            </a:custGeom>
            <a:solidFill>
              <a:srgbClr val="70B2E2"/>
            </a:solidFill>
          </p:spPr>
        </p:sp>
        <p:sp>
          <p:nvSpPr>
            <p:cNvPr name="TextBox 18" id="18"/>
            <p:cNvSpPr txBox="true"/>
            <p:nvPr/>
          </p:nvSpPr>
          <p:spPr>
            <a:xfrm>
              <a:off x="0" y="-66675"/>
              <a:ext cx="3243133" cy="879475"/>
            </a:xfrm>
            <a:prstGeom prst="rect">
              <a:avLst/>
            </a:prstGeom>
          </p:spPr>
          <p:txBody>
            <a:bodyPr anchor="ctr" rtlCol="false" tIns="50800" lIns="50800" bIns="50800" rIns="50800"/>
            <a:lstStyle/>
            <a:p>
              <a:pPr algn="ctr">
                <a:lnSpc>
                  <a:spcPts val="2859"/>
                </a:lnSpc>
              </a:pPr>
              <a:r>
                <a:rPr lang="en-US" sz="2199">
                  <a:solidFill>
                    <a:srgbClr val="FFFFFF"/>
                  </a:solidFill>
                  <a:latin typeface="Bungee"/>
                  <a:ea typeface="Bungee"/>
                  <a:cs typeface="Bungee"/>
                  <a:sym typeface="Bungee"/>
                </a:rPr>
                <a:t>administración de empleados</a:t>
              </a:r>
            </a:p>
          </p:txBody>
        </p:sp>
      </p:grpSp>
      <p:grpSp>
        <p:nvGrpSpPr>
          <p:cNvPr name="Group 19" id="19"/>
          <p:cNvGrpSpPr/>
          <p:nvPr/>
        </p:nvGrpSpPr>
        <p:grpSpPr>
          <a:xfrm rot="0">
            <a:off x="7743671" y="5553631"/>
            <a:ext cx="5378144" cy="1347880"/>
            <a:chOff x="0" y="0"/>
            <a:chExt cx="3243133" cy="812800"/>
          </a:xfrm>
        </p:grpSpPr>
        <p:sp>
          <p:nvSpPr>
            <p:cNvPr name="Freeform 20" id="20"/>
            <p:cNvSpPr/>
            <p:nvPr/>
          </p:nvSpPr>
          <p:spPr>
            <a:xfrm flipH="false" flipV="false" rot="0">
              <a:off x="0" y="0"/>
              <a:ext cx="3243133" cy="812800"/>
            </a:xfrm>
            <a:custGeom>
              <a:avLst/>
              <a:gdLst/>
              <a:ahLst/>
              <a:cxnLst/>
              <a:rect r="r" b="b" t="t" l="l"/>
              <a:pathLst>
                <a:path h="812800" w="3243133">
                  <a:moveTo>
                    <a:pt x="38173" y="0"/>
                  </a:moveTo>
                  <a:lnTo>
                    <a:pt x="3204960" y="0"/>
                  </a:lnTo>
                  <a:cubicBezTo>
                    <a:pt x="3226042" y="0"/>
                    <a:pt x="3243133" y="17091"/>
                    <a:pt x="3243133" y="38173"/>
                  </a:cubicBezTo>
                  <a:lnTo>
                    <a:pt x="3243133" y="774627"/>
                  </a:lnTo>
                  <a:cubicBezTo>
                    <a:pt x="3243133" y="795709"/>
                    <a:pt x="3226042" y="812800"/>
                    <a:pt x="3204960" y="812800"/>
                  </a:cubicBezTo>
                  <a:lnTo>
                    <a:pt x="38173" y="812800"/>
                  </a:lnTo>
                  <a:cubicBezTo>
                    <a:pt x="17091" y="812800"/>
                    <a:pt x="0" y="795709"/>
                    <a:pt x="0" y="774627"/>
                  </a:cubicBezTo>
                  <a:lnTo>
                    <a:pt x="0" y="38173"/>
                  </a:lnTo>
                  <a:cubicBezTo>
                    <a:pt x="0" y="17091"/>
                    <a:pt x="17091" y="0"/>
                    <a:pt x="38173" y="0"/>
                  </a:cubicBezTo>
                  <a:close/>
                </a:path>
              </a:pathLst>
            </a:custGeom>
            <a:solidFill>
              <a:srgbClr val="70B2E2"/>
            </a:solidFill>
          </p:spPr>
        </p:sp>
        <p:sp>
          <p:nvSpPr>
            <p:cNvPr name="TextBox 21" id="21"/>
            <p:cNvSpPr txBox="true"/>
            <p:nvPr/>
          </p:nvSpPr>
          <p:spPr>
            <a:xfrm>
              <a:off x="0" y="-66675"/>
              <a:ext cx="3243133" cy="879475"/>
            </a:xfrm>
            <a:prstGeom prst="rect">
              <a:avLst/>
            </a:prstGeom>
          </p:spPr>
          <p:txBody>
            <a:bodyPr anchor="ctr" rtlCol="false" tIns="50800" lIns="50800" bIns="50800" rIns="50800"/>
            <a:lstStyle/>
            <a:p>
              <a:pPr algn="ctr">
                <a:lnSpc>
                  <a:spcPts val="2859"/>
                </a:lnSpc>
              </a:pPr>
              <a:r>
                <a:rPr lang="en-US" sz="2199">
                  <a:solidFill>
                    <a:srgbClr val="FFFFFF"/>
                  </a:solidFill>
                  <a:latin typeface="Bungee"/>
                  <a:ea typeface="Bungee"/>
                  <a:cs typeface="Bungee"/>
                  <a:sym typeface="Bungee"/>
                </a:rPr>
                <a:t>minimizar retrasos</a:t>
              </a:r>
            </a:p>
          </p:txBody>
        </p:sp>
      </p:grpSp>
      <p:grpSp>
        <p:nvGrpSpPr>
          <p:cNvPr name="Group 22" id="22"/>
          <p:cNvGrpSpPr/>
          <p:nvPr/>
        </p:nvGrpSpPr>
        <p:grpSpPr>
          <a:xfrm rot="0">
            <a:off x="1803453" y="7311087"/>
            <a:ext cx="5378144" cy="1347880"/>
            <a:chOff x="0" y="0"/>
            <a:chExt cx="3243133" cy="812800"/>
          </a:xfrm>
        </p:grpSpPr>
        <p:sp>
          <p:nvSpPr>
            <p:cNvPr name="Freeform 23" id="23"/>
            <p:cNvSpPr/>
            <p:nvPr/>
          </p:nvSpPr>
          <p:spPr>
            <a:xfrm flipH="false" flipV="false" rot="0">
              <a:off x="0" y="0"/>
              <a:ext cx="3243133" cy="812800"/>
            </a:xfrm>
            <a:custGeom>
              <a:avLst/>
              <a:gdLst/>
              <a:ahLst/>
              <a:cxnLst/>
              <a:rect r="r" b="b" t="t" l="l"/>
              <a:pathLst>
                <a:path h="812800" w="3243133">
                  <a:moveTo>
                    <a:pt x="38173" y="0"/>
                  </a:moveTo>
                  <a:lnTo>
                    <a:pt x="3204960" y="0"/>
                  </a:lnTo>
                  <a:cubicBezTo>
                    <a:pt x="3226042" y="0"/>
                    <a:pt x="3243133" y="17091"/>
                    <a:pt x="3243133" y="38173"/>
                  </a:cubicBezTo>
                  <a:lnTo>
                    <a:pt x="3243133" y="774627"/>
                  </a:lnTo>
                  <a:cubicBezTo>
                    <a:pt x="3243133" y="795709"/>
                    <a:pt x="3226042" y="812800"/>
                    <a:pt x="3204960" y="812800"/>
                  </a:cubicBezTo>
                  <a:lnTo>
                    <a:pt x="38173" y="812800"/>
                  </a:lnTo>
                  <a:cubicBezTo>
                    <a:pt x="17091" y="812800"/>
                    <a:pt x="0" y="795709"/>
                    <a:pt x="0" y="774627"/>
                  </a:cubicBezTo>
                  <a:lnTo>
                    <a:pt x="0" y="38173"/>
                  </a:lnTo>
                  <a:cubicBezTo>
                    <a:pt x="0" y="17091"/>
                    <a:pt x="17091" y="0"/>
                    <a:pt x="38173" y="0"/>
                  </a:cubicBezTo>
                  <a:close/>
                </a:path>
              </a:pathLst>
            </a:custGeom>
            <a:solidFill>
              <a:srgbClr val="70B2E2"/>
            </a:solidFill>
          </p:spPr>
        </p:sp>
        <p:sp>
          <p:nvSpPr>
            <p:cNvPr name="TextBox 24" id="24"/>
            <p:cNvSpPr txBox="true"/>
            <p:nvPr/>
          </p:nvSpPr>
          <p:spPr>
            <a:xfrm>
              <a:off x="0" y="-66675"/>
              <a:ext cx="3243133" cy="879475"/>
            </a:xfrm>
            <a:prstGeom prst="rect">
              <a:avLst/>
            </a:prstGeom>
          </p:spPr>
          <p:txBody>
            <a:bodyPr anchor="ctr" rtlCol="false" tIns="50800" lIns="50800" bIns="50800" rIns="50800"/>
            <a:lstStyle/>
            <a:p>
              <a:pPr algn="ctr">
                <a:lnSpc>
                  <a:spcPts val="2859"/>
                </a:lnSpc>
              </a:pPr>
              <a:r>
                <a:rPr lang="en-US" sz="2199">
                  <a:solidFill>
                    <a:srgbClr val="FFFFFF"/>
                  </a:solidFill>
                  <a:latin typeface="Bungee"/>
                  <a:ea typeface="Bungee"/>
                  <a:cs typeface="Bungee"/>
                  <a:sym typeface="Bungee"/>
                </a:rPr>
                <a:t>optimizar trayectos</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grpSp>
        <p:nvGrpSpPr>
          <p:cNvPr name="Group 2" id="2"/>
          <p:cNvGrpSpPr/>
          <p:nvPr/>
        </p:nvGrpSpPr>
        <p:grpSpPr>
          <a:xfrm rot="0">
            <a:off x="1028700" y="686774"/>
            <a:ext cx="16565336" cy="8913453"/>
            <a:chOff x="0" y="0"/>
            <a:chExt cx="4362887" cy="2347576"/>
          </a:xfrm>
        </p:grpSpPr>
        <p:sp>
          <p:nvSpPr>
            <p:cNvPr name="Freeform 3" id="3"/>
            <p:cNvSpPr/>
            <p:nvPr/>
          </p:nvSpPr>
          <p:spPr>
            <a:xfrm flipH="false" flipV="false" rot="0">
              <a:off x="0" y="0"/>
              <a:ext cx="4362887" cy="2347576"/>
            </a:xfrm>
            <a:custGeom>
              <a:avLst/>
              <a:gdLst/>
              <a:ahLst/>
              <a:cxnLst/>
              <a:rect r="r" b="b" t="t" l="l"/>
              <a:pathLst>
                <a:path h="2347576" w="4362887">
                  <a:moveTo>
                    <a:pt x="5141" y="0"/>
                  </a:moveTo>
                  <a:lnTo>
                    <a:pt x="4357746" y="0"/>
                  </a:lnTo>
                  <a:cubicBezTo>
                    <a:pt x="4360585" y="0"/>
                    <a:pt x="4362887" y="2302"/>
                    <a:pt x="4362887" y="5141"/>
                  </a:cubicBezTo>
                  <a:lnTo>
                    <a:pt x="4362887" y="2342435"/>
                  </a:lnTo>
                  <a:cubicBezTo>
                    <a:pt x="4362887" y="2345274"/>
                    <a:pt x="4360585" y="2347576"/>
                    <a:pt x="4357746" y="2347576"/>
                  </a:cubicBezTo>
                  <a:lnTo>
                    <a:pt x="5141" y="2347576"/>
                  </a:lnTo>
                  <a:cubicBezTo>
                    <a:pt x="3777" y="2347576"/>
                    <a:pt x="2470" y="2347034"/>
                    <a:pt x="1506" y="2346070"/>
                  </a:cubicBezTo>
                  <a:cubicBezTo>
                    <a:pt x="542" y="2345106"/>
                    <a:pt x="0" y="2343799"/>
                    <a:pt x="0" y="2342435"/>
                  </a:cubicBezTo>
                  <a:lnTo>
                    <a:pt x="0" y="5141"/>
                  </a:lnTo>
                  <a:cubicBezTo>
                    <a:pt x="0" y="2302"/>
                    <a:pt x="2302" y="0"/>
                    <a:pt x="5141" y="0"/>
                  </a:cubicBezTo>
                  <a:close/>
                </a:path>
              </a:pathLst>
            </a:custGeom>
            <a:solidFill>
              <a:srgbClr val="FFFFFF"/>
            </a:solidFill>
            <a:ln w="66675" cap="sq">
              <a:solidFill>
                <a:srgbClr val="000000"/>
              </a:solidFill>
              <a:prstDash val="solid"/>
              <a:miter/>
            </a:ln>
          </p:spPr>
        </p:sp>
        <p:sp>
          <p:nvSpPr>
            <p:cNvPr name="TextBox 4" id="4"/>
            <p:cNvSpPr txBox="true"/>
            <p:nvPr/>
          </p:nvSpPr>
          <p:spPr>
            <a:xfrm>
              <a:off x="0" y="-85725"/>
              <a:ext cx="4362887" cy="2433301"/>
            </a:xfrm>
            <a:prstGeom prst="rect">
              <a:avLst/>
            </a:prstGeom>
          </p:spPr>
          <p:txBody>
            <a:bodyPr anchor="ctr" rtlCol="false" tIns="50800" lIns="50800" bIns="50800" rIns="50800"/>
            <a:lstStyle/>
            <a:p>
              <a:pPr algn="ctr">
                <a:lnSpc>
                  <a:spcPts val="3174"/>
                </a:lnSpc>
              </a:pPr>
            </a:p>
          </p:txBody>
        </p:sp>
      </p:grpSp>
      <p:sp>
        <p:nvSpPr>
          <p:cNvPr name="Freeform 5" id="5"/>
          <p:cNvSpPr/>
          <p:nvPr/>
        </p:nvSpPr>
        <p:spPr>
          <a:xfrm flipH="false" flipV="false" rot="0">
            <a:off x="15904238" y="219173"/>
            <a:ext cx="720479" cy="1619054"/>
          </a:xfrm>
          <a:custGeom>
            <a:avLst/>
            <a:gdLst/>
            <a:ahLst/>
            <a:cxnLst/>
            <a:rect r="r" b="b" t="t" l="l"/>
            <a:pathLst>
              <a:path h="1619054" w="720479">
                <a:moveTo>
                  <a:pt x="0" y="0"/>
                </a:moveTo>
                <a:lnTo>
                  <a:pt x="720479" y="0"/>
                </a:lnTo>
                <a:lnTo>
                  <a:pt x="720479" y="1619054"/>
                </a:lnTo>
                <a:lnTo>
                  <a:pt x="0" y="16190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489240" y="2770395"/>
            <a:ext cx="4770060" cy="4746210"/>
          </a:xfrm>
          <a:custGeom>
            <a:avLst/>
            <a:gdLst/>
            <a:ahLst/>
            <a:cxnLst/>
            <a:rect r="r" b="b" t="t" l="l"/>
            <a:pathLst>
              <a:path h="4746210" w="4770060">
                <a:moveTo>
                  <a:pt x="0" y="0"/>
                </a:moveTo>
                <a:lnTo>
                  <a:pt x="4770060" y="0"/>
                </a:lnTo>
                <a:lnTo>
                  <a:pt x="4770060" y="4746210"/>
                </a:lnTo>
                <a:lnTo>
                  <a:pt x="0" y="47462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6457841" y="1178919"/>
            <a:ext cx="5044154" cy="1166217"/>
          </a:xfrm>
          <a:prstGeom prst="rect">
            <a:avLst/>
          </a:prstGeom>
        </p:spPr>
        <p:txBody>
          <a:bodyPr anchor="t" rtlCol="false" tIns="0" lIns="0" bIns="0" rIns="0">
            <a:spAutoFit/>
          </a:bodyPr>
          <a:lstStyle/>
          <a:p>
            <a:pPr algn="l">
              <a:lnSpc>
                <a:spcPts val="8282"/>
              </a:lnSpc>
            </a:pPr>
            <a:r>
              <a:rPr lang="en-US" sz="6679">
                <a:solidFill>
                  <a:srgbClr val="000000"/>
                </a:solidFill>
                <a:latin typeface="Bungee"/>
                <a:ea typeface="Bungee"/>
                <a:cs typeface="Bungee"/>
                <a:sym typeface="Bungee"/>
              </a:rPr>
              <a:t>Solución</a:t>
            </a:r>
          </a:p>
        </p:txBody>
      </p:sp>
      <p:sp>
        <p:nvSpPr>
          <p:cNvPr name="TextBox 8" id="8"/>
          <p:cNvSpPr txBox="true"/>
          <p:nvPr/>
        </p:nvSpPr>
        <p:spPr>
          <a:xfrm rot="0">
            <a:off x="2268520" y="2701228"/>
            <a:ext cx="8643354" cy="2495464"/>
          </a:xfrm>
          <a:prstGeom prst="rect">
            <a:avLst/>
          </a:prstGeom>
        </p:spPr>
        <p:txBody>
          <a:bodyPr anchor="t" rtlCol="false" tIns="0" lIns="0" bIns="0" rIns="0">
            <a:spAutoFit/>
          </a:bodyPr>
          <a:lstStyle/>
          <a:p>
            <a:pPr algn="l">
              <a:lnSpc>
                <a:spcPts val="3330"/>
              </a:lnSpc>
              <a:spcBef>
                <a:spcPct val="0"/>
              </a:spcBef>
            </a:pPr>
            <a:r>
              <a:rPr lang="en-US" sz="2378">
                <a:solidFill>
                  <a:srgbClr val="000000"/>
                </a:solidFill>
                <a:latin typeface="Questrial"/>
                <a:ea typeface="Questrial"/>
                <a:cs typeface="Questrial"/>
                <a:sym typeface="Questrial"/>
              </a:rPr>
              <a:t>La aplicación se</a:t>
            </a:r>
            <a:r>
              <a:rPr lang="en-US" sz="2378">
                <a:solidFill>
                  <a:srgbClr val="000000"/>
                </a:solidFill>
                <a:latin typeface="Questrial"/>
                <a:ea typeface="Questrial"/>
                <a:cs typeface="Questrial"/>
                <a:sym typeface="Questrial"/>
              </a:rPr>
              <a:t> conectará a una API que gestionará las operaciones y almacenará la información de forma persistente en una base de datos, permitiendo acceder a los datos de manera organizada, facilitar el seguimiento de los vehículos y empleados, reducir la pérdida de información y disminuir el tiempo destinado a tareas administrativas</a:t>
            </a:r>
          </a:p>
        </p:txBody>
      </p:sp>
      <p:grpSp>
        <p:nvGrpSpPr>
          <p:cNvPr name="Group 9" id="9"/>
          <p:cNvGrpSpPr/>
          <p:nvPr/>
        </p:nvGrpSpPr>
        <p:grpSpPr>
          <a:xfrm rot="0">
            <a:off x="2268520" y="5722846"/>
            <a:ext cx="5378144" cy="1347880"/>
            <a:chOff x="0" y="0"/>
            <a:chExt cx="3243133" cy="812800"/>
          </a:xfrm>
        </p:grpSpPr>
        <p:sp>
          <p:nvSpPr>
            <p:cNvPr name="Freeform 10" id="10"/>
            <p:cNvSpPr/>
            <p:nvPr/>
          </p:nvSpPr>
          <p:spPr>
            <a:xfrm flipH="false" flipV="false" rot="0">
              <a:off x="0" y="0"/>
              <a:ext cx="3243133" cy="812800"/>
            </a:xfrm>
            <a:custGeom>
              <a:avLst/>
              <a:gdLst/>
              <a:ahLst/>
              <a:cxnLst/>
              <a:rect r="r" b="b" t="t" l="l"/>
              <a:pathLst>
                <a:path h="812800" w="3243133">
                  <a:moveTo>
                    <a:pt x="38173" y="0"/>
                  </a:moveTo>
                  <a:lnTo>
                    <a:pt x="3204960" y="0"/>
                  </a:lnTo>
                  <a:cubicBezTo>
                    <a:pt x="3226042" y="0"/>
                    <a:pt x="3243133" y="17091"/>
                    <a:pt x="3243133" y="38173"/>
                  </a:cubicBezTo>
                  <a:lnTo>
                    <a:pt x="3243133" y="774627"/>
                  </a:lnTo>
                  <a:cubicBezTo>
                    <a:pt x="3243133" y="795709"/>
                    <a:pt x="3226042" y="812800"/>
                    <a:pt x="3204960" y="812800"/>
                  </a:cubicBezTo>
                  <a:lnTo>
                    <a:pt x="38173" y="812800"/>
                  </a:lnTo>
                  <a:cubicBezTo>
                    <a:pt x="17091" y="812800"/>
                    <a:pt x="0" y="795709"/>
                    <a:pt x="0" y="774627"/>
                  </a:cubicBezTo>
                  <a:lnTo>
                    <a:pt x="0" y="38173"/>
                  </a:lnTo>
                  <a:cubicBezTo>
                    <a:pt x="0" y="17091"/>
                    <a:pt x="17091" y="0"/>
                    <a:pt x="38173" y="0"/>
                  </a:cubicBezTo>
                  <a:close/>
                </a:path>
              </a:pathLst>
            </a:custGeom>
            <a:solidFill>
              <a:srgbClr val="70B2E2"/>
            </a:solidFill>
          </p:spPr>
        </p:sp>
        <p:sp>
          <p:nvSpPr>
            <p:cNvPr name="TextBox 11" id="11"/>
            <p:cNvSpPr txBox="true"/>
            <p:nvPr/>
          </p:nvSpPr>
          <p:spPr>
            <a:xfrm>
              <a:off x="0" y="-66675"/>
              <a:ext cx="3243133" cy="879475"/>
            </a:xfrm>
            <a:prstGeom prst="rect">
              <a:avLst/>
            </a:prstGeom>
          </p:spPr>
          <p:txBody>
            <a:bodyPr anchor="ctr" rtlCol="false" tIns="50800" lIns="50800" bIns="50800" rIns="50800"/>
            <a:lstStyle/>
            <a:p>
              <a:pPr algn="ctr">
                <a:lnSpc>
                  <a:spcPts val="2859"/>
                </a:lnSpc>
              </a:pPr>
              <a:r>
                <a:rPr lang="en-US" sz="2199">
                  <a:solidFill>
                    <a:srgbClr val="FFFFFF"/>
                  </a:solidFill>
                  <a:latin typeface="Bungee"/>
                  <a:ea typeface="Bungee"/>
                  <a:cs typeface="Bungee"/>
                  <a:sym typeface="Bungee"/>
                </a:rPr>
                <a:t>El sistema consulta y registra los vehiculos</a:t>
              </a:r>
            </a:p>
          </p:txBody>
        </p:sp>
      </p:grpSp>
      <p:grpSp>
        <p:nvGrpSpPr>
          <p:cNvPr name="Group 12" id="12"/>
          <p:cNvGrpSpPr/>
          <p:nvPr/>
        </p:nvGrpSpPr>
        <p:grpSpPr>
          <a:xfrm rot="0">
            <a:off x="2268520" y="7480301"/>
            <a:ext cx="5378144" cy="1347880"/>
            <a:chOff x="0" y="0"/>
            <a:chExt cx="3243133" cy="812800"/>
          </a:xfrm>
        </p:grpSpPr>
        <p:sp>
          <p:nvSpPr>
            <p:cNvPr name="Freeform 13" id="13"/>
            <p:cNvSpPr/>
            <p:nvPr/>
          </p:nvSpPr>
          <p:spPr>
            <a:xfrm flipH="false" flipV="false" rot="0">
              <a:off x="0" y="0"/>
              <a:ext cx="3243133" cy="812800"/>
            </a:xfrm>
            <a:custGeom>
              <a:avLst/>
              <a:gdLst/>
              <a:ahLst/>
              <a:cxnLst/>
              <a:rect r="r" b="b" t="t" l="l"/>
              <a:pathLst>
                <a:path h="812800" w="3243133">
                  <a:moveTo>
                    <a:pt x="38173" y="0"/>
                  </a:moveTo>
                  <a:lnTo>
                    <a:pt x="3204960" y="0"/>
                  </a:lnTo>
                  <a:cubicBezTo>
                    <a:pt x="3226042" y="0"/>
                    <a:pt x="3243133" y="17091"/>
                    <a:pt x="3243133" y="38173"/>
                  </a:cubicBezTo>
                  <a:lnTo>
                    <a:pt x="3243133" y="774627"/>
                  </a:lnTo>
                  <a:cubicBezTo>
                    <a:pt x="3243133" y="795709"/>
                    <a:pt x="3226042" y="812800"/>
                    <a:pt x="3204960" y="812800"/>
                  </a:cubicBezTo>
                  <a:lnTo>
                    <a:pt x="38173" y="812800"/>
                  </a:lnTo>
                  <a:cubicBezTo>
                    <a:pt x="17091" y="812800"/>
                    <a:pt x="0" y="795709"/>
                    <a:pt x="0" y="774627"/>
                  </a:cubicBezTo>
                  <a:lnTo>
                    <a:pt x="0" y="38173"/>
                  </a:lnTo>
                  <a:cubicBezTo>
                    <a:pt x="0" y="17091"/>
                    <a:pt x="17091" y="0"/>
                    <a:pt x="38173" y="0"/>
                  </a:cubicBezTo>
                  <a:close/>
                </a:path>
              </a:pathLst>
            </a:custGeom>
            <a:solidFill>
              <a:srgbClr val="70B2E2"/>
            </a:solidFill>
          </p:spPr>
        </p:sp>
        <p:sp>
          <p:nvSpPr>
            <p:cNvPr name="TextBox 14" id="14"/>
            <p:cNvSpPr txBox="true"/>
            <p:nvPr/>
          </p:nvSpPr>
          <p:spPr>
            <a:xfrm>
              <a:off x="0" y="-66675"/>
              <a:ext cx="3243133" cy="879475"/>
            </a:xfrm>
            <a:prstGeom prst="rect">
              <a:avLst/>
            </a:prstGeom>
          </p:spPr>
          <p:txBody>
            <a:bodyPr anchor="ctr" rtlCol="false" tIns="50800" lIns="50800" bIns="50800" rIns="50800"/>
            <a:lstStyle/>
            <a:p>
              <a:pPr algn="ctr">
                <a:lnSpc>
                  <a:spcPts val="2859"/>
                </a:lnSpc>
              </a:pPr>
              <a:r>
                <a:rPr lang="en-US" sz="2199">
                  <a:solidFill>
                    <a:srgbClr val="FFFFFF"/>
                  </a:solidFill>
                  <a:latin typeface="Bungee"/>
                  <a:ea typeface="Bungee"/>
                  <a:cs typeface="Bungee"/>
                  <a:sym typeface="Bungee"/>
                </a:rPr>
                <a:t>Administra información de empleados</a:t>
              </a:r>
            </a:p>
          </p:txBody>
        </p:sp>
      </p:grpSp>
      <p:sp>
        <p:nvSpPr>
          <p:cNvPr name="TextBox 15" id="15"/>
          <p:cNvSpPr txBox="true"/>
          <p:nvPr/>
        </p:nvSpPr>
        <p:spPr>
          <a:xfrm rot="0">
            <a:off x="430474" y="152498"/>
            <a:ext cx="185589" cy="465921"/>
          </a:xfrm>
          <a:prstGeom prst="rect">
            <a:avLst/>
          </a:prstGeom>
        </p:spPr>
        <p:txBody>
          <a:bodyPr anchor="t" rtlCol="false" tIns="0" lIns="0" bIns="0" rIns="0">
            <a:spAutoFit/>
          </a:bodyPr>
          <a:lstStyle/>
          <a:p>
            <a:pPr algn="ctr">
              <a:lnSpc>
                <a:spcPts val="3719"/>
              </a:lnSpc>
              <a:spcBef>
                <a:spcPct val="0"/>
              </a:spcBef>
            </a:pPr>
            <a:r>
              <a:rPr lang="en-US" sz="2656">
                <a:solidFill>
                  <a:srgbClr val="000000"/>
                </a:solidFill>
                <a:latin typeface="Questrial"/>
                <a:ea typeface="Questrial"/>
                <a:cs typeface="Questrial"/>
                <a:sym typeface="Questrial"/>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grpSp>
        <p:nvGrpSpPr>
          <p:cNvPr name="Group 2" id="2"/>
          <p:cNvGrpSpPr/>
          <p:nvPr/>
        </p:nvGrpSpPr>
        <p:grpSpPr>
          <a:xfrm rot="0">
            <a:off x="861332" y="686774"/>
            <a:ext cx="16565336" cy="8913453"/>
            <a:chOff x="0" y="0"/>
            <a:chExt cx="4362887" cy="2347576"/>
          </a:xfrm>
        </p:grpSpPr>
        <p:sp>
          <p:nvSpPr>
            <p:cNvPr name="Freeform 3" id="3"/>
            <p:cNvSpPr/>
            <p:nvPr/>
          </p:nvSpPr>
          <p:spPr>
            <a:xfrm flipH="false" flipV="false" rot="0">
              <a:off x="0" y="0"/>
              <a:ext cx="4362887" cy="2347576"/>
            </a:xfrm>
            <a:custGeom>
              <a:avLst/>
              <a:gdLst/>
              <a:ahLst/>
              <a:cxnLst/>
              <a:rect r="r" b="b" t="t" l="l"/>
              <a:pathLst>
                <a:path h="2347576" w="4362887">
                  <a:moveTo>
                    <a:pt x="5141" y="0"/>
                  </a:moveTo>
                  <a:lnTo>
                    <a:pt x="4357746" y="0"/>
                  </a:lnTo>
                  <a:cubicBezTo>
                    <a:pt x="4360585" y="0"/>
                    <a:pt x="4362887" y="2302"/>
                    <a:pt x="4362887" y="5141"/>
                  </a:cubicBezTo>
                  <a:lnTo>
                    <a:pt x="4362887" y="2342435"/>
                  </a:lnTo>
                  <a:cubicBezTo>
                    <a:pt x="4362887" y="2345274"/>
                    <a:pt x="4360585" y="2347576"/>
                    <a:pt x="4357746" y="2347576"/>
                  </a:cubicBezTo>
                  <a:lnTo>
                    <a:pt x="5141" y="2347576"/>
                  </a:lnTo>
                  <a:cubicBezTo>
                    <a:pt x="3777" y="2347576"/>
                    <a:pt x="2470" y="2347034"/>
                    <a:pt x="1506" y="2346070"/>
                  </a:cubicBezTo>
                  <a:cubicBezTo>
                    <a:pt x="542" y="2345106"/>
                    <a:pt x="0" y="2343799"/>
                    <a:pt x="0" y="2342435"/>
                  </a:cubicBezTo>
                  <a:lnTo>
                    <a:pt x="0" y="5141"/>
                  </a:lnTo>
                  <a:cubicBezTo>
                    <a:pt x="0" y="2302"/>
                    <a:pt x="2302" y="0"/>
                    <a:pt x="5141" y="0"/>
                  </a:cubicBezTo>
                  <a:close/>
                </a:path>
              </a:pathLst>
            </a:custGeom>
            <a:solidFill>
              <a:srgbClr val="FFFFFF"/>
            </a:solidFill>
            <a:ln w="66675" cap="sq">
              <a:solidFill>
                <a:srgbClr val="000000"/>
              </a:solidFill>
              <a:prstDash val="solid"/>
              <a:miter/>
            </a:ln>
          </p:spPr>
        </p:sp>
        <p:sp>
          <p:nvSpPr>
            <p:cNvPr name="TextBox 4" id="4"/>
            <p:cNvSpPr txBox="true"/>
            <p:nvPr/>
          </p:nvSpPr>
          <p:spPr>
            <a:xfrm>
              <a:off x="0" y="-85725"/>
              <a:ext cx="4362887" cy="2433301"/>
            </a:xfrm>
            <a:prstGeom prst="rect">
              <a:avLst/>
            </a:prstGeom>
          </p:spPr>
          <p:txBody>
            <a:bodyPr anchor="ctr" rtlCol="false" tIns="50800" lIns="50800" bIns="50800" rIns="50800"/>
            <a:lstStyle/>
            <a:p>
              <a:pPr algn="ctr">
                <a:lnSpc>
                  <a:spcPts val="3174"/>
                </a:lnSpc>
              </a:pPr>
            </a:p>
          </p:txBody>
        </p:sp>
      </p:grpSp>
      <p:sp>
        <p:nvSpPr>
          <p:cNvPr name="Freeform 5" id="5"/>
          <p:cNvSpPr/>
          <p:nvPr/>
        </p:nvSpPr>
        <p:spPr>
          <a:xfrm flipH="false" flipV="false" rot="0">
            <a:off x="6876325" y="3629025"/>
            <a:ext cx="4535351" cy="4114800"/>
          </a:xfrm>
          <a:custGeom>
            <a:avLst/>
            <a:gdLst/>
            <a:ahLst/>
            <a:cxnLst/>
            <a:rect r="r" b="b" t="t" l="l"/>
            <a:pathLst>
              <a:path h="4114800" w="4535351">
                <a:moveTo>
                  <a:pt x="0" y="0"/>
                </a:moveTo>
                <a:lnTo>
                  <a:pt x="4535350" y="0"/>
                </a:lnTo>
                <a:lnTo>
                  <a:pt x="453535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662909" y="1748086"/>
            <a:ext cx="16962182" cy="1187602"/>
          </a:xfrm>
          <a:prstGeom prst="rect">
            <a:avLst/>
          </a:prstGeom>
        </p:spPr>
        <p:txBody>
          <a:bodyPr anchor="t" rtlCol="false" tIns="0" lIns="0" bIns="0" rIns="0">
            <a:spAutoFit/>
          </a:bodyPr>
          <a:lstStyle/>
          <a:p>
            <a:pPr algn="ctr">
              <a:lnSpc>
                <a:spcPts val="8140"/>
              </a:lnSpc>
            </a:pPr>
            <a:r>
              <a:rPr lang="en-US" sz="7079">
                <a:solidFill>
                  <a:srgbClr val="000000"/>
                </a:solidFill>
                <a:latin typeface="Bungee"/>
                <a:ea typeface="Bungee"/>
                <a:cs typeface="Bungee"/>
                <a:sym typeface="Bungee"/>
              </a:rPr>
              <a:t>REQUERIMIENTOS</a:t>
            </a:r>
          </a:p>
        </p:txBody>
      </p:sp>
      <p:sp>
        <p:nvSpPr>
          <p:cNvPr name="TextBox 7" id="7"/>
          <p:cNvSpPr txBox="true"/>
          <p:nvPr/>
        </p:nvSpPr>
        <p:spPr>
          <a:xfrm rot="0">
            <a:off x="13042855" y="3723322"/>
            <a:ext cx="4038058" cy="630555"/>
          </a:xfrm>
          <a:prstGeom prst="rect">
            <a:avLst/>
          </a:prstGeom>
        </p:spPr>
        <p:txBody>
          <a:bodyPr anchor="t" rtlCol="false" tIns="0" lIns="0" bIns="0" rIns="0">
            <a:spAutoFit/>
          </a:bodyPr>
          <a:lstStyle/>
          <a:p>
            <a:pPr algn="l">
              <a:lnSpc>
                <a:spcPts val="4620"/>
              </a:lnSpc>
              <a:spcBef>
                <a:spcPct val="0"/>
              </a:spcBef>
            </a:pPr>
            <a:r>
              <a:rPr lang="en-US" sz="3300" u="sng">
                <a:solidFill>
                  <a:srgbClr val="000000"/>
                </a:solidFill>
                <a:latin typeface="Bungee"/>
                <a:ea typeface="Bungee"/>
                <a:cs typeface="Bungee"/>
                <a:sym typeface="Bungee"/>
              </a:rPr>
              <a:t>NO FUNCIONALES</a:t>
            </a:r>
          </a:p>
        </p:txBody>
      </p:sp>
      <p:sp>
        <p:nvSpPr>
          <p:cNvPr name="TextBox 8" id="8"/>
          <p:cNvSpPr txBox="true"/>
          <p:nvPr/>
        </p:nvSpPr>
        <p:spPr>
          <a:xfrm rot="0">
            <a:off x="3061200" y="3725858"/>
            <a:ext cx="3815124" cy="630555"/>
          </a:xfrm>
          <a:prstGeom prst="rect">
            <a:avLst/>
          </a:prstGeom>
        </p:spPr>
        <p:txBody>
          <a:bodyPr anchor="t" rtlCol="false" tIns="0" lIns="0" bIns="0" rIns="0">
            <a:spAutoFit/>
          </a:bodyPr>
          <a:lstStyle/>
          <a:p>
            <a:pPr algn="l">
              <a:lnSpc>
                <a:spcPts val="4620"/>
              </a:lnSpc>
              <a:spcBef>
                <a:spcPct val="0"/>
              </a:spcBef>
            </a:pPr>
            <a:r>
              <a:rPr lang="en-US" sz="3300" u="sng">
                <a:solidFill>
                  <a:srgbClr val="000000"/>
                </a:solidFill>
                <a:latin typeface="Bungee"/>
                <a:ea typeface="Bungee"/>
                <a:cs typeface="Bungee"/>
                <a:sym typeface="Bungee"/>
              </a:rPr>
              <a:t>FUNCIONALES</a:t>
            </a:r>
          </a:p>
        </p:txBody>
      </p:sp>
      <p:sp>
        <p:nvSpPr>
          <p:cNvPr name="TextBox 9" id="9"/>
          <p:cNvSpPr txBox="true"/>
          <p:nvPr/>
        </p:nvSpPr>
        <p:spPr>
          <a:xfrm rot="0">
            <a:off x="1658539" y="4730875"/>
            <a:ext cx="5432357" cy="4088130"/>
          </a:xfrm>
          <a:prstGeom prst="rect">
            <a:avLst/>
          </a:prstGeom>
        </p:spPr>
        <p:txBody>
          <a:bodyPr anchor="t" rtlCol="false" tIns="0" lIns="0" bIns="0" rIns="0">
            <a:spAutoFit/>
          </a:bodyPr>
          <a:lstStyle/>
          <a:p>
            <a:pPr algn="l" marL="388622" indent="-194311" lvl="1">
              <a:lnSpc>
                <a:spcPts val="2520"/>
              </a:lnSpc>
              <a:buFont typeface="Arial"/>
              <a:buChar char="•"/>
            </a:pPr>
            <a:r>
              <a:rPr lang="en-US" sz="1800">
                <a:solidFill>
                  <a:srgbClr val="000000"/>
                </a:solidFill>
                <a:latin typeface="Questrial"/>
                <a:ea typeface="Questrial"/>
                <a:cs typeface="Questrial"/>
                <a:sym typeface="Questrial"/>
              </a:rPr>
              <a:t>RF01: El</a:t>
            </a:r>
            <a:r>
              <a:rPr lang="en-US" sz="1800">
                <a:solidFill>
                  <a:srgbClr val="000000"/>
                </a:solidFill>
                <a:latin typeface="Questrial"/>
                <a:ea typeface="Questrial"/>
                <a:cs typeface="Questrial"/>
                <a:sym typeface="Questrial"/>
              </a:rPr>
              <a:t> sistema debe permitir registrar vehículos.</a:t>
            </a:r>
          </a:p>
          <a:p>
            <a:pPr algn="l" marL="388622" indent="-194311" lvl="1">
              <a:lnSpc>
                <a:spcPts val="2520"/>
              </a:lnSpc>
              <a:buFont typeface="Arial"/>
              <a:buChar char="•"/>
            </a:pPr>
            <a:r>
              <a:rPr lang="en-US" sz="1800">
                <a:solidFill>
                  <a:srgbClr val="000000"/>
                </a:solidFill>
                <a:latin typeface="Questrial"/>
                <a:ea typeface="Questrial"/>
                <a:cs typeface="Questrial"/>
                <a:sym typeface="Questrial"/>
              </a:rPr>
              <a:t>RF02: El sistema debe permitir visualizar y consultar la información de los vehículos.</a:t>
            </a:r>
          </a:p>
          <a:p>
            <a:pPr algn="l" marL="388622" indent="-194311" lvl="1">
              <a:lnSpc>
                <a:spcPts val="2520"/>
              </a:lnSpc>
              <a:buFont typeface="Arial"/>
              <a:buChar char="•"/>
            </a:pPr>
            <a:r>
              <a:rPr lang="en-US" sz="1800">
                <a:solidFill>
                  <a:srgbClr val="000000"/>
                </a:solidFill>
                <a:latin typeface="Questrial"/>
                <a:ea typeface="Questrial"/>
                <a:cs typeface="Questrial"/>
                <a:sym typeface="Questrial"/>
              </a:rPr>
              <a:t>RF03: El sistema debe permitir registrar mantenimientos asociados a los vehículos.</a:t>
            </a:r>
          </a:p>
          <a:p>
            <a:pPr algn="l" marL="388622" indent="-194311" lvl="1">
              <a:lnSpc>
                <a:spcPts val="2520"/>
              </a:lnSpc>
              <a:buFont typeface="Arial"/>
              <a:buChar char="•"/>
            </a:pPr>
            <a:r>
              <a:rPr lang="en-US" sz="1800">
                <a:solidFill>
                  <a:srgbClr val="000000"/>
                </a:solidFill>
                <a:latin typeface="Questrial"/>
                <a:ea typeface="Questrial"/>
                <a:cs typeface="Questrial"/>
                <a:sym typeface="Questrial"/>
              </a:rPr>
              <a:t>RF04: El sistema debe permitir registrar fallas y generar</a:t>
            </a:r>
            <a:r>
              <a:rPr lang="en-US" sz="1800">
                <a:solidFill>
                  <a:srgbClr val="000000"/>
                </a:solidFill>
                <a:latin typeface="Questrial"/>
                <a:ea typeface="Questrial"/>
                <a:cs typeface="Questrial"/>
                <a:sym typeface="Questrial"/>
              </a:rPr>
              <a:t> rep</a:t>
            </a:r>
            <a:r>
              <a:rPr lang="en-US" sz="1800">
                <a:solidFill>
                  <a:srgbClr val="000000"/>
                </a:solidFill>
                <a:latin typeface="Questrial"/>
                <a:ea typeface="Questrial"/>
                <a:cs typeface="Questrial"/>
                <a:sym typeface="Questrial"/>
              </a:rPr>
              <a:t>ortes.</a:t>
            </a:r>
          </a:p>
          <a:p>
            <a:pPr algn="l" marL="388622" indent="-194311" lvl="1">
              <a:lnSpc>
                <a:spcPts val="2520"/>
              </a:lnSpc>
              <a:buFont typeface="Arial"/>
              <a:buChar char="•"/>
            </a:pPr>
            <a:r>
              <a:rPr lang="en-US" sz="1800">
                <a:solidFill>
                  <a:srgbClr val="000000"/>
                </a:solidFill>
                <a:latin typeface="Questrial"/>
                <a:ea typeface="Questrial"/>
                <a:cs typeface="Questrial"/>
                <a:sym typeface="Questrial"/>
              </a:rPr>
              <a:t>RF05: El sistema debe permitir consultar y modificar los reportes registrados.</a:t>
            </a:r>
          </a:p>
          <a:p>
            <a:pPr algn="l" marL="388622" indent="-194311" lvl="1">
              <a:lnSpc>
                <a:spcPts val="2520"/>
              </a:lnSpc>
              <a:buFont typeface="Arial"/>
              <a:buChar char="•"/>
            </a:pPr>
            <a:r>
              <a:rPr lang="en-US" sz="1800">
                <a:solidFill>
                  <a:srgbClr val="000000"/>
                </a:solidFill>
                <a:latin typeface="Questrial"/>
                <a:ea typeface="Questrial"/>
                <a:cs typeface="Questrial"/>
                <a:sym typeface="Questrial"/>
              </a:rPr>
              <a:t>RF06: El sistema debe almacenar la información de vehículos, mantenimientos y reportes en una base de datos</a:t>
            </a:r>
          </a:p>
        </p:txBody>
      </p:sp>
      <p:sp>
        <p:nvSpPr>
          <p:cNvPr name="TextBox 10" id="10"/>
          <p:cNvSpPr txBox="true"/>
          <p:nvPr/>
        </p:nvSpPr>
        <p:spPr>
          <a:xfrm rot="0">
            <a:off x="11728588" y="4730875"/>
            <a:ext cx="5352325" cy="4402455"/>
          </a:xfrm>
          <a:prstGeom prst="rect">
            <a:avLst/>
          </a:prstGeom>
        </p:spPr>
        <p:txBody>
          <a:bodyPr anchor="t" rtlCol="false" tIns="0" lIns="0" bIns="0" rIns="0">
            <a:spAutoFit/>
          </a:bodyPr>
          <a:lstStyle/>
          <a:p>
            <a:pPr algn="l" marL="388622" indent="-194311" lvl="1">
              <a:lnSpc>
                <a:spcPts val="2520"/>
              </a:lnSpc>
              <a:buFont typeface="Arial"/>
              <a:buChar char="•"/>
            </a:pPr>
            <a:r>
              <a:rPr lang="en-US" sz="1800">
                <a:solidFill>
                  <a:srgbClr val="000000"/>
                </a:solidFill>
                <a:latin typeface="Questrial"/>
                <a:ea typeface="Questrial"/>
                <a:cs typeface="Questrial"/>
                <a:sym typeface="Questrial"/>
              </a:rPr>
              <a:t>RNF01: </a:t>
            </a:r>
            <a:r>
              <a:rPr lang="en-US" sz="1800">
                <a:solidFill>
                  <a:srgbClr val="000000"/>
                </a:solidFill>
                <a:latin typeface="Questrial"/>
                <a:ea typeface="Questrial"/>
                <a:cs typeface="Questrial"/>
                <a:sym typeface="Questrial"/>
              </a:rPr>
              <a:t>La aplicación debe contar con una interfaz intuitiva y fácil de utilizar.</a:t>
            </a:r>
          </a:p>
          <a:p>
            <a:pPr algn="l" marL="388622" indent="-194311" lvl="1">
              <a:lnSpc>
                <a:spcPts val="2520"/>
              </a:lnSpc>
              <a:buFont typeface="Arial"/>
              <a:buChar char="•"/>
            </a:pPr>
            <a:r>
              <a:rPr lang="en-US" sz="1800">
                <a:solidFill>
                  <a:srgbClr val="000000"/>
                </a:solidFill>
                <a:latin typeface="Questrial"/>
                <a:ea typeface="Questrial"/>
                <a:cs typeface="Questrial"/>
                <a:sym typeface="Questrial"/>
              </a:rPr>
              <a:t>RNF02: El sistema debe ser compatible con dispositivos móviles Android.</a:t>
            </a:r>
          </a:p>
          <a:p>
            <a:pPr algn="l" marL="388622" indent="-194311" lvl="1">
              <a:lnSpc>
                <a:spcPts val="2520"/>
              </a:lnSpc>
              <a:buFont typeface="Arial"/>
              <a:buChar char="•"/>
            </a:pPr>
            <a:r>
              <a:rPr lang="en-US" sz="1800">
                <a:solidFill>
                  <a:srgbClr val="000000"/>
                </a:solidFill>
                <a:latin typeface="Questrial"/>
                <a:ea typeface="Questrial"/>
                <a:cs typeface="Questrial"/>
                <a:sym typeface="Questrial"/>
              </a:rPr>
              <a:t>RNF03: La comunicación entre la aplicación y la API debe realizarse mediante</a:t>
            </a:r>
            <a:r>
              <a:rPr lang="en-US" sz="1800">
                <a:solidFill>
                  <a:srgbClr val="000000"/>
                </a:solidFill>
                <a:latin typeface="Questrial"/>
                <a:ea typeface="Questrial"/>
                <a:cs typeface="Questrial"/>
                <a:sym typeface="Questrial"/>
              </a:rPr>
              <a:t> HTTPS.</a:t>
            </a:r>
          </a:p>
          <a:p>
            <a:pPr algn="l" marL="388622" indent="-194311" lvl="1">
              <a:lnSpc>
                <a:spcPts val="2520"/>
              </a:lnSpc>
              <a:buFont typeface="Arial"/>
              <a:buChar char="•"/>
            </a:pPr>
            <a:r>
              <a:rPr lang="en-US" sz="1800">
                <a:solidFill>
                  <a:srgbClr val="000000"/>
                </a:solidFill>
                <a:latin typeface="Questrial"/>
                <a:ea typeface="Questrial"/>
                <a:cs typeface="Questrial"/>
                <a:sym typeface="Questrial"/>
              </a:rPr>
              <a:t>RNF04: La información debe almacenarse de forma persistente en la base de datos.</a:t>
            </a:r>
          </a:p>
          <a:p>
            <a:pPr algn="l" marL="388622" indent="-194311" lvl="1">
              <a:lnSpc>
                <a:spcPts val="2520"/>
              </a:lnSpc>
              <a:buFont typeface="Arial"/>
              <a:buChar char="•"/>
            </a:pPr>
            <a:r>
              <a:rPr lang="en-US" sz="1800">
                <a:solidFill>
                  <a:srgbClr val="000000"/>
                </a:solidFill>
                <a:latin typeface="Questrial"/>
                <a:ea typeface="Questrial"/>
                <a:cs typeface="Questrial"/>
                <a:sym typeface="Questrial"/>
              </a:rPr>
              <a:t>RNF05: El sistema debe entregar mensajes al usuario cuando una operación sea exitosa o presente un error.</a:t>
            </a:r>
          </a:p>
          <a:p>
            <a:pPr algn="l" marL="388622" indent="-194311" lvl="1">
              <a:lnSpc>
                <a:spcPts val="2520"/>
              </a:lnSpc>
              <a:buFont typeface="Arial"/>
              <a:buChar char="•"/>
            </a:pPr>
            <a:r>
              <a:rPr lang="en-US" sz="1800">
                <a:solidFill>
                  <a:srgbClr val="000000"/>
                </a:solidFill>
                <a:latin typeface="Questrial"/>
                <a:ea typeface="Questrial"/>
                <a:cs typeface="Questrial"/>
                <a:sym typeface="Questrial"/>
              </a:rPr>
              <a:t>RNF06: La aplicación debe presentar tiempos de respuesta adecuados al consultar o registrar información.</a:t>
            </a:r>
          </a:p>
        </p:txBody>
      </p:sp>
      <p:sp>
        <p:nvSpPr>
          <p:cNvPr name="Freeform 11" id="11"/>
          <p:cNvSpPr/>
          <p:nvPr/>
        </p:nvSpPr>
        <p:spPr>
          <a:xfrm flipH="false" flipV="false" rot="0">
            <a:off x="1885950" y="3629025"/>
            <a:ext cx="952500" cy="952500"/>
          </a:xfrm>
          <a:custGeom>
            <a:avLst/>
            <a:gdLst/>
            <a:ahLst/>
            <a:cxnLst/>
            <a:rect r="r" b="b" t="t" l="l"/>
            <a:pathLst>
              <a:path h="952500" w="952500">
                <a:moveTo>
                  <a:pt x="0" y="0"/>
                </a:moveTo>
                <a:lnTo>
                  <a:pt x="952500" y="0"/>
                </a:lnTo>
                <a:lnTo>
                  <a:pt x="952500" y="952500"/>
                </a:lnTo>
                <a:lnTo>
                  <a:pt x="0" y="952500"/>
                </a:lnTo>
                <a:lnTo>
                  <a:pt x="0" y="0"/>
                </a:lnTo>
                <a:close/>
              </a:path>
            </a:pathLst>
          </a:custGeom>
          <a:blipFill>
            <a:blip r:embed="rId4"/>
            <a:stretch>
              <a:fillRect l="0" t="0" r="0" b="0"/>
            </a:stretch>
          </a:blipFill>
        </p:spPr>
      </p:sp>
      <p:sp>
        <p:nvSpPr>
          <p:cNvPr name="Freeform 12" id="12"/>
          <p:cNvSpPr/>
          <p:nvPr/>
        </p:nvSpPr>
        <p:spPr>
          <a:xfrm flipH="false" flipV="false" rot="0">
            <a:off x="11728588" y="3629025"/>
            <a:ext cx="952500" cy="952500"/>
          </a:xfrm>
          <a:custGeom>
            <a:avLst/>
            <a:gdLst/>
            <a:ahLst/>
            <a:cxnLst/>
            <a:rect r="r" b="b" t="t" l="l"/>
            <a:pathLst>
              <a:path h="952500" w="952500">
                <a:moveTo>
                  <a:pt x="0" y="0"/>
                </a:moveTo>
                <a:lnTo>
                  <a:pt x="952500" y="0"/>
                </a:lnTo>
                <a:lnTo>
                  <a:pt x="952500" y="952500"/>
                </a:lnTo>
                <a:lnTo>
                  <a:pt x="0" y="952500"/>
                </a:lnTo>
                <a:lnTo>
                  <a:pt x="0" y="0"/>
                </a:lnTo>
                <a:close/>
              </a:path>
            </a:pathLst>
          </a:custGeom>
          <a:blipFill>
            <a:blip r:embed="rId4"/>
            <a:stretch>
              <a:fillRect l="0" t="0" r="0" b="0"/>
            </a:stretch>
          </a:blipFill>
        </p:spPr>
      </p:sp>
      <p:sp>
        <p:nvSpPr>
          <p:cNvPr name="TextBox 13" id="13"/>
          <p:cNvSpPr txBox="true"/>
          <p:nvPr/>
        </p:nvSpPr>
        <p:spPr>
          <a:xfrm rot="0">
            <a:off x="430474" y="152498"/>
            <a:ext cx="185589" cy="465921"/>
          </a:xfrm>
          <a:prstGeom prst="rect">
            <a:avLst/>
          </a:prstGeom>
        </p:spPr>
        <p:txBody>
          <a:bodyPr anchor="t" rtlCol="false" tIns="0" lIns="0" bIns="0" rIns="0">
            <a:spAutoFit/>
          </a:bodyPr>
          <a:lstStyle/>
          <a:p>
            <a:pPr algn="ctr">
              <a:lnSpc>
                <a:spcPts val="3719"/>
              </a:lnSpc>
              <a:spcBef>
                <a:spcPct val="0"/>
              </a:spcBef>
            </a:pPr>
            <a:r>
              <a:rPr lang="en-US" sz="2656">
                <a:solidFill>
                  <a:srgbClr val="000000"/>
                </a:solidFill>
                <a:latin typeface="Questrial"/>
                <a:ea typeface="Questrial"/>
                <a:cs typeface="Questrial"/>
                <a:sym typeface="Questrial"/>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grpSp>
        <p:nvGrpSpPr>
          <p:cNvPr name="Group 2" id="2"/>
          <p:cNvGrpSpPr/>
          <p:nvPr/>
        </p:nvGrpSpPr>
        <p:grpSpPr>
          <a:xfrm rot="0">
            <a:off x="861332" y="686774"/>
            <a:ext cx="16565336" cy="8913453"/>
            <a:chOff x="0" y="0"/>
            <a:chExt cx="4362887" cy="2347576"/>
          </a:xfrm>
        </p:grpSpPr>
        <p:sp>
          <p:nvSpPr>
            <p:cNvPr name="Freeform 3" id="3"/>
            <p:cNvSpPr/>
            <p:nvPr/>
          </p:nvSpPr>
          <p:spPr>
            <a:xfrm flipH="false" flipV="false" rot="0">
              <a:off x="0" y="0"/>
              <a:ext cx="4362887" cy="2347576"/>
            </a:xfrm>
            <a:custGeom>
              <a:avLst/>
              <a:gdLst/>
              <a:ahLst/>
              <a:cxnLst/>
              <a:rect r="r" b="b" t="t" l="l"/>
              <a:pathLst>
                <a:path h="2347576" w="4362887">
                  <a:moveTo>
                    <a:pt x="5141" y="0"/>
                  </a:moveTo>
                  <a:lnTo>
                    <a:pt x="4357746" y="0"/>
                  </a:lnTo>
                  <a:cubicBezTo>
                    <a:pt x="4360585" y="0"/>
                    <a:pt x="4362887" y="2302"/>
                    <a:pt x="4362887" y="5141"/>
                  </a:cubicBezTo>
                  <a:lnTo>
                    <a:pt x="4362887" y="2342435"/>
                  </a:lnTo>
                  <a:cubicBezTo>
                    <a:pt x="4362887" y="2345274"/>
                    <a:pt x="4360585" y="2347576"/>
                    <a:pt x="4357746" y="2347576"/>
                  </a:cubicBezTo>
                  <a:lnTo>
                    <a:pt x="5141" y="2347576"/>
                  </a:lnTo>
                  <a:cubicBezTo>
                    <a:pt x="3777" y="2347576"/>
                    <a:pt x="2470" y="2347034"/>
                    <a:pt x="1506" y="2346070"/>
                  </a:cubicBezTo>
                  <a:cubicBezTo>
                    <a:pt x="542" y="2345106"/>
                    <a:pt x="0" y="2343799"/>
                    <a:pt x="0" y="2342435"/>
                  </a:cubicBezTo>
                  <a:lnTo>
                    <a:pt x="0" y="5141"/>
                  </a:lnTo>
                  <a:cubicBezTo>
                    <a:pt x="0" y="2302"/>
                    <a:pt x="2302" y="0"/>
                    <a:pt x="5141" y="0"/>
                  </a:cubicBezTo>
                  <a:close/>
                </a:path>
              </a:pathLst>
            </a:custGeom>
            <a:solidFill>
              <a:srgbClr val="FFFFFF"/>
            </a:solidFill>
            <a:ln w="66675" cap="sq">
              <a:solidFill>
                <a:srgbClr val="000000"/>
              </a:solidFill>
              <a:prstDash val="solid"/>
              <a:miter/>
            </a:ln>
          </p:spPr>
        </p:sp>
        <p:sp>
          <p:nvSpPr>
            <p:cNvPr name="TextBox 4" id="4"/>
            <p:cNvSpPr txBox="true"/>
            <p:nvPr/>
          </p:nvSpPr>
          <p:spPr>
            <a:xfrm>
              <a:off x="0" y="-85725"/>
              <a:ext cx="4362887" cy="2433301"/>
            </a:xfrm>
            <a:prstGeom prst="rect">
              <a:avLst/>
            </a:prstGeom>
          </p:spPr>
          <p:txBody>
            <a:bodyPr anchor="ctr" rtlCol="false" tIns="50800" lIns="50800" bIns="50800" rIns="50800"/>
            <a:lstStyle/>
            <a:p>
              <a:pPr algn="ctr">
                <a:lnSpc>
                  <a:spcPts val="3174"/>
                </a:lnSpc>
              </a:pPr>
            </a:p>
          </p:txBody>
        </p:sp>
      </p:grpSp>
      <p:sp>
        <p:nvSpPr>
          <p:cNvPr name="Freeform 5" id="5"/>
          <p:cNvSpPr/>
          <p:nvPr/>
        </p:nvSpPr>
        <p:spPr>
          <a:xfrm flipH="false" flipV="false" rot="0">
            <a:off x="12413796" y="365934"/>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021291" y="1422132"/>
            <a:ext cx="15601768" cy="1438275"/>
          </a:xfrm>
          <a:prstGeom prst="rect">
            <a:avLst/>
          </a:prstGeom>
        </p:spPr>
        <p:txBody>
          <a:bodyPr anchor="t" rtlCol="false" tIns="0" lIns="0" bIns="0" rIns="0">
            <a:spAutoFit/>
          </a:bodyPr>
          <a:lstStyle/>
          <a:p>
            <a:pPr algn="l" marL="0" indent="0" lvl="0">
              <a:lnSpc>
                <a:spcPts val="10026"/>
              </a:lnSpc>
              <a:spcBef>
                <a:spcPct val="0"/>
              </a:spcBef>
            </a:pPr>
            <a:r>
              <a:rPr lang="en-US" sz="8355">
                <a:solidFill>
                  <a:srgbClr val="05061C"/>
                </a:solidFill>
                <a:latin typeface="Bungee"/>
                <a:ea typeface="Bungee"/>
                <a:cs typeface="Bungee"/>
                <a:sym typeface="Bungee"/>
              </a:rPr>
              <a:t>epicas</a:t>
            </a:r>
          </a:p>
        </p:txBody>
      </p:sp>
      <p:sp>
        <p:nvSpPr>
          <p:cNvPr name="TextBox 7" id="7"/>
          <p:cNvSpPr txBox="true"/>
          <p:nvPr/>
        </p:nvSpPr>
        <p:spPr>
          <a:xfrm rot="0">
            <a:off x="9822175" y="4985559"/>
            <a:ext cx="7604493" cy="433185"/>
          </a:xfrm>
          <a:prstGeom prst="rect">
            <a:avLst/>
          </a:prstGeom>
        </p:spPr>
        <p:txBody>
          <a:bodyPr anchor="t" rtlCol="false" tIns="0" lIns="0" bIns="0" rIns="0">
            <a:spAutoFit/>
          </a:bodyPr>
          <a:lstStyle/>
          <a:p>
            <a:pPr algn="l" marL="0" indent="0" lvl="0">
              <a:lnSpc>
                <a:spcPts val="3433"/>
              </a:lnSpc>
              <a:spcBef>
                <a:spcPct val="0"/>
              </a:spcBef>
            </a:pPr>
            <a:r>
              <a:rPr lang="en-US" sz="2640" spc="139">
                <a:solidFill>
                  <a:srgbClr val="FFFFFF"/>
                </a:solidFill>
                <a:latin typeface="Questrial"/>
                <a:ea typeface="Questrial"/>
                <a:cs typeface="Questrial"/>
                <a:sym typeface="Questrial"/>
              </a:rPr>
              <a:t>EPICA 2</a:t>
            </a:r>
          </a:p>
        </p:txBody>
      </p:sp>
      <p:sp>
        <p:nvSpPr>
          <p:cNvPr name="TextBox 8" id="8"/>
          <p:cNvSpPr txBox="true"/>
          <p:nvPr/>
        </p:nvSpPr>
        <p:spPr>
          <a:xfrm rot="0">
            <a:off x="9725154" y="5725010"/>
            <a:ext cx="6997344" cy="806019"/>
          </a:xfrm>
          <a:prstGeom prst="rect">
            <a:avLst/>
          </a:prstGeom>
        </p:spPr>
        <p:txBody>
          <a:bodyPr anchor="t" rtlCol="false" tIns="0" lIns="0" bIns="0" rIns="0">
            <a:spAutoFit/>
          </a:bodyPr>
          <a:lstStyle/>
          <a:p>
            <a:pPr algn="l" marL="0" indent="0" lvl="0">
              <a:lnSpc>
                <a:spcPts val="2171"/>
              </a:lnSpc>
            </a:pPr>
            <a:r>
              <a:rPr lang="en-US" sz="1723">
                <a:solidFill>
                  <a:srgbClr val="05061C"/>
                </a:solidFill>
                <a:latin typeface="Questrial"/>
                <a:ea typeface="Questrial"/>
                <a:cs typeface="Questrial"/>
                <a:sym typeface="Questrial"/>
              </a:rPr>
              <a:t>Gestionar los reportes asociados a los vehículos, permitiendo registrar fallas, reparaciones, mantenimientos y repuestos utilizados para mantener un historial de cada vehículo.</a:t>
            </a:r>
          </a:p>
        </p:txBody>
      </p:sp>
      <p:sp>
        <p:nvSpPr>
          <p:cNvPr name="TextBox 9" id="9"/>
          <p:cNvSpPr txBox="true"/>
          <p:nvPr/>
        </p:nvSpPr>
        <p:spPr>
          <a:xfrm rot="0">
            <a:off x="9822175" y="7035854"/>
            <a:ext cx="7460220" cy="433185"/>
          </a:xfrm>
          <a:prstGeom prst="rect">
            <a:avLst/>
          </a:prstGeom>
        </p:spPr>
        <p:txBody>
          <a:bodyPr anchor="t" rtlCol="false" tIns="0" lIns="0" bIns="0" rIns="0">
            <a:spAutoFit/>
          </a:bodyPr>
          <a:lstStyle/>
          <a:p>
            <a:pPr algn="l" marL="0" indent="0" lvl="0">
              <a:lnSpc>
                <a:spcPts val="3433"/>
              </a:lnSpc>
              <a:spcBef>
                <a:spcPct val="0"/>
              </a:spcBef>
            </a:pPr>
            <a:r>
              <a:rPr lang="en-US" sz="2640" spc="139">
                <a:solidFill>
                  <a:srgbClr val="FFFFFF"/>
                </a:solidFill>
                <a:latin typeface="Questrial"/>
                <a:ea typeface="Questrial"/>
                <a:cs typeface="Questrial"/>
                <a:sym typeface="Questrial"/>
              </a:rPr>
              <a:t>EPICA 4</a:t>
            </a:r>
          </a:p>
        </p:txBody>
      </p:sp>
      <p:sp>
        <p:nvSpPr>
          <p:cNvPr name="TextBox 10" id="10"/>
          <p:cNvSpPr txBox="true"/>
          <p:nvPr/>
        </p:nvSpPr>
        <p:spPr>
          <a:xfrm rot="0">
            <a:off x="1706875" y="4985559"/>
            <a:ext cx="7460220" cy="433185"/>
          </a:xfrm>
          <a:prstGeom prst="rect">
            <a:avLst/>
          </a:prstGeom>
        </p:spPr>
        <p:txBody>
          <a:bodyPr anchor="t" rtlCol="false" tIns="0" lIns="0" bIns="0" rIns="0">
            <a:spAutoFit/>
          </a:bodyPr>
          <a:lstStyle/>
          <a:p>
            <a:pPr algn="l" marL="0" indent="0" lvl="0">
              <a:lnSpc>
                <a:spcPts val="3433"/>
              </a:lnSpc>
              <a:spcBef>
                <a:spcPct val="0"/>
              </a:spcBef>
            </a:pPr>
            <a:r>
              <a:rPr lang="en-US" sz="2640" spc="139">
                <a:solidFill>
                  <a:srgbClr val="FFFFFF"/>
                </a:solidFill>
                <a:latin typeface="Questrial"/>
                <a:ea typeface="Questrial"/>
                <a:cs typeface="Questrial"/>
                <a:sym typeface="Questrial"/>
              </a:rPr>
              <a:t>EPICA 1</a:t>
            </a:r>
          </a:p>
        </p:txBody>
      </p:sp>
      <p:sp>
        <p:nvSpPr>
          <p:cNvPr name="TextBox 11" id="11"/>
          <p:cNvSpPr txBox="true"/>
          <p:nvPr/>
        </p:nvSpPr>
        <p:spPr>
          <a:xfrm rot="0">
            <a:off x="9725154" y="7777014"/>
            <a:ext cx="6997344" cy="806019"/>
          </a:xfrm>
          <a:prstGeom prst="rect">
            <a:avLst/>
          </a:prstGeom>
        </p:spPr>
        <p:txBody>
          <a:bodyPr anchor="t" rtlCol="false" tIns="0" lIns="0" bIns="0" rIns="0">
            <a:spAutoFit/>
          </a:bodyPr>
          <a:lstStyle/>
          <a:p>
            <a:pPr algn="l" marL="0" indent="0" lvl="0">
              <a:lnSpc>
                <a:spcPts val="2171"/>
              </a:lnSpc>
            </a:pPr>
            <a:r>
              <a:rPr lang="en-US" sz="1723">
                <a:solidFill>
                  <a:srgbClr val="05061C"/>
                </a:solidFill>
                <a:latin typeface="Questrial"/>
                <a:ea typeface="Questrial"/>
                <a:cs typeface="Questrial"/>
                <a:sym typeface="Questrial"/>
              </a:rPr>
              <a:t>Centralizar y mantener disponible la información de vehículos, empleados, reportes y mantenimientos mediante una aplicación móvil conectada a una API y una base de datos.</a:t>
            </a:r>
          </a:p>
        </p:txBody>
      </p:sp>
      <p:sp>
        <p:nvSpPr>
          <p:cNvPr name="TextBox 12" id="12"/>
          <p:cNvSpPr txBox="true"/>
          <p:nvPr/>
        </p:nvSpPr>
        <p:spPr>
          <a:xfrm rot="0">
            <a:off x="1634738" y="5790263"/>
            <a:ext cx="6835029" cy="806019"/>
          </a:xfrm>
          <a:prstGeom prst="rect">
            <a:avLst/>
          </a:prstGeom>
        </p:spPr>
        <p:txBody>
          <a:bodyPr anchor="t" rtlCol="false" tIns="0" lIns="0" bIns="0" rIns="0">
            <a:spAutoFit/>
          </a:bodyPr>
          <a:lstStyle/>
          <a:p>
            <a:pPr algn="l" marL="0" indent="0" lvl="0">
              <a:lnSpc>
                <a:spcPts val="2171"/>
              </a:lnSpc>
            </a:pPr>
            <a:r>
              <a:rPr lang="en-US" sz="1723">
                <a:solidFill>
                  <a:srgbClr val="05061C"/>
                </a:solidFill>
                <a:latin typeface="Questrial"/>
                <a:ea typeface="Questrial"/>
                <a:cs typeface="Questrial"/>
                <a:sym typeface="Questrial"/>
              </a:rPr>
              <a:t>Administrar y mantener centralizada la información de los vehículos de la empresa, permitiendo registrar sus características, estado, kilometraje, mantenimientos y demás antecedentes relevantes.</a:t>
            </a:r>
          </a:p>
        </p:txBody>
      </p:sp>
      <p:sp>
        <p:nvSpPr>
          <p:cNvPr name="TextBox 13" id="13"/>
          <p:cNvSpPr txBox="true"/>
          <p:nvPr/>
        </p:nvSpPr>
        <p:spPr>
          <a:xfrm rot="0">
            <a:off x="1778313" y="6932990"/>
            <a:ext cx="7460220" cy="433185"/>
          </a:xfrm>
          <a:prstGeom prst="rect">
            <a:avLst/>
          </a:prstGeom>
        </p:spPr>
        <p:txBody>
          <a:bodyPr anchor="t" rtlCol="false" tIns="0" lIns="0" bIns="0" rIns="0">
            <a:spAutoFit/>
          </a:bodyPr>
          <a:lstStyle/>
          <a:p>
            <a:pPr algn="l" marL="0" indent="0" lvl="0">
              <a:lnSpc>
                <a:spcPts val="3433"/>
              </a:lnSpc>
              <a:spcBef>
                <a:spcPct val="0"/>
              </a:spcBef>
            </a:pPr>
            <a:r>
              <a:rPr lang="en-US" sz="2640" spc="139">
                <a:solidFill>
                  <a:srgbClr val="FFFFFF"/>
                </a:solidFill>
                <a:latin typeface="Questrial"/>
                <a:ea typeface="Questrial"/>
                <a:cs typeface="Questrial"/>
                <a:sym typeface="Questrial"/>
              </a:rPr>
              <a:t>EPICA 3</a:t>
            </a:r>
          </a:p>
        </p:txBody>
      </p:sp>
      <p:sp>
        <p:nvSpPr>
          <p:cNvPr name="TextBox 14" id="14"/>
          <p:cNvSpPr txBox="true"/>
          <p:nvPr/>
        </p:nvSpPr>
        <p:spPr>
          <a:xfrm rot="0">
            <a:off x="1634738" y="7801307"/>
            <a:ext cx="6976933" cy="806019"/>
          </a:xfrm>
          <a:prstGeom prst="rect">
            <a:avLst/>
          </a:prstGeom>
        </p:spPr>
        <p:txBody>
          <a:bodyPr anchor="t" rtlCol="false" tIns="0" lIns="0" bIns="0" rIns="0">
            <a:spAutoFit/>
          </a:bodyPr>
          <a:lstStyle/>
          <a:p>
            <a:pPr algn="l" marL="0" indent="0" lvl="0">
              <a:lnSpc>
                <a:spcPts val="2171"/>
              </a:lnSpc>
            </a:pPr>
            <a:r>
              <a:rPr lang="en-US" sz="1723">
                <a:solidFill>
                  <a:srgbClr val="05061C"/>
                </a:solidFill>
                <a:latin typeface="Questrial"/>
                <a:ea typeface="Questrial"/>
                <a:cs typeface="Questrial"/>
                <a:sym typeface="Questrial"/>
              </a:rPr>
              <a:t>Administrar la información del personal de la empresa, permitiendo registrar sus antecedentes laborales, cargos, tipos de contrato y estado laboral.</a:t>
            </a:r>
          </a:p>
        </p:txBody>
      </p:sp>
      <p:sp>
        <p:nvSpPr>
          <p:cNvPr name="TextBox 15" id="15"/>
          <p:cNvSpPr txBox="true"/>
          <p:nvPr/>
        </p:nvSpPr>
        <p:spPr>
          <a:xfrm rot="0">
            <a:off x="430474" y="152498"/>
            <a:ext cx="185589" cy="465921"/>
          </a:xfrm>
          <a:prstGeom prst="rect">
            <a:avLst/>
          </a:prstGeom>
        </p:spPr>
        <p:txBody>
          <a:bodyPr anchor="t" rtlCol="false" tIns="0" lIns="0" bIns="0" rIns="0">
            <a:spAutoFit/>
          </a:bodyPr>
          <a:lstStyle/>
          <a:p>
            <a:pPr algn="ctr">
              <a:lnSpc>
                <a:spcPts val="3719"/>
              </a:lnSpc>
              <a:spcBef>
                <a:spcPct val="0"/>
              </a:spcBef>
            </a:pPr>
            <a:r>
              <a:rPr lang="en-US" sz="2656">
                <a:solidFill>
                  <a:srgbClr val="000000"/>
                </a:solidFill>
                <a:latin typeface="Questrial"/>
                <a:ea typeface="Questrial"/>
                <a:cs typeface="Questrial"/>
                <a:sym typeface="Questrial"/>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grpSp>
        <p:nvGrpSpPr>
          <p:cNvPr name="Group 2" id="2"/>
          <p:cNvGrpSpPr/>
          <p:nvPr/>
        </p:nvGrpSpPr>
        <p:grpSpPr>
          <a:xfrm rot="0">
            <a:off x="861332" y="686774"/>
            <a:ext cx="16565336" cy="8913453"/>
            <a:chOff x="0" y="0"/>
            <a:chExt cx="4362887" cy="2347576"/>
          </a:xfrm>
        </p:grpSpPr>
        <p:sp>
          <p:nvSpPr>
            <p:cNvPr name="Freeform 3" id="3"/>
            <p:cNvSpPr/>
            <p:nvPr/>
          </p:nvSpPr>
          <p:spPr>
            <a:xfrm flipH="false" flipV="false" rot="0">
              <a:off x="0" y="0"/>
              <a:ext cx="4362887" cy="2347576"/>
            </a:xfrm>
            <a:custGeom>
              <a:avLst/>
              <a:gdLst/>
              <a:ahLst/>
              <a:cxnLst/>
              <a:rect r="r" b="b" t="t" l="l"/>
              <a:pathLst>
                <a:path h="2347576" w="4362887">
                  <a:moveTo>
                    <a:pt x="5141" y="0"/>
                  </a:moveTo>
                  <a:lnTo>
                    <a:pt x="4357746" y="0"/>
                  </a:lnTo>
                  <a:cubicBezTo>
                    <a:pt x="4360585" y="0"/>
                    <a:pt x="4362887" y="2302"/>
                    <a:pt x="4362887" y="5141"/>
                  </a:cubicBezTo>
                  <a:lnTo>
                    <a:pt x="4362887" y="2342435"/>
                  </a:lnTo>
                  <a:cubicBezTo>
                    <a:pt x="4362887" y="2345274"/>
                    <a:pt x="4360585" y="2347576"/>
                    <a:pt x="4357746" y="2347576"/>
                  </a:cubicBezTo>
                  <a:lnTo>
                    <a:pt x="5141" y="2347576"/>
                  </a:lnTo>
                  <a:cubicBezTo>
                    <a:pt x="3777" y="2347576"/>
                    <a:pt x="2470" y="2347034"/>
                    <a:pt x="1506" y="2346070"/>
                  </a:cubicBezTo>
                  <a:cubicBezTo>
                    <a:pt x="542" y="2345106"/>
                    <a:pt x="0" y="2343799"/>
                    <a:pt x="0" y="2342435"/>
                  </a:cubicBezTo>
                  <a:lnTo>
                    <a:pt x="0" y="5141"/>
                  </a:lnTo>
                  <a:cubicBezTo>
                    <a:pt x="0" y="2302"/>
                    <a:pt x="2302" y="0"/>
                    <a:pt x="5141" y="0"/>
                  </a:cubicBezTo>
                  <a:close/>
                </a:path>
              </a:pathLst>
            </a:custGeom>
            <a:solidFill>
              <a:srgbClr val="FFFFFF"/>
            </a:solidFill>
            <a:ln w="66675" cap="sq">
              <a:solidFill>
                <a:srgbClr val="000000"/>
              </a:solidFill>
              <a:prstDash val="solid"/>
              <a:miter/>
            </a:ln>
          </p:spPr>
        </p:sp>
        <p:sp>
          <p:nvSpPr>
            <p:cNvPr name="TextBox 4" id="4"/>
            <p:cNvSpPr txBox="true"/>
            <p:nvPr/>
          </p:nvSpPr>
          <p:spPr>
            <a:xfrm>
              <a:off x="0" y="-85725"/>
              <a:ext cx="4362887" cy="2433301"/>
            </a:xfrm>
            <a:prstGeom prst="rect">
              <a:avLst/>
            </a:prstGeom>
          </p:spPr>
          <p:txBody>
            <a:bodyPr anchor="ctr" rtlCol="false" tIns="50800" lIns="50800" bIns="50800" rIns="50800"/>
            <a:lstStyle/>
            <a:p>
              <a:pPr algn="ctr">
                <a:lnSpc>
                  <a:spcPts val="3174"/>
                </a:lnSpc>
              </a:pPr>
            </a:p>
          </p:txBody>
        </p:sp>
      </p:grpSp>
      <p:sp>
        <p:nvSpPr>
          <p:cNvPr name="Freeform 5" id="5"/>
          <p:cNvSpPr/>
          <p:nvPr/>
        </p:nvSpPr>
        <p:spPr>
          <a:xfrm flipH="false" flipV="false" rot="0">
            <a:off x="10454515" y="3342013"/>
            <a:ext cx="1162278" cy="1162278"/>
          </a:xfrm>
          <a:custGeom>
            <a:avLst/>
            <a:gdLst/>
            <a:ahLst/>
            <a:cxnLst/>
            <a:rect r="r" b="b" t="t" l="l"/>
            <a:pathLst>
              <a:path h="1162278" w="1162278">
                <a:moveTo>
                  <a:pt x="0" y="0"/>
                </a:moveTo>
                <a:lnTo>
                  <a:pt x="1162278" y="0"/>
                </a:lnTo>
                <a:lnTo>
                  <a:pt x="1162278" y="1162279"/>
                </a:lnTo>
                <a:lnTo>
                  <a:pt x="0" y="1162279"/>
                </a:lnTo>
                <a:lnTo>
                  <a:pt x="0" y="0"/>
                </a:lnTo>
                <a:close/>
              </a:path>
            </a:pathLst>
          </a:custGeom>
          <a:blipFill>
            <a:blip r:embed="rId2"/>
            <a:stretch>
              <a:fillRect l="0" t="0" r="0" b="0"/>
            </a:stretch>
          </a:blipFill>
        </p:spPr>
      </p:sp>
      <p:sp>
        <p:nvSpPr>
          <p:cNvPr name="Freeform 6" id="6"/>
          <p:cNvSpPr/>
          <p:nvPr/>
        </p:nvSpPr>
        <p:spPr>
          <a:xfrm flipH="false" flipV="false" rot="0">
            <a:off x="5981842" y="3394289"/>
            <a:ext cx="1109055" cy="1110002"/>
          </a:xfrm>
          <a:custGeom>
            <a:avLst/>
            <a:gdLst/>
            <a:ahLst/>
            <a:cxnLst/>
            <a:rect r="r" b="b" t="t" l="l"/>
            <a:pathLst>
              <a:path h="1110002" w="1109055">
                <a:moveTo>
                  <a:pt x="0" y="0"/>
                </a:moveTo>
                <a:lnTo>
                  <a:pt x="1109054" y="0"/>
                </a:lnTo>
                <a:lnTo>
                  <a:pt x="1109054" y="1110003"/>
                </a:lnTo>
                <a:lnTo>
                  <a:pt x="0" y="1110003"/>
                </a:lnTo>
                <a:lnTo>
                  <a:pt x="0" y="0"/>
                </a:lnTo>
                <a:close/>
              </a:path>
            </a:pathLst>
          </a:custGeom>
          <a:blipFill>
            <a:blip r:embed="rId3"/>
            <a:stretch>
              <a:fillRect l="0" t="0" r="-203" b="-7819"/>
            </a:stretch>
          </a:blipFill>
        </p:spPr>
      </p:sp>
      <p:sp>
        <p:nvSpPr>
          <p:cNvPr name="TextBox 7" id="7"/>
          <p:cNvSpPr txBox="true"/>
          <p:nvPr/>
        </p:nvSpPr>
        <p:spPr>
          <a:xfrm rot="0">
            <a:off x="662909" y="1748086"/>
            <a:ext cx="16962182" cy="1187602"/>
          </a:xfrm>
          <a:prstGeom prst="rect">
            <a:avLst/>
          </a:prstGeom>
        </p:spPr>
        <p:txBody>
          <a:bodyPr anchor="t" rtlCol="false" tIns="0" lIns="0" bIns="0" rIns="0">
            <a:spAutoFit/>
          </a:bodyPr>
          <a:lstStyle/>
          <a:p>
            <a:pPr algn="ctr">
              <a:lnSpc>
                <a:spcPts val="8140"/>
              </a:lnSpc>
            </a:pPr>
            <a:r>
              <a:rPr lang="en-US" sz="7079">
                <a:solidFill>
                  <a:srgbClr val="000000"/>
                </a:solidFill>
                <a:latin typeface="Bungee"/>
                <a:ea typeface="Bungee"/>
                <a:cs typeface="Bungee"/>
                <a:sym typeface="Bungee"/>
              </a:rPr>
              <a:t>HISTORIAS DE USUARIO</a:t>
            </a:r>
          </a:p>
        </p:txBody>
      </p:sp>
      <p:sp>
        <p:nvSpPr>
          <p:cNvPr name="TextBox 8" id="8"/>
          <p:cNvSpPr txBox="true"/>
          <p:nvPr/>
        </p:nvSpPr>
        <p:spPr>
          <a:xfrm rot="0">
            <a:off x="11987394" y="3725858"/>
            <a:ext cx="4038058" cy="630555"/>
          </a:xfrm>
          <a:prstGeom prst="rect">
            <a:avLst/>
          </a:prstGeom>
        </p:spPr>
        <p:txBody>
          <a:bodyPr anchor="t" rtlCol="false" tIns="0" lIns="0" bIns="0" rIns="0">
            <a:spAutoFit/>
          </a:bodyPr>
          <a:lstStyle/>
          <a:p>
            <a:pPr algn="l">
              <a:lnSpc>
                <a:spcPts val="4620"/>
              </a:lnSpc>
              <a:spcBef>
                <a:spcPct val="0"/>
              </a:spcBef>
            </a:pPr>
            <a:r>
              <a:rPr lang="en-US" sz="3300" u="sng">
                <a:solidFill>
                  <a:srgbClr val="000000"/>
                </a:solidFill>
                <a:latin typeface="Bungee"/>
                <a:ea typeface="Bungee"/>
                <a:cs typeface="Bungee"/>
                <a:sym typeface="Bungee"/>
              </a:rPr>
              <a:t>USUARIO</a:t>
            </a:r>
          </a:p>
        </p:txBody>
      </p:sp>
      <p:sp>
        <p:nvSpPr>
          <p:cNvPr name="TextBox 9" id="9"/>
          <p:cNvSpPr txBox="true"/>
          <p:nvPr/>
        </p:nvSpPr>
        <p:spPr>
          <a:xfrm rot="0">
            <a:off x="1916545" y="3725858"/>
            <a:ext cx="4959779" cy="630555"/>
          </a:xfrm>
          <a:prstGeom prst="rect">
            <a:avLst/>
          </a:prstGeom>
        </p:spPr>
        <p:txBody>
          <a:bodyPr anchor="t" rtlCol="false" tIns="0" lIns="0" bIns="0" rIns="0">
            <a:spAutoFit/>
          </a:bodyPr>
          <a:lstStyle/>
          <a:p>
            <a:pPr algn="l">
              <a:lnSpc>
                <a:spcPts val="4620"/>
              </a:lnSpc>
              <a:spcBef>
                <a:spcPct val="0"/>
              </a:spcBef>
            </a:pPr>
            <a:r>
              <a:rPr lang="en-US" sz="3300" u="sng">
                <a:solidFill>
                  <a:srgbClr val="000000"/>
                </a:solidFill>
                <a:latin typeface="Bungee"/>
                <a:ea typeface="Bungee"/>
                <a:cs typeface="Bungee"/>
                <a:sym typeface="Bungee"/>
              </a:rPr>
              <a:t>ADMINISTRADOR</a:t>
            </a:r>
          </a:p>
        </p:txBody>
      </p:sp>
      <p:sp>
        <p:nvSpPr>
          <p:cNvPr name="TextBox 10" id="10"/>
          <p:cNvSpPr txBox="true"/>
          <p:nvPr/>
        </p:nvSpPr>
        <p:spPr>
          <a:xfrm rot="0">
            <a:off x="1658539" y="4730875"/>
            <a:ext cx="5432357" cy="3773805"/>
          </a:xfrm>
          <a:prstGeom prst="rect">
            <a:avLst/>
          </a:prstGeom>
        </p:spPr>
        <p:txBody>
          <a:bodyPr anchor="t" rtlCol="false" tIns="0" lIns="0" bIns="0" rIns="0">
            <a:spAutoFit/>
          </a:bodyPr>
          <a:lstStyle/>
          <a:p>
            <a:pPr algn="l" marL="388622" indent="-194311" lvl="1">
              <a:lnSpc>
                <a:spcPts val="2520"/>
              </a:lnSpc>
              <a:buFont typeface="Arial"/>
              <a:buChar char="•"/>
            </a:pPr>
            <a:r>
              <a:rPr lang="en-US" sz="1800">
                <a:solidFill>
                  <a:srgbClr val="000000"/>
                </a:solidFill>
                <a:latin typeface="Questrial"/>
                <a:ea typeface="Questrial"/>
                <a:cs typeface="Questrial"/>
                <a:sym typeface="Questrial"/>
              </a:rPr>
              <a:t>Como administrador, quiero registrar los vehículos de la empresa para mantener almacenada y organizada la información de la flota.</a:t>
            </a:r>
          </a:p>
          <a:p>
            <a:pPr algn="l" marL="388622" indent="-194311" lvl="1">
              <a:lnSpc>
                <a:spcPts val="2520"/>
              </a:lnSpc>
              <a:buFont typeface="Arial"/>
              <a:buChar char="•"/>
            </a:pPr>
            <a:r>
              <a:rPr lang="en-US" sz="1800">
                <a:solidFill>
                  <a:srgbClr val="000000"/>
                </a:solidFill>
                <a:latin typeface="Questrial"/>
                <a:ea typeface="Questrial"/>
                <a:cs typeface="Questrial"/>
                <a:sym typeface="Questrial"/>
              </a:rPr>
              <a:t>Como administrador, quiero registrar los empleados de la empresa para mantener organizada y centralizada la información del personal.</a:t>
            </a:r>
          </a:p>
          <a:p>
            <a:pPr algn="l" marL="388622" indent="-194311" lvl="1">
              <a:lnSpc>
                <a:spcPts val="2520"/>
              </a:lnSpc>
              <a:buFont typeface="Arial"/>
              <a:buChar char="•"/>
            </a:pPr>
            <a:r>
              <a:rPr lang="en-US" sz="1800">
                <a:solidFill>
                  <a:srgbClr val="000000"/>
                </a:solidFill>
                <a:latin typeface="Questrial"/>
                <a:ea typeface="Questrial"/>
                <a:cs typeface="Questrial"/>
                <a:sym typeface="Questrial"/>
              </a:rPr>
              <a:t>Como administrador, quiero que la información de vehículos, empleados, reportes y mantenimientos se encuentre centralizada para facilitar su administración y consulta.</a:t>
            </a:r>
          </a:p>
        </p:txBody>
      </p:sp>
      <p:sp>
        <p:nvSpPr>
          <p:cNvPr name="TextBox 11" id="11"/>
          <p:cNvSpPr txBox="true"/>
          <p:nvPr/>
        </p:nvSpPr>
        <p:spPr>
          <a:xfrm rot="0">
            <a:off x="11728588" y="4730875"/>
            <a:ext cx="5352325" cy="2830830"/>
          </a:xfrm>
          <a:prstGeom prst="rect">
            <a:avLst/>
          </a:prstGeom>
        </p:spPr>
        <p:txBody>
          <a:bodyPr anchor="t" rtlCol="false" tIns="0" lIns="0" bIns="0" rIns="0">
            <a:spAutoFit/>
          </a:bodyPr>
          <a:lstStyle/>
          <a:p>
            <a:pPr algn="l" marL="388622" indent="-194311" lvl="1">
              <a:lnSpc>
                <a:spcPts val="2520"/>
              </a:lnSpc>
              <a:buFont typeface="Arial"/>
              <a:buChar char="•"/>
            </a:pPr>
            <a:r>
              <a:rPr lang="en-US" sz="1800">
                <a:solidFill>
                  <a:srgbClr val="000000"/>
                </a:solidFill>
                <a:latin typeface="Questrial"/>
                <a:ea typeface="Questrial"/>
                <a:cs typeface="Questrial"/>
                <a:sym typeface="Questrial"/>
              </a:rPr>
              <a:t>Como usuario, quiero visualizar los vehículos registrados para consultar rápidamente sus características y estado.</a:t>
            </a:r>
          </a:p>
          <a:p>
            <a:pPr algn="l" marL="388622" indent="-194311" lvl="1">
              <a:lnSpc>
                <a:spcPts val="2520"/>
              </a:lnSpc>
              <a:buFont typeface="Arial"/>
              <a:buChar char="•"/>
            </a:pPr>
            <a:r>
              <a:rPr lang="en-US" sz="1800">
                <a:solidFill>
                  <a:srgbClr val="000000"/>
                </a:solidFill>
                <a:latin typeface="Questrial"/>
                <a:ea typeface="Questrial"/>
                <a:cs typeface="Questrial"/>
                <a:sym typeface="Questrial"/>
              </a:rPr>
              <a:t>Como usuario, quiero generar reportes asociados a un vehículo para registrar fallas, problemas o situaciones relevantes.</a:t>
            </a:r>
          </a:p>
          <a:p>
            <a:pPr algn="l" marL="388622" indent="-194311" lvl="1">
              <a:lnSpc>
                <a:spcPts val="2520"/>
              </a:lnSpc>
              <a:buFont typeface="Arial"/>
              <a:buChar char="•"/>
            </a:pPr>
            <a:r>
              <a:rPr lang="en-US" sz="1800">
                <a:solidFill>
                  <a:srgbClr val="000000"/>
                </a:solidFill>
                <a:latin typeface="Questrial"/>
                <a:ea typeface="Questrial"/>
                <a:cs typeface="Questrial"/>
                <a:sym typeface="Questrial"/>
              </a:rPr>
              <a:t>Como usuario, quiero que la información registrada permanezca almacenada en la base de datos para poder consultarla posteriormente.</a:t>
            </a:r>
          </a:p>
        </p:txBody>
      </p:sp>
      <p:sp>
        <p:nvSpPr>
          <p:cNvPr name="TextBox 12" id="12"/>
          <p:cNvSpPr txBox="true"/>
          <p:nvPr/>
        </p:nvSpPr>
        <p:spPr>
          <a:xfrm rot="0">
            <a:off x="430474" y="152498"/>
            <a:ext cx="185589" cy="465921"/>
          </a:xfrm>
          <a:prstGeom prst="rect">
            <a:avLst/>
          </a:prstGeom>
        </p:spPr>
        <p:txBody>
          <a:bodyPr anchor="t" rtlCol="false" tIns="0" lIns="0" bIns="0" rIns="0">
            <a:spAutoFit/>
          </a:bodyPr>
          <a:lstStyle/>
          <a:p>
            <a:pPr algn="ctr">
              <a:lnSpc>
                <a:spcPts val="3719"/>
              </a:lnSpc>
              <a:spcBef>
                <a:spcPct val="0"/>
              </a:spcBef>
            </a:pPr>
            <a:r>
              <a:rPr lang="en-US" sz="2656">
                <a:solidFill>
                  <a:srgbClr val="000000"/>
                </a:solidFill>
                <a:latin typeface="Questrial"/>
                <a:ea typeface="Questrial"/>
                <a:cs typeface="Questrial"/>
                <a:sym typeface="Questrial"/>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grpSp>
        <p:nvGrpSpPr>
          <p:cNvPr name="Group 2" id="2"/>
          <p:cNvGrpSpPr/>
          <p:nvPr/>
        </p:nvGrpSpPr>
        <p:grpSpPr>
          <a:xfrm rot="0">
            <a:off x="861332" y="686774"/>
            <a:ext cx="16565336" cy="8913453"/>
            <a:chOff x="0" y="0"/>
            <a:chExt cx="4362887" cy="2347576"/>
          </a:xfrm>
        </p:grpSpPr>
        <p:sp>
          <p:nvSpPr>
            <p:cNvPr name="Freeform 3" id="3"/>
            <p:cNvSpPr/>
            <p:nvPr/>
          </p:nvSpPr>
          <p:spPr>
            <a:xfrm flipH="false" flipV="false" rot="0">
              <a:off x="0" y="0"/>
              <a:ext cx="4362887" cy="2347576"/>
            </a:xfrm>
            <a:custGeom>
              <a:avLst/>
              <a:gdLst/>
              <a:ahLst/>
              <a:cxnLst/>
              <a:rect r="r" b="b" t="t" l="l"/>
              <a:pathLst>
                <a:path h="2347576" w="4362887">
                  <a:moveTo>
                    <a:pt x="5141" y="0"/>
                  </a:moveTo>
                  <a:lnTo>
                    <a:pt x="4357746" y="0"/>
                  </a:lnTo>
                  <a:cubicBezTo>
                    <a:pt x="4360585" y="0"/>
                    <a:pt x="4362887" y="2302"/>
                    <a:pt x="4362887" y="5141"/>
                  </a:cubicBezTo>
                  <a:lnTo>
                    <a:pt x="4362887" y="2342435"/>
                  </a:lnTo>
                  <a:cubicBezTo>
                    <a:pt x="4362887" y="2345274"/>
                    <a:pt x="4360585" y="2347576"/>
                    <a:pt x="4357746" y="2347576"/>
                  </a:cubicBezTo>
                  <a:lnTo>
                    <a:pt x="5141" y="2347576"/>
                  </a:lnTo>
                  <a:cubicBezTo>
                    <a:pt x="3777" y="2347576"/>
                    <a:pt x="2470" y="2347034"/>
                    <a:pt x="1506" y="2346070"/>
                  </a:cubicBezTo>
                  <a:cubicBezTo>
                    <a:pt x="542" y="2345106"/>
                    <a:pt x="0" y="2343799"/>
                    <a:pt x="0" y="2342435"/>
                  </a:cubicBezTo>
                  <a:lnTo>
                    <a:pt x="0" y="5141"/>
                  </a:lnTo>
                  <a:cubicBezTo>
                    <a:pt x="0" y="2302"/>
                    <a:pt x="2302" y="0"/>
                    <a:pt x="5141" y="0"/>
                  </a:cubicBezTo>
                  <a:close/>
                </a:path>
              </a:pathLst>
            </a:custGeom>
            <a:solidFill>
              <a:srgbClr val="FFFFFF"/>
            </a:solidFill>
            <a:ln w="66675" cap="sq">
              <a:solidFill>
                <a:srgbClr val="000000"/>
              </a:solidFill>
              <a:prstDash val="solid"/>
              <a:miter/>
            </a:ln>
          </p:spPr>
        </p:sp>
        <p:sp>
          <p:nvSpPr>
            <p:cNvPr name="TextBox 4" id="4"/>
            <p:cNvSpPr txBox="true"/>
            <p:nvPr/>
          </p:nvSpPr>
          <p:spPr>
            <a:xfrm>
              <a:off x="0" y="-85725"/>
              <a:ext cx="4362887" cy="2433301"/>
            </a:xfrm>
            <a:prstGeom prst="rect">
              <a:avLst/>
            </a:prstGeom>
          </p:spPr>
          <p:txBody>
            <a:bodyPr anchor="ctr" rtlCol="false" tIns="50800" lIns="50800" bIns="50800" rIns="50800"/>
            <a:lstStyle/>
            <a:p>
              <a:pPr algn="ctr">
                <a:lnSpc>
                  <a:spcPts val="3174"/>
                </a:lnSpc>
              </a:pPr>
            </a:p>
          </p:txBody>
        </p:sp>
      </p:grpSp>
      <p:sp>
        <p:nvSpPr>
          <p:cNvPr name="Freeform 5" id="5"/>
          <p:cNvSpPr/>
          <p:nvPr/>
        </p:nvSpPr>
        <p:spPr>
          <a:xfrm flipH="false" flipV="false" rot="0">
            <a:off x="15904238" y="219173"/>
            <a:ext cx="720479" cy="1619054"/>
          </a:xfrm>
          <a:custGeom>
            <a:avLst/>
            <a:gdLst/>
            <a:ahLst/>
            <a:cxnLst/>
            <a:rect r="r" b="b" t="t" l="l"/>
            <a:pathLst>
              <a:path h="1619054" w="720479">
                <a:moveTo>
                  <a:pt x="0" y="0"/>
                </a:moveTo>
                <a:lnTo>
                  <a:pt x="720479" y="0"/>
                </a:lnTo>
                <a:lnTo>
                  <a:pt x="720479" y="1619054"/>
                </a:lnTo>
                <a:lnTo>
                  <a:pt x="0" y="16190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4210867" y="1838227"/>
            <a:ext cx="9571754" cy="7687315"/>
          </a:xfrm>
          <a:custGeom>
            <a:avLst/>
            <a:gdLst/>
            <a:ahLst/>
            <a:cxnLst/>
            <a:rect r="r" b="b" t="t" l="l"/>
            <a:pathLst>
              <a:path h="7687315" w="9571754">
                <a:moveTo>
                  <a:pt x="0" y="0"/>
                </a:moveTo>
                <a:lnTo>
                  <a:pt x="9571754" y="0"/>
                </a:lnTo>
                <a:lnTo>
                  <a:pt x="9571754" y="7687315"/>
                </a:lnTo>
                <a:lnTo>
                  <a:pt x="0" y="7687315"/>
                </a:lnTo>
                <a:lnTo>
                  <a:pt x="0" y="0"/>
                </a:lnTo>
                <a:close/>
              </a:path>
            </a:pathLst>
          </a:custGeom>
          <a:blipFill>
            <a:blip r:embed="rId4"/>
            <a:stretch>
              <a:fillRect l="0" t="0" r="0" b="0"/>
            </a:stretch>
          </a:blipFill>
        </p:spPr>
      </p:sp>
      <p:sp>
        <p:nvSpPr>
          <p:cNvPr name="TextBox 7" id="7"/>
          <p:cNvSpPr txBox="true"/>
          <p:nvPr/>
        </p:nvSpPr>
        <p:spPr>
          <a:xfrm rot="0">
            <a:off x="1759270" y="933450"/>
            <a:ext cx="7384730" cy="994322"/>
          </a:xfrm>
          <a:prstGeom prst="rect">
            <a:avLst/>
          </a:prstGeom>
        </p:spPr>
        <p:txBody>
          <a:bodyPr anchor="t" rtlCol="false" tIns="0" lIns="0" bIns="0" rIns="0">
            <a:spAutoFit/>
          </a:bodyPr>
          <a:lstStyle/>
          <a:p>
            <a:pPr algn="ctr">
              <a:lnSpc>
                <a:spcPts val="6819"/>
              </a:lnSpc>
            </a:pPr>
            <a:r>
              <a:rPr lang="en-US" sz="5929">
                <a:solidFill>
                  <a:srgbClr val="000000"/>
                </a:solidFill>
                <a:latin typeface="Bungee"/>
                <a:ea typeface="Bungee"/>
                <a:cs typeface="Bungee"/>
                <a:sym typeface="Bungee"/>
              </a:rPr>
              <a:t>ARQUITECTURA</a:t>
            </a:r>
          </a:p>
        </p:txBody>
      </p:sp>
      <p:sp>
        <p:nvSpPr>
          <p:cNvPr name="TextBox 8" id="8"/>
          <p:cNvSpPr txBox="true"/>
          <p:nvPr/>
        </p:nvSpPr>
        <p:spPr>
          <a:xfrm rot="0">
            <a:off x="337679" y="152498"/>
            <a:ext cx="371177" cy="465921"/>
          </a:xfrm>
          <a:prstGeom prst="rect">
            <a:avLst/>
          </a:prstGeom>
        </p:spPr>
        <p:txBody>
          <a:bodyPr anchor="t" rtlCol="false" tIns="0" lIns="0" bIns="0" rIns="0">
            <a:spAutoFit/>
          </a:bodyPr>
          <a:lstStyle/>
          <a:p>
            <a:pPr algn="ctr">
              <a:lnSpc>
                <a:spcPts val="3719"/>
              </a:lnSpc>
              <a:spcBef>
                <a:spcPct val="0"/>
              </a:spcBef>
            </a:pPr>
            <a:r>
              <a:rPr lang="en-US" sz="2656">
                <a:solidFill>
                  <a:srgbClr val="000000"/>
                </a:solidFill>
                <a:latin typeface="Questrial"/>
                <a:ea typeface="Questrial"/>
                <a:cs typeface="Questrial"/>
                <a:sym typeface="Questrial"/>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grpSp>
        <p:nvGrpSpPr>
          <p:cNvPr name="Group 2" id="2"/>
          <p:cNvGrpSpPr/>
          <p:nvPr/>
        </p:nvGrpSpPr>
        <p:grpSpPr>
          <a:xfrm rot="0">
            <a:off x="861332" y="686774"/>
            <a:ext cx="16565336" cy="8913453"/>
            <a:chOff x="0" y="0"/>
            <a:chExt cx="4362887" cy="2347576"/>
          </a:xfrm>
        </p:grpSpPr>
        <p:sp>
          <p:nvSpPr>
            <p:cNvPr name="Freeform 3" id="3"/>
            <p:cNvSpPr/>
            <p:nvPr/>
          </p:nvSpPr>
          <p:spPr>
            <a:xfrm flipH="false" flipV="false" rot="0">
              <a:off x="0" y="0"/>
              <a:ext cx="4362887" cy="2347576"/>
            </a:xfrm>
            <a:custGeom>
              <a:avLst/>
              <a:gdLst/>
              <a:ahLst/>
              <a:cxnLst/>
              <a:rect r="r" b="b" t="t" l="l"/>
              <a:pathLst>
                <a:path h="2347576" w="4362887">
                  <a:moveTo>
                    <a:pt x="5141" y="0"/>
                  </a:moveTo>
                  <a:lnTo>
                    <a:pt x="4357746" y="0"/>
                  </a:lnTo>
                  <a:cubicBezTo>
                    <a:pt x="4360585" y="0"/>
                    <a:pt x="4362887" y="2302"/>
                    <a:pt x="4362887" y="5141"/>
                  </a:cubicBezTo>
                  <a:lnTo>
                    <a:pt x="4362887" y="2342435"/>
                  </a:lnTo>
                  <a:cubicBezTo>
                    <a:pt x="4362887" y="2345274"/>
                    <a:pt x="4360585" y="2347576"/>
                    <a:pt x="4357746" y="2347576"/>
                  </a:cubicBezTo>
                  <a:lnTo>
                    <a:pt x="5141" y="2347576"/>
                  </a:lnTo>
                  <a:cubicBezTo>
                    <a:pt x="3777" y="2347576"/>
                    <a:pt x="2470" y="2347034"/>
                    <a:pt x="1506" y="2346070"/>
                  </a:cubicBezTo>
                  <a:cubicBezTo>
                    <a:pt x="542" y="2345106"/>
                    <a:pt x="0" y="2343799"/>
                    <a:pt x="0" y="2342435"/>
                  </a:cubicBezTo>
                  <a:lnTo>
                    <a:pt x="0" y="5141"/>
                  </a:lnTo>
                  <a:cubicBezTo>
                    <a:pt x="0" y="2302"/>
                    <a:pt x="2302" y="0"/>
                    <a:pt x="5141" y="0"/>
                  </a:cubicBezTo>
                  <a:close/>
                </a:path>
              </a:pathLst>
            </a:custGeom>
            <a:solidFill>
              <a:srgbClr val="FFFFFF"/>
            </a:solidFill>
            <a:ln w="66675" cap="sq">
              <a:solidFill>
                <a:srgbClr val="000000"/>
              </a:solidFill>
              <a:prstDash val="solid"/>
              <a:miter/>
            </a:ln>
          </p:spPr>
        </p:sp>
        <p:sp>
          <p:nvSpPr>
            <p:cNvPr name="TextBox 4" id="4"/>
            <p:cNvSpPr txBox="true"/>
            <p:nvPr/>
          </p:nvSpPr>
          <p:spPr>
            <a:xfrm>
              <a:off x="0" y="-85725"/>
              <a:ext cx="4362887" cy="2433301"/>
            </a:xfrm>
            <a:prstGeom prst="rect">
              <a:avLst/>
            </a:prstGeom>
          </p:spPr>
          <p:txBody>
            <a:bodyPr anchor="ctr" rtlCol="false" tIns="50800" lIns="50800" bIns="50800" rIns="50800"/>
            <a:lstStyle/>
            <a:p>
              <a:pPr algn="ctr">
                <a:lnSpc>
                  <a:spcPts val="3174"/>
                </a:lnSpc>
              </a:pPr>
            </a:p>
          </p:txBody>
        </p:sp>
      </p:grpSp>
      <p:sp>
        <p:nvSpPr>
          <p:cNvPr name="TextBox 5" id="5"/>
          <p:cNvSpPr txBox="true"/>
          <p:nvPr/>
        </p:nvSpPr>
        <p:spPr>
          <a:xfrm rot="0">
            <a:off x="2360499" y="1194649"/>
            <a:ext cx="13015912" cy="1364292"/>
          </a:xfrm>
          <a:prstGeom prst="rect">
            <a:avLst/>
          </a:prstGeom>
        </p:spPr>
        <p:txBody>
          <a:bodyPr anchor="t" rtlCol="false" tIns="0" lIns="0" bIns="0" rIns="0">
            <a:spAutoFit/>
          </a:bodyPr>
          <a:lstStyle/>
          <a:p>
            <a:pPr algn="ctr" marL="0" indent="0" lvl="0">
              <a:lnSpc>
                <a:spcPts val="9829"/>
              </a:lnSpc>
            </a:pPr>
            <a:r>
              <a:rPr lang="en-US" sz="7503">
                <a:solidFill>
                  <a:srgbClr val="000000"/>
                </a:solidFill>
                <a:latin typeface="Bungee"/>
                <a:ea typeface="Bungee"/>
                <a:cs typeface="Bungee"/>
                <a:sym typeface="Bungee"/>
              </a:rPr>
              <a:t>Metodologia</a:t>
            </a:r>
          </a:p>
        </p:txBody>
      </p:sp>
      <p:sp>
        <p:nvSpPr>
          <p:cNvPr name="Freeform 6" id="6"/>
          <p:cNvSpPr/>
          <p:nvPr/>
        </p:nvSpPr>
        <p:spPr>
          <a:xfrm flipH="false" flipV="false" rot="0">
            <a:off x="2168486" y="219173"/>
            <a:ext cx="720479" cy="1619054"/>
          </a:xfrm>
          <a:custGeom>
            <a:avLst/>
            <a:gdLst/>
            <a:ahLst/>
            <a:cxnLst/>
            <a:rect r="r" b="b" t="t" l="l"/>
            <a:pathLst>
              <a:path h="1619054" w="720479">
                <a:moveTo>
                  <a:pt x="0" y="0"/>
                </a:moveTo>
                <a:lnTo>
                  <a:pt x="720479" y="0"/>
                </a:lnTo>
                <a:lnTo>
                  <a:pt x="720479" y="1619054"/>
                </a:lnTo>
                <a:lnTo>
                  <a:pt x="0" y="16190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7230252">
            <a:off x="14483092" y="1809317"/>
            <a:ext cx="1183605" cy="2188484"/>
          </a:xfrm>
          <a:custGeom>
            <a:avLst/>
            <a:gdLst/>
            <a:ahLst/>
            <a:cxnLst/>
            <a:rect r="r" b="b" t="t" l="l"/>
            <a:pathLst>
              <a:path h="2188484" w="1183605">
                <a:moveTo>
                  <a:pt x="0" y="0"/>
                </a:moveTo>
                <a:lnTo>
                  <a:pt x="1183605" y="0"/>
                </a:lnTo>
                <a:lnTo>
                  <a:pt x="1183605" y="2188484"/>
                </a:lnTo>
                <a:lnTo>
                  <a:pt x="0" y="21884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420237" y="2903559"/>
            <a:ext cx="6434380" cy="6219901"/>
          </a:xfrm>
          <a:custGeom>
            <a:avLst/>
            <a:gdLst/>
            <a:ahLst/>
            <a:cxnLst/>
            <a:rect r="r" b="b" t="t" l="l"/>
            <a:pathLst>
              <a:path h="6219901" w="6434380">
                <a:moveTo>
                  <a:pt x="0" y="0"/>
                </a:moveTo>
                <a:lnTo>
                  <a:pt x="6434381" y="0"/>
                </a:lnTo>
                <a:lnTo>
                  <a:pt x="6434381" y="6219901"/>
                </a:lnTo>
                <a:lnTo>
                  <a:pt x="0" y="6219901"/>
                </a:lnTo>
                <a:lnTo>
                  <a:pt x="0" y="0"/>
                </a:lnTo>
                <a:close/>
              </a:path>
            </a:pathLst>
          </a:custGeom>
          <a:blipFill>
            <a:blip r:embed="rId6"/>
            <a:stretch>
              <a:fillRect l="0" t="0" r="0" b="0"/>
            </a:stretch>
          </a:blipFill>
        </p:spPr>
      </p:sp>
      <p:sp>
        <p:nvSpPr>
          <p:cNvPr name="TextBox 9" id="9"/>
          <p:cNvSpPr txBox="true"/>
          <p:nvPr/>
        </p:nvSpPr>
        <p:spPr>
          <a:xfrm rot="0">
            <a:off x="1599514" y="3921265"/>
            <a:ext cx="6442983" cy="1647659"/>
          </a:xfrm>
          <a:prstGeom prst="rect">
            <a:avLst/>
          </a:prstGeom>
        </p:spPr>
        <p:txBody>
          <a:bodyPr anchor="t" rtlCol="false" tIns="0" lIns="0" bIns="0" rIns="0">
            <a:spAutoFit/>
          </a:bodyPr>
          <a:lstStyle/>
          <a:p>
            <a:pPr algn="l">
              <a:lnSpc>
                <a:spcPts val="3335"/>
              </a:lnSpc>
            </a:pPr>
            <a:r>
              <a:rPr lang="en-US" sz="2382">
                <a:solidFill>
                  <a:srgbClr val="000000"/>
                </a:solidFill>
                <a:latin typeface="Questrial"/>
                <a:ea typeface="Questrial"/>
                <a:cs typeface="Questrial"/>
                <a:sym typeface="Questrial"/>
              </a:rPr>
              <a:t>Se eligió la metodología Scrum debido a que permite desarrollar el proyecto de manera incremental, dividiendo el trabajo en pequeños ciclos de desarrollo denominados Sprints.</a:t>
            </a:r>
          </a:p>
        </p:txBody>
      </p:sp>
      <p:sp>
        <p:nvSpPr>
          <p:cNvPr name="TextBox 10" id="10"/>
          <p:cNvSpPr txBox="true"/>
          <p:nvPr/>
        </p:nvSpPr>
        <p:spPr>
          <a:xfrm rot="0">
            <a:off x="1599514" y="5774547"/>
            <a:ext cx="6442983" cy="2893071"/>
          </a:xfrm>
          <a:prstGeom prst="rect">
            <a:avLst/>
          </a:prstGeom>
        </p:spPr>
        <p:txBody>
          <a:bodyPr anchor="t" rtlCol="false" tIns="0" lIns="0" bIns="0" rIns="0">
            <a:spAutoFit/>
          </a:bodyPr>
          <a:lstStyle/>
          <a:p>
            <a:pPr algn="l">
              <a:lnSpc>
                <a:spcPts val="3335"/>
              </a:lnSpc>
            </a:pPr>
            <a:r>
              <a:rPr lang="en-US" sz="2382">
                <a:solidFill>
                  <a:srgbClr val="000000"/>
                </a:solidFill>
                <a:latin typeface="Questrial"/>
                <a:ea typeface="Questrial"/>
                <a:cs typeface="Questrial"/>
                <a:sym typeface="Questrial"/>
              </a:rPr>
              <a:t>Esta metodología facilita la incorporación de nuevas funcionalidades, la detección y corrección de errores y la adaptación a cambios en los requerimientos. Además, permite realizar un seguimiento constante del avance del proyecto y obtener resultados funcionales de manera progresiva.</a:t>
            </a:r>
          </a:p>
        </p:txBody>
      </p:sp>
      <p:sp>
        <p:nvSpPr>
          <p:cNvPr name="TextBox 11" id="11"/>
          <p:cNvSpPr txBox="true"/>
          <p:nvPr/>
        </p:nvSpPr>
        <p:spPr>
          <a:xfrm rot="0">
            <a:off x="337679" y="152498"/>
            <a:ext cx="371177" cy="465921"/>
          </a:xfrm>
          <a:prstGeom prst="rect">
            <a:avLst/>
          </a:prstGeom>
        </p:spPr>
        <p:txBody>
          <a:bodyPr anchor="t" rtlCol="false" tIns="0" lIns="0" bIns="0" rIns="0">
            <a:spAutoFit/>
          </a:bodyPr>
          <a:lstStyle/>
          <a:p>
            <a:pPr algn="ctr">
              <a:lnSpc>
                <a:spcPts val="3719"/>
              </a:lnSpc>
              <a:spcBef>
                <a:spcPct val="0"/>
              </a:spcBef>
            </a:pPr>
            <a:r>
              <a:rPr lang="en-US" sz="2656">
                <a:solidFill>
                  <a:srgbClr val="000000"/>
                </a:solidFill>
                <a:latin typeface="Questrial"/>
                <a:ea typeface="Questrial"/>
                <a:cs typeface="Questrial"/>
                <a:sym typeface="Questrial"/>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grpSp>
        <p:nvGrpSpPr>
          <p:cNvPr name="Group 2" id="2"/>
          <p:cNvGrpSpPr/>
          <p:nvPr/>
        </p:nvGrpSpPr>
        <p:grpSpPr>
          <a:xfrm rot="0">
            <a:off x="861332" y="686774"/>
            <a:ext cx="16565336" cy="8913453"/>
            <a:chOff x="0" y="0"/>
            <a:chExt cx="4362887" cy="2347576"/>
          </a:xfrm>
        </p:grpSpPr>
        <p:sp>
          <p:nvSpPr>
            <p:cNvPr name="Freeform 3" id="3"/>
            <p:cNvSpPr/>
            <p:nvPr/>
          </p:nvSpPr>
          <p:spPr>
            <a:xfrm flipH="false" flipV="false" rot="0">
              <a:off x="0" y="0"/>
              <a:ext cx="4362887" cy="2347576"/>
            </a:xfrm>
            <a:custGeom>
              <a:avLst/>
              <a:gdLst/>
              <a:ahLst/>
              <a:cxnLst/>
              <a:rect r="r" b="b" t="t" l="l"/>
              <a:pathLst>
                <a:path h="2347576" w="4362887">
                  <a:moveTo>
                    <a:pt x="5141" y="0"/>
                  </a:moveTo>
                  <a:lnTo>
                    <a:pt x="4357746" y="0"/>
                  </a:lnTo>
                  <a:cubicBezTo>
                    <a:pt x="4360585" y="0"/>
                    <a:pt x="4362887" y="2302"/>
                    <a:pt x="4362887" y="5141"/>
                  </a:cubicBezTo>
                  <a:lnTo>
                    <a:pt x="4362887" y="2342435"/>
                  </a:lnTo>
                  <a:cubicBezTo>
                    <a:pt x="4362887" y="2345274"/>
                    <a:pt x="4360585" y="2347576"/>
                    <a:pt x="4357746" y="2347576"/>
                  </a:cubicBezTo>
                  <a:lnTo>
                    <a:pt x="5141" y="2347576"/>
                  </a:lnTo>
                  <a:cubicBezTo>
                    <a:pt x="3777" y="2347576"/>
                    <a:pt x="2470" y="2347034"/>
                    <a:pt x="1506" y="2346070"/>
                  </a:cubicBezTo>
                  <a:cubicBezTo>
                    <a:pt x="542" y="2345106"/>
                    <a:pt x="0" y="2343799"/>
                    <a:pt x="0" y="2342435"/>
                  </a:cubicBezTo>
                  <a:lnTo>
                    <a:pt x="0" y="5141"/>
                  </a:lnTo>
                  <a:cubicBezTo>
                    <a:pt x="0" y="2302"/>
                    <a:pt x="2302" y="0"/>
                    <a:pt x="5141" y="0"/>
                  </a:cubicBezTo>
                  <a:close/>
                </a:path>
              </a:pathLst>
            </a:custGeom>
            <a:solidFill>
              <a:srgbClr val="FFFFFF"/>
            </a:solidFill>
            <a:ln w="66675" cap="sq">
              <a:solidFill>
                <a:srgbClr val="000000"/>
              </a:solidFill>
              <a:prstDash val="solid"/>
              <a:miter/>
            </a:ln>
          </p:spPr>
        </p:sp>
        <p:sp>
          <p:nvSpPr>
            <p:cNvPr name="TextBox 4" id="4"/>
            <p:cNvSpPr txBox="true"/>
            <p:nvPr/>
          </p:nvSpPr>
          <p:spPr>
            <a:xfrm>
              <a:off x="0" y="-85725"/>
              <a:ext cx="4362887" cy="2433301"/>
            </a:xfrm>
            <a:prstGeom prst="rect">
              <a:avLst/>
            </a:prstGeom>
          </p:spPr>
          <p:txBody>
            <a:bodyPr anchor="ctr" rtlCol="false" tIns="50800" lIns="50800" bIns="50800" rIns="50800"/>
            <a:lstStyle/>
            <a:p>
              <a:pPr algn="ctr">
                <a:lnSpc>
                  <a:spcPts val="3174"/>
                </a:lnSpc>
              </a:pPr>
            </a:p>
          </p:txBody>
        </p:sp>
      </p:grpSp>
      <p:grpSp>
        <p:nvGrpSpPr>
          <p:cNvPr name="Group 5" id="5"/>
          <p:cNvGrpSpPr/>
          <p:nvPr/>
        </p:nvGrpSpPr>
        <p:grpSpPr>
          <a:xfrm rot="0">
            <a:off x="5026649" y="5881885"/>
            <a:ext cx="3741250" cy="1347880"/>
            <a:chOff x="0" y="0"/>
            <a:chExt cx="2256052" cy="812800"/>
          </a:xfrm>
        </p:grpSpPr>
        <p:sp>
          <p:nvSpPr>
            <p:cNvPr name="Freeform 6" id="6"/>
            <p:cNvSpPr/>
            <p:nvPr/>
          </p:nvSpPr>
          <p:spPr>
            <a:xfrm flipH="false" flipV="false" rot="0">
              <a:off x="0" y="0"/>
              <a:ext cx="2256052" cy="812800"/>
            </a:xfrm>
            <a:custGeom>
              <a:avLst/>
              <a:gdLst/>
              <a:ahLst/>
              <a:cxnLst/>
              <a:rect r="r" b="b" t="t" l="l"/>
              <a:pathLst>
                <a:path h="812800" w="2256052">
                  <a:moveTo>
                    <a:pt x="54874" y="0"/>
                  </a:moveTo>
                  <a:lnTo>
                    <a:pt x="2201177" y="0"/>
                  </a:lnTo>
                  <a:cubicBezTo>
                    <a:pt x="2231484" y="0"/>
                    <a:pt x="2256052" y="24568"/>
                    <a:pt x="2256052" y="54874"/>
                  </a:cubicBezTo>
                  <a:lnTo>
                    <a:pt x="2256052" y="757926"/>
                  </a:lnTo>
                  <a:cubicBezTo>
                    <a:pt x="2256052" y="772479"/>
                    <a:pt x="2250270" y="786437"/>
                    <a:pt x="2239979" y="796728"/>
                  </a:cubicBezTo>
                  <a:cubicBezTo>
                    <a:pt x="2229688" y="807019"/>
                    <a:pt x="2215731" y="812800"/>
                    <a:pt x="2201177" y="812800"/>
                  </a:cubicBezTo>
                  <a:lnTo>
                    <a:pt x="54874" y="812800"/>
                  </a:lnTo>
                  <a:cubicBezTo>
                    <a:pt x="24568" y="812800"/>
                    <a:pt x="0" y="788232"/>
                    <a:pt x="0" y="757926"/>
                  </a:cubicBezTo>
                  <a:lnTo>
                    <a:pt x="0" y="54874"/>
                  </a:lnTo>
                  <a:cubicBezTo>
                    <a:pt x="0" y="24568"/>
                    <a:pt x="24568" y="0"/>
                    <a:pt x="54874" y="0"/>
                  </a:cubicBezTo>
                  <a:close/>
                </a:path>
              </a:pathLst>
            </a:custGeom>
            <a:solidFill>
              <a:srgbClr val="70B2E2"/>
            </a:solidFill>
          </p:spPr>
        </p:sp>
        <p:sp>
          <p:nvSpPr>
            <p:cNvPr name="TextBox 7" id="7"/>
            <p:cNvSpPr txBox="true"/>
            <p:nvPr/>
          </p:nvSpPr>
          <p:spPr>
            <a:xfrm>
              <a:off x="0" y="-66675"/>
              <a:ext cx="2256052" cy="879475"/>
            </a:xfrm>
            <a:prstGeom prst="rect">
              <a:avLst/>
            </a:prstGeom>
          </p:spPr>
          <p:txBody>
            <a:bodyPr anchor="ctr" rtlCol="false" tIns="50800" lIns="50800" bIns="50800" rIns="50800"/>
            <a:lstStyle/>
            <a:p>
              <a:pPr algn="ctr">
                <a:lnSpc>
                  <a:spcPts val="2859"/>
                </a:lnSpc>
              </a:pPr>
              <a:r>
                <a:rPr lang="en-US" sz="2199">
                  <a:solidFill>
                    <a:srgbClr val="FFFFFF"/>
                  </a:solidFill>
                  <a:latin typeface="Bungee"/>
                  <a:ea typeface="Bungee"/>
                  <a:cs typeface="Bungee"/>
                  <a:sym typeface="Bungee"/>
                </a:rPr>
                <a:t>Pruebas funcionales</a:t>
              </a:r>
            </a:p>
          </p:txBody>
        </p:sp>
      </p:grpSp>
      <p:grpSp>
        <p:nvGrpSpPr>
          <p:cNvPr name="Group 8" id="8"/>
          <p:cNvGrpSpPr/>
          <p:nvPr/>
        </p:nvGrpSpPr>
        <p:grpSpPr>
          <a:xfrm rot="0">
            <a:off x="5026649" y="4328615"/>
            <a:ext cx="3741250" cy="1347880"/>
            <a:chOff x="0" y="0"/>
            <a:chExt cx="2256052" cy="812800"/>
          </a:xfrm>
        </p:grpSpPr>
        <p:sp>
          <p:nvSpPr>
            <p:cNvPr name="Freeform 9" id="9"/>
            <p:cNvSpPr/>
            <p:nvPr/>
          </p:nvSpPr>
          <p:spPr>
            <a:xfrm flipH="false" flipV="false" rot="0">
              <a:off x="0" y="0"/>
              <a:ext cx="2256052" cy="812800"/>
            </a:xfrm>
            <a:custGeom>
              <a:avLst/>
              <a:gdLst/>
              <a:ahLst/>
              <a:cxnLst/>
              <a:rect r="r" b="b" t="t" l="l"/>
              <a:pathLst>
                <a:path h="812800" w="2256052">
                  <a:moveTo>
                    <a:pt x="54874" y="0"/>
                  </a:moveTo>
                  <a:lnTo>
                    <a:pt x="2201177" y="0"/>
                  </a:lnTo>
                  <a:cubicBezTo>
                    <a:pt x="2231484" y="0"/>
                    <a:pt x="2256052" y="24568"/>
                    <a:pt x="2256052" y="54874"/>
                  </a:cubicBezTo>
                  <a:lnTo>
                    <a:pt x="2256052" y="757926"/>
                  </a:lnTo>
                  <a:cubicBezTo>
                    <a:pt x="2256052" y="772479"/>
                    <a:pt x="2250270" y="786437"/>
                    <a:pt x="2239979" y="796728"/>
                  </a:cubicBezTo>
                  <a:cubicBezTo>
                    <a:pt x="2229688" y="807019"/>
                    <a:pt x="2215731" y="812800"/>
                    <a:pt x="2201177" y="812800"/>
                  </a:cubicBezTo>
                  <a:lnTo>
                    <a:pt x="54874" y="812800"/>
                  </a:lnTo>
                  <a:cubicBezTo>
                    <a:pt x="24568" y="812800"/>
                    <a:pt x="0" y="788232"/>
                    <a:pt x="0" y="757926"/>
                  </a:cubicBezTo>
                  <a:lnTo>
                    <a:pt x="0" y="54874"/>
                  </a:lnTo>
                  <a:cubicBezTo>
                    <a:pt x="0" y="24568"/>
                    <a:pt x="24568" y="0"/>
                    <a:pt x="54874" y="0"/>
                  </a:cubicBezTo>
                  <a:close/>
                </a:path>
              </a:pathLst>
            </a:custGeom>
            <a:solidFill>
              <a:srgbClr val="70B2E2"/>
            </a:solidFill>
          </p:spPr>
        </p:sp>
        <p:sp>
          <p:nvSpPr>
            <p:cNvPr name="TextBox 10" id="10"/>
            <p:cNvSpPr txBox="true"/>
            <p:nvPr/>
          </p:nvSpPr>
          <p:spPr>
            <a:xfrm>
              <a:off x="0" y="-66675"/>
              <a:ext cx="2256052" cy="879475"/>
            </a:xfrm>
            <a:prstGeom prst="rect">
              <a:avLst/>
            </a:prstGeom>
          </p:spPr>
          <p:txBody>
            <a:bodyPr anchor="ctr" rtlCol="false" tIns="50800" lIns="50800" bIns="50800" rIns="50800"/>
            <a:lstStyle/>
            <a:p>
              <a:pPr algn="ctr">
                <a:lnSpc>
                  <a:spcPts val="2859"/>
                </a:lnSpc>
              </a:pPr>
              <a:r>
                <a:rPr lang="en-US" sz="2199">
                  <a:solidFill>
                    <a:srgbClr val="FFFFFF"/>
                  </a:solidFill>
                  <a:latin typeface="Bungee"/>
                  <a:ea typeface="Bungee"/>
                  <a:cs typeface="Bungee"/>
                  <a:sym typeface="Bungee"/>
                </a:rPr>
                <a:t>Producto minimo viable</a:t>
              </a:r>
            </a:p>
          </p:txBody>
        </p:sp>
      </p:grpSp>
      <p:grpSp>
        <p:nvGrpSpPr>
          <p:cNvPr name="Group 11" id="11"/>
          <p:cNvGrpSpPr/>
          <p:nvPr/>
        </p:nvGrpSpPr>
        <p:grpSpPr>
          <a:xfrm rot="0">
            <a:off x="9426881" y="5881885"/>
            <a:ext cx="3741250" cy="1347880"/>
            <a:chOff x="0" y="0"/>
            <a:chExt cx="2256052" cy="812800"/>
          </a:xfrm>
        </p:grpSpPr>
        <p:sp>
          <p:nvSpPr>
            <p:cNvPr name="Freeform 12" id="12"/>
            <p:cNvSpPr/>
            <p:nvPr/>
          </p:nvSpPr>
          <p:spPr>
            <a:xfrm flipH="false" flipV="false" rot="0">
              <a:off x="0" y="0"/>
              <a:ext cx="2256052" cy="812800"/>
            </a:xfrm>
            <a:custGeom>
              <a:avLst/>
              <a:gdLst/>
              <a:ahLst/>
              <a:cxnLst/>
              <a:rect r="r" b="b" t="t" l="l"/>
              <a:pathLst>
                <a:path h="812800" w="2256052">
                  <a:moveTo>
                    <a:pt x="54874" y="0"/>
                  </a:moveTo>
                  <a:lnTo>
                    <a:pt x="2201177" y="0"/>
                  </a:lnTo>
                  <a:cubicBezTo>
                    <a:pt x="2231484" y="0"/>
                    <a:pt x="2256052" y="24568"/>
                    <a:pt x="2256052" y="54874"/>
                  </a:cubicBezTo>
                  <a:lnTo>
                    <a:pt x="2256052" y="757926"/>
                  </a:lnTo>
                  <a:cubicBezTo>
                    <a:pt x="2256052" y="772479"/>
                    <a:pt x="2250270" y="786437"/>
                    <a:pt x="2239979" y="796728"/>
                  </a:cubicBezTo>
                  <a:cubicBezTo>
                    <a:pt x="2229688" y="807019"/>
                    <a:pt x="2215731" y="812800"/>
                    <a:pt x="2201177" y="812800"/>
                  </a:cubicBezTo>
                  <a:lnTo>
                    <a:pt x="54874" y="812800"/>
                  </a:lnTo>
                  <a:cubicBezTo>
                    <a:pt x="24568" y="812800"/>
                    <a:pt x="0" y="788232"/>
                    <a:pt x="0" y="757926"/>
                  </a:cubicBezTo>
                  <a:lnTo>
                    <a:pt x="0" y="54874"/>
                  </a:lnTo>
                  <a:cubicBezTo>
                    <a:pt x="0" y="24568"/>
                    <a:pt x="24568" y="0"/>
                    <a:pt x="54874" y="0"/>
                  </a:cubicBezTo>
                  <a:close/>
                </a:path>
              </a:pathLst>
            </a:custGeom>
            <a:solidFill>
              <a:srgbClr val="70B2E2"/>
            </a:solidFill>
          </p:spPr>
        </p:sp>
        <p:sp>
          <p:nvSpPr>
            <p:cNvPr name="TextBox 13" id="13"/>
            <p:cNvSpPr txBox="true"/>
            <p:nvPr/>
          </p:nvSpPr>
          <p:spPr>
            <a:xfrm>
              <a:off x="0" y="-66675"/>
              <a:ext cx="2256052" cy="879475"/>
            </a:xfrm>
            <a:prstGeom prst="rect">
              <a:avLst/>
            </a:prstGeom>
          </p:spPr>
          <p:txBody>
            <a:bodyPr anchor="ctr" rtlCol="false" tIns="50800" lIns="50800" bIns="50800" rIns="50800"/>
            <a:lstStyle/>
            <a:p>
              <a:pPr algn="ctr">
                <a:lnSpc>
                  <a:spcPts val="2859"/>
                </a:lnSpc>
              </a:pPr>
              <a:r>
                <a:rPr lang="en-US" sz="2199">
                  <a:solidFill>
                    <a:srgbClr val="FFFFFF"/>
                  </a:solidFill>
                  <a:latin typeface="Bungee"/>
                  <a:ea typeface="Bungee"/>
                  <a:cs typeface="Bungee"/>
                  <a:sym typeface="Bungee"/>
                </a:rPr>
                <a:t>Plan de pruebas</a:t>
              </a:r>
            </a:p>
          </p:txBody>
        </p:sp>
      </p:grpSp>
      <p:grpSp>
        <p:nvGrpSpPr>
          <p:cNvPr name="Group 14" id="14"/>
          <p:cNvGrpSpPr/>
          <p:nvPr/>
        </p:nvGrpSpPr>
        <p:grpSpPr>
          <a:xfrm rot="0">
            <a:off x="9426881" y="4328615"/>
            <a:ext cx="3741250" cy="1347880"/>
            <a:chOff x="0" y="0"/>
            <a:chExt cx="2256052" cy="812800"/>
          </a:xfrm>
        </p:grpSpPr>
        <p:sp>
          <p:nvSpPr>
            <p:cNvPr name="Freeform 15" id="15"/>
            <p:cNvSpPr/>
            <p:nvPr/>
          </p:nvSpPr>
          <p:spPr>
            <a:xfrm flipH="false" flipV="false" rot="0">
              <a:off x="0" y="0"/>
              <a:ext cx="2256052" cy="812800"/>
            </a:xfrm>
            <a:custGeom>
              <a:avLst/>
              <a:gdLst/>
              <a:ahLst/>
              <a:cxnLst/>
              <a:rect r="r" b="b" t="t" l="l"/>
              <a:pathLst>
                <a:path h="812800" w="2256052">
                  <a:moveTo>
                    <a:pt x="54874" y="0"/>
                  </a:moveTo>
                  <a:lnTo>
                    <a:pt x="2201177" y="0"/>
                  </a:lnTo>
                  <a:cubicBezTo>
                    <a:pt x="2231484" y="0"/>
                    <a:pt x="2256052" y="24568"/>
                    <a:pt x="2256052" y="54874"/>
                  </a:cubicBezTo>
                  <a:lnTo>
                    <a:pt x="2256052" y="757926"/>
                  </a:lnTo>
                  <a:cubicBezTo>
                    <a:pt x="2256052" y="772479"/>
                    <a:pt x="2250270" y="786437"/>
                    <a:pt x="2239979" y="796728"/>
                  </a:cubicBezTo>
                  <a:cubicBezTo>
                    <a:pt x="2229688" y="807019"/>
                    <a:pt x="2215731" y="812800"/>
                    <a:pt x="2201177" y="812800"/>
                  </a:cubicBezTo>
                  <a:lnTo>
                    <a:pt x="54874" y="812800"/>
                  </a:lnTo>
                  <a:cubicBezTo>
                    <a:pt x="24568" y="812800"/>
                    <a:pt x="0" y="788232"/>
                    <a:pt x="0" y="757926"/>
                  </a:cubicBezTo>
                  <a:lnTo>
                    <a:pt x="0" y="54874"/>
                  </a:lnTo>
                  <a:cubicBezTo>
                    <a:pt x="0" y="24568"/>
                    <a:pt x="24568" y="0"/>
                    <a:pt x="54874" y="0"/>
                  </a:cubicBezTo>
                  <a:close/>
                </a:path>
              </a:pathLst>
            </a:custGeom>
            <a:solidFill>
              <a:srgbClr val="70B2E2"/>
            </a:solidFill>
          </p:spPr>
        </p:sp>
        <p:sp>
          <p:nvSpPr>
            <p:cNvPr name="TextBox 16" id="16"/>
            <p:cNvSpPr txBox="true"/>
            <p:nvPr/>
          </p:nvSpPr>
          <p:spPr>
            <a:xfrm>
              <a:off x="0" y="-66675"/>
              <a:ext cx="2256052" cy="879475"/>
            </a:xfrm>
            <a:prstGeom prst="rect">
              <a:avLst/>
            </a:prstGeom>
          </p:spPr>
          <p:txBody>
            <a:bodyPr anchor="ctr" rtlCol="false" tIns="50800" lIns="50800" bIns="50800" rIns="50800"/>
            <a:lstStyle/>
            <a:p>
              <a:pPr algn="ctr">
                <a:lnSpc>
                  <a:spcPts val="2859"/>
                </a:lnSpc>
              </a:pPr>
              <a:r>
                <a:rPr lang="en-US" sz="2199">
                  <a:solidFill>
                    <a:srgbClr val="FFFFFF"/>
                  </a:solidFill>
                  <a:latin typeface="Bungee"/>
                  <a:ea typeface="Bungee"/>
                  <a:cs typeface="Bungee"/>
                  <a:sym typeface="Bungee"/>
                </a:rPr>
                <a:t>Reuniones de seguimiento</a:t>
              </a:r>
            </a:p>
          </p:txBody>
        </p:sp>
      </p:grpSp>
      <p:sp>
        <p:nvSpPr>
          <p:cNvPr name="TextBox 17" id="17"/>
          <p:cNvSpPr txBox="true"/>
          <p:nvPr/>
        </p:nvSpPr>
        <p:spPr>
          <a:xfrm rot="0">
            <a:off x="2973141" y="1549628"/>
            <a:ext cx="12248497" cy="1323975"/>
          </a:xfrm>
          <a:prstGeom prst="rect">
            <a:avLst/>
          </a:prstGeom>
        </p:spPr>
        <p:txBody>
          <a:bodyPr anchor="t" rtlCol="false" tIns="0" lIns="0" bIns="0" rIns="0">
            <a:spAutoFit/>
          </a:bodyPr>
          <a:lstStyle/>
          <a:p>
            <a:pPr algn="ctr" marL="0" indent="0" lvl="0">
              <a:lnSpc>
                <a:spcPts val="9261"/>
              </a:lnSpc>
              <a:spcBef>
                <a:spcPct val="0"/>
              </a:spcBef>
            </a:pPr>
            <a:r>
              <a:rPr lang="en-US" sz="7718">
                <a:solidFill>
                  <a:srgbClr val="000000"/>
                </a:solidFill>
                <a:latin typeface="Bungee"/>
                <a:ea typeface="Bungee"/>
                <a:cs typeface="Bungee"/>
                <a:sym typeface="Bungee"/>
              </a:rPr>
              <a:t>Evidencias</a:t>
            </a:r>
          </a:p>
        </p:txBody>
      </p:sp>
      <p:sp>
        <p:nvSpPr>
          <p:cNvPr name="Freeform 18" id="18"/>
          <p:cNvSpPr/>
          <p:nvPr/>
        </p:nvSpPr>
        <p:spPr>
          <a:xfrm flipH="false" flipV="false" rot="0">
            <a:off x="15476271" y="219173"/>
            <a:ext cx="720479" cy="1619054"/>
          </a:xfrm>
          <a:custGeom>
            <a:avLst/>
            <a:gdLst/>
            <a:ahLst/>
            <a:cxnLst/>
            <a:rect r="r" b="b" t="t" l="l"/>
            <a:pathLst>
              <a:path h="1619054" w="720479">
                <a:moveTo>
                  <a:pt x="0" y="0"/>
                </a:moveTo>
                <a:lnTo>
                  <a:pt x="720480" y="0"/>
                </a:lnTo>
                <a:lnTo>
                  <a:pt x="720480" y="1619054"/>
                </a:lnTo>
                <a:lnTo>
                  <a:pt x="0" y="161905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false" rot="3222147">
            <a:off x="3298021" y="1396224"/>
            <a:ext cx="1183605" cy="2188484"/>
          </a:xfrm>
          <a:custGeom>
            <a:avLst/>
            <a:gdLst/>
            <a:ahLst/>
            <a:cxnLst/>
            <a:rect r="r" b="b" t="t" l="l"/>
            <a:pathLst>
              <a:path h="2188484" w="1183605">
                <a:moveTo>
                  <a:pt x="0" y="0"/>
                </a:moveTo>
                <a:lnTo>
                  <a:pt x="1183605" y="0"/>
                </a:lnTo>
                <a:lnTo>
                  <a:pt x="1183605" y="2188484"/>
                </a:lnTo>
                <a:lnTo>
                  <a:pt x="0" y="21884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0" id="20"/>
          <p:cNvSpPr txBox="true"/>
          <p:nvPr/>
        </p:nvSpPr>
        <p:spPr>
          <a:xfrm rot="0">
            <a:off x="337679" y="152498"/>
            <a:ext cx="371177" cy="465921"/>
          </a:xfrm>
          <a:prstGeom prst="rect">
            <a:avLst/>
          </a:prstGeom>
        </p:spPr>
        <p:txBody>
          <a:bodyPr anchor="t" rtlCol="false" tIns="0" lIns="0" bIns="0" rIns="0">
            <a:spAutoFit/>
          </a:bodyPr>
          <a:lstStyle/>
          <a:p>
            <a:pPr algn="ctr">
              <a:lnSpc>
                <a:spcPts val="3719"/>
              </a:lnSpc>
              <a:spcBef>
                <a:spcPct val="0"/>
              </a:spcBef>
            </a:pPr>
            <a:r>
              <a:rPr lang="en-US" sz="2656">
                <a:solidFill>
                  <a:srgbClr val="000000"/>
                </a:solidFill>
                <a:latin typeface="Questrial"/>
                <a:ea typeface="Questrial"/>
                <a:cs typeface="Questrial"/>
                <a:sym typeface="Questrial"/>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grpSp>
        <p:nvGrpSpPr>
          <p:cNvPr name="Group 2" id="2"/>
          <p:cNvGrpSpPr/>
          <p:nvPr/>
        </p:nvGrpSpPr>
        <p:grpSpPr>
          <a:xfrm rot="0">
            <a:off x="861332" y="686774"/>
            <a:ext cx="16565336" cy="8913453"/>
            <a:chOff x="0" y="0"/>
            <a:chExt cx="4362887" cy="2347576"/>
          </a:xfrm>
        </p:grpSpPr>
        <p:sp>
          <p:nvSpPr>
            <p:cNvPr name="Freeform 3" id="3"/>
            <p:cNvSpPr/>
            <p:nvPr/>
          </p:nvSpPr>
          <p:spPr>
            <a:xfrm flipH="false" flipV="false" rot="0">
              <a:off x="0" y="0"/>
              <a:ext cx="4362887" cy="2347576"/>
            </a:xfrm>
            <a:custGeom>
              <a:avLst/>
              <a:gdLst/>
              <a:ahLst/>
              <a:cxnLst/>
              <a:rect r="r" b="b" t="t" l="l"/>
              <a:pathLst>
                <a:path h="2347576" w="4362887">
                  <a:moveTo>
                    <a:pt x="5141" y="0"/>
                  </a:moveTo>
                  <a:lnTo>
                    <a:pt x="4357746" y="0"/>
                  </a:lnTo>
                  <a:cubicBezTo>
                    <a:pt x="4360585" y="0"/>
                    <a:pt x="4362887" y="2302"/>
                    <a:pt x="4362887" y="5141"/>
                  </a:cubicBezTo>
                  <a:lnTo>
                    <a:pt x="4362887" y="2342435"/>
                  </a:lnTo>
                  <a:cubicBezTo>
                    <a:pt x="4362887" y="2345274"/>
                    <a:pt x="4360585" y="2347576"/>
                    <a:pt x="4357746" y="2347576"/>
                  </a:cubicBezTo>
                  <a:lnTo>
                    <a:pt x="5141" y="2347576"/>
                  </a:lnTo>
                  <a:cubicBezTo>
                    <a:pt x="3777" y="2347576"/>
                    <a:pt x="2470" y="2347034"/>
                    <a:pt x="1506" y="2346070"/>
                  </a:cubicBezTo>
                  <a:cubicBezTo>
                    <a:pt x="542" y="2345106"/>
                    <a:pt x="0" y="2343799"/>
                    <a:pt x="0" y="2342435"/>
                  </a:cubicBezTo>
                  <a:lnTo>
                    <a:pt x="0" y="5141"/>
                  </a:lnTo>
                  <a:cubicBezTo>
                    <a:pt x="0" y="2302"/>
                    <a:pt x="2302" y="0"/>
                    <a:pt x="5141" y="0"/>
                  </a:cubicBezTo>
                  <a:close/>
                </a:path>
              </a:pathLst>
            </a:custGeom>
            <a:solidFill>
              <a:srgbClr val="FFFFFF"/>
            </a:solidFill>
            <a:ln w="66675" cap="sq">
              <a:solidFill>
                <a:srgbClr val="000000"/>
              </a:solidFill>
              <a:prstDash val="solid"/>
              <a:miter/>
            </a:ln>
          </p:spPr>
        </p:sp>
        <p:sp>
          <p:nvSpPr>
            <p:cNvPr name="TextBox 4" id="4"/>
            <p:cNvSpPr txBox="true"/>
            <p:nvPr/>
          </p:nvSpPr>
          <p:spPr>
            <a:xfrm>
              <a:off x="0" y="-85725"/>
              <a:ext cx="4362887" cy="2433301"/>
            </a:xfrm>
            <a:prstGeom prst="rect">
              <a:avLst/>
            </a:prstGeom>
          </p:spPr>
          <p:txBody>
            <a:bodyPr anchor="ctr" rtlCol="false" tIns="50800" lIns="50800" bIns="50800" rIns="50800"/>
            <a:lstStyle/>
            <a:p>
              <a:pPr algn="ctr">
                <a:lnSpc>
                  <a:spcPts val="3174"/>
                </a:lnSpc>
              </a:pPr>
            </a:p>
          </p:txBody>
        </p:sp>
      </p:grpSp>
      <p:sp>
        <p:nvSpPr>
          <p:cNvPr name="TextBox 5" id="5"/>
          <p:cNvSpPr txBox="true"/>
          <p:nvPr/>
        </p:nvSpPr>
        <p:spPr>
          <a:xfrm rot="0">
            <a:off x="1319346" y="3536133"/>
            <a:ext cx="15649307" cy="1533525"/>
          </a:xfrm>
          <a:prstGeom prst="rect">
            <a:avLst/>
          </a:prstGeom>
        </p:spPr>
        <p:txBody>
          <a:bodyPr anchor="t" rtlCol="false" tIns="0" lIns="0" bIns="0" rIns="0">
            <a:spAutoFit/>
          </a:bodyPr>
          <a:lstStyle/>
          <a:p>
            <a:pPr algn="ctr" marL="0" indent="0" lvl="0">
              <a:lnSpc>
                <a:spcPts val="10771"/>
              </a:lnSpc>
            </a:pPr>
            <a:r>
              <a:rPr lang="en-US" sz="8976">
                <a:solidFill>
                  <a:srgbClr val="000000"/>
                </a:solidFill>
                <a:latin typeface="Bungee"/>
                <a:ea typeface="Bungee"/>
                <a:cs typeface="Bungee"/>
                <a:sym typeface="Bungee"/>
              </a:rPr>
              <a:t>CRONOGRAMA</a:t>
            </a:r>
          </a:p>
        </p:txBody>
      </p:sp>
      <p:sp>
        <p:nvSpPr>
          <p:cNvPr name="Freeform 6" id="6"/>
          <p:cNvSpPr/>
          <p:nvPr/>
        </p:nvSpPr>
        <p:spPr>
          <a:xfrm flipH="false" flipV="false" rot="-1862262">
            <a:off x="2469929" y="6412406"/>
            <a:ext cx="1183605" cy="2188484"/>
          </a:xfrm>
          <a:custGeom>
            <a:avLst/>
            <a:gdLst/>
            <a:ahLst/>
            <a:cxnLst/>
            <a:rect r="r" b="b" t="t" l="l"/>
            <a:pathLst>
              <a:path h="2188484" w="1183605">
                <a:moveTo>
                  <a:pt x="0" y="0"/>
                </a:moveTo>
                <a:lnTo>
                  <a:pt x="1183605" y="0"/>
                </a:lnTo>
                <a:lnTo>
                  <a:pt x="1183605" y="2188484"/>
                </a:lnTo>
                <a:lnTo>
                  <a:pt x="0" y="21884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195383">
            <a:off x="3492186" y="1953484"/>
            <a:ext cx="1427633" cy="1442354"/>
          </a:xfrm>
          <a:custGeom>
            <a:avLst/>
            <a:gdLst/>
            <a:ahLst/>
            <a:cxnLst/>
            <a:rect r="r" b="b" t="t" l="l"/>
            <a:pathLst>
              <a:path h="1442354" w="1427633">
                <a:moveTo>
                  <a:pt x="0" y="0"/>
                </a:moveTo>
                <a:lnTo>
                  <a:pt x="1427633" y="0"/>
                </a:lnTo>
                <a:lnTo>
                  <a:pt x="1427633" y="1442354"/>
                </a:lnTo>
                <a:lnTo>
                  <a:pt x="0" y="1442354"/>
                </a:lnTo>
                <a:lnTo>
                  <a:pt x="0" y="0"/>
                </a:lnTo>
                <a:close/>
              </a:path>
            </a:pathLst>
          </a:custGeom>
          <a:blipFill>
            <a:blip r:embed="rId4"/>
            <a:stretch>
              <a:fillRect l="0" t="0" r="-90511" b="-89118"/>
            </a:stretch>
          </a:blipFill>
        </p:spPr>
      </p:sp>
      <p:sp>
        <p:nvSpPr>
          <p:cNvPr name="Freeform 8" id="8"/>
          <p:cNvSpPr/>
          <p:nvPr/>
        </p:nvSpPr>
        <p:spPr>
          <a:xfrm flipH="false" flipV="false" rot="0">
            <a:off x="15163359" y="3026545"/>
            <a:ext cx="1125832" cy="1220414"/>
          </a:xfrm>
          <a:custGeom>
            <a:avLst/>
            <a:gdLst/>
            <a:ahLst/>
            <a:cxnLst/>
            <a:rect r="r" b="b" t="t" l="l"/>
            <a:pathLst>
              <a:path h="1220414" w="1125832">
                <a:moveTo>
                  <a:pt x="0" y="0"/>
                </a:moveTo>
                <a:lnTo>
                  <a:pt x="1125832" y="0"/>
                </a:lnTo>
                <a:lnTo>
                  <a:pt x="1125832" y="1220414"/>
                </a:lnTo>
                <a:lnTo>
                  <a:pt x="0" y="12204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4302283" y="1868165"/>
            <a:ext cx="1068605" cy="1158380"/>
          </a:xfrm>
          <a:custGeom>
            <a:avLst/>
            <a:gdLst/>
            <a:ahLst/>
            <a:cxnLst/>
            <a:rect r="r" b="b" t="t" l="l"/>
            <a:pathLst>
              <a:path h="1158380" w="1068605">
                <a:moveTo>
                  <a:pt x="0" y="0"/>
                </a:moveTo>
                <a:lnTo>
                  <a:pt x="1068605" y="0"/>
                </a:lnTo>
                <a:lnTo>
                  <a:pt x="1068605" y="1158380"/>
                </a:lnTo>
                <a:lnTo>
                  <a:pt x="0" y="11583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5095875" y="4762500"/>
            <a:ext cx="8096250" cy="4000500"/>
          </a:xfrm>
          <a:custGeom>
            <a:avLst/>
            <a:gdLst/>
            <a:ahLst/>
            <a:cxnLst/>
            <a:rect r="r" b="b" t="t" l="l"/>
            <a:pathLst>
              <a:path h="4000500" w="8096250">
                <a:moveTo>
                  <a:pt x="0" y="0"/>
                </a:moveTo>
                <a:lnTo>
                  <a:pt x="8096250" y="0"/>
                </a:lnTo>
                <a:lnTo>
                  <a:pt x="8096250" y="4000500"/>
                </a:lnTo>
                <a:lnTo>
                  <a:pt x="0" y="4000500"/>
                </a:lnTo>
                <a:lnTo>
                  <a:pt x="0" y="0"/>
                </a:lnTo>
                <a:close/>
              </a:path>
            </a:pathLst>
          </a:custGeom>
          <a:blipFill>
            <a:blip r:embed="rId7"/>
            <a:stretch>
              <a:fillRect l="-37" t="0" r="-37" b="0"/>
            </a:stretch>
          </a:blipFill>
        </p:spPr>
      </p:sp>
      <p:sp>
        <p:nvSpPr>
          <p:cNvPr name="TextBox 11" id="11"/>
          <p:cNvSpPr txBox="true"/>
          <p:nvPr/>
        </p:nvSpPr>
        <p:spPr>
          <a:xfrm rot="0">
            <a:off x="337679" y="152498"/>
            <a:ext cx="371177" cy="465921"/>
          </a:xfrm>
          <a:prstGeom prst="rect">
            <a:avLst/>
          </a:prstGeom>
        </p:spPr>
        <p:txBody>
          <a:bodyPr anchor="t" rtlCol="false" tIns="0" lIns="0" bIns="0" rIns="0">
            <a:spAutoFit/>
          </a:bodyPr>
          <a:lstStyle/>
          <a:p>
            <a:pPr algn="ctr">
              <a:lnSpc>
                <a:spcPts val="3719"/>
              </a:lnSpc>
              <a:spcBef>
                <a:spcPct val="0"/>
              </a:spcBef>
            </a:pPr>
            <a:r>
              <a:rPr lang="en-US" sz="2656">
                <a:solidFill>
                  <a:srgbClr val="000000"/>
                </a:solidFill>
                <a:latin typeface="Questrial"/>
                <a:ea typeface="Questrial"/>
                <a:cs typeface="Questrial"/>
                <a:sym typeface="Questrial"/>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grpSp>
        <p:nvGrpSpPr>
          <p:cNvPr name="Group 2" id="2"/>
          <p:cNvGrpSpPr/>
          <p:nvPr/>
        </p:nvGrpSpPr>
        <p:grpSpPr>
          <a:xfrm rot="0">
            <a:off x="861332" y="686774"/>
            <a:ext cx="16565336" cy="8913453"/>
            <a:chOff x="0" y="0"/>
            <a:chExt cx="4362887" cy="2347576"/>
          </a:xfrm>
        </p:grpSpPr>
        <p:sp>
          <p:nvSpPr>
            <p:cNvPr name="Freeform 3" id="3"/>
            <p:cNvSpPr/>
            <p:nvPr/>
          </p:nvSpPr>
          <p:spPr>
            <a:xfrm flipH="false" flipV="false" rot="0">
              <a:off x="0" y="0"/>
              <a:ext cx="4362887" cy="2347576"/>
            </a:xfrm>
            <a:custGeom>
              <a:avLst/>
              <a:gdLst/>
              <a:ahLst/>
              <a:cxnLst/>
              <a:rect r="r" b="b" t="t" l="l"/>
              <a:pathLst>
                <a:path h="2347576" w="4362887">
                  <a:moveTo>
                    <a:pt x="5141" y="0"/>
                  </a:moveTo>
                  <a:lnTo>
                    <a:pt x="4357746" y="0"/>
                  </a:lnTo>
                  <a:cubicBezTo>
                    <a:pt x="4360585" y="0"/>
                    <a:pt x="4362887" y="2302"/>
                    <a:pt x="4362887" y="5141"/>
                  </a:cubicBezTo>
                  <a:lnTo>
                    <a:pt x="4362887" y="2342435"/>
                  </a:lnTo>
                  <a:cubicBezTo>
                    <a:pt x="4362887" y="2345274"/>
                    <a:pt x="4360585" y="2347576"/>
                    <a:pt x="4357746" y="2347576"/>
                  </a:cubicBezTo>
                  <a:lnTo>
                    <a:pt x="5141" y="2347576"/>
                  </a:lnTo>
                  <a:cubicBezTo>
                    <a:pt x="3777" y="2347576"/>
                    <a:pt x="2470" y="2347034"/>
                    <a:pt x="1506" y="2346070"/>
                  </a:cubicBezTo>
                  <a:cubicBezTo>
                    <a:pt x="542" y="2345106"/>
                    <a:pt x="0" y="2343799"/>
                    <a:pt x="0" y="2342435"/>
                  </a:cubicBezTo>
                  <a:lnTo>
                    <a:pt x="0" y="5141"/>
                  </a:lnTo>
                  <a:cubicBezTo>
                    <a:pt x="0" y="2302"/>
                    <a:pt x="2302" y="0"/>
                    <a:pt x="5141" y="0"/>
                  </a:cubicBezTo>
                  <a:close/>
                </a:path>
              </a:pathLst>
            </a:custGeom>
            <a:solidFill>
              <a:srgbClr val="FFFFFF"/>
            </a:solidFill>
            <a:ln w="66675" cap="sq">
              <a:solidFill>
                <a:srgbClr val="000000"/>
              </a:solidFill>
              <a:prstDash val="solid"/>
              <a:miter/>
            </a:ln>
          </p:spPr>
        </p:sp>
        <p:sp>
          <p:nvSpPr>
            <p:cNvPr name="TextBox 4" id="4"/>
            <p:cNvSpPr txBox="true"/>
            <p:nvPr/>
          </p:nvSpPr>
          <p:spPr>
            <a:xfrm>
              <a:off x="0" y="-85725"/>
              <a:ext cx="4362887" cy="2433301"/>
            </a:xfrm>
            <a:prstGeom prst="rect">
              <a:avLst/>
            </a:prstGeom>
          </p:spPr>
          <p:txBody>
            <a:bodyPr anchor="ctr" rtlCol="false" tIns="50800" lIns="50800" bIns="50800" rIns="50800"/>
            <a:lstStyle/>
            <a:p>
              <a:pPr algn="ctr">
                <a:lnSpc>
                  <a:spcPts val="3174"/>
                </a:lnSpc>
              </a:pPr>
            </a:p>
          </p:txBody>
        </p:sp>
      </p:grpSp>
      <p:sp>
        <p:nvSpPr>
          <p:cNvPr name="Freeform 5" id="5"/>
          <p:cNvSpPr/>
          <p:nvPr/>
        </p:nvSpPr>
        <p:spPr>
          <a:xfrm flipH="false" flipV="false" rot="0">
            <a:off x="1948694" y="1978404"/>
            <a:ext cx="5685663" cy="6330191"/>
          </a:xfrm>
          <a:custGeom>
            <a:avLst/>
            <a:gdLst/>
            <a:ahLst/>
            <a:cxnLst/>
            <a:rect r="r" b="b" t="t" l="l"/>
            <a:pathLst>
              <a:path h="6330191" w="5685663">
                <a:moveTo>
                  <a:pt x="0" y="0"/>
                </a:moveTo>
                <a:lnTo>
                  <a:pt x="5685663" y="0"/>
                </a:lnTo>
                <a:lnTo>
                  <a:pt x="5685663" y="6330192"/>
                </a:lnTo>
                <a:lnTo>
                  <a:pt x="0" y="63301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948694" y="1568370"/>
            <a:ext cx="9151997" cy="1200600"/>
          </a:xfrm>
          <a:prstGeom prst="rect">
            <a:avLst/>
          </a:prstGeom>
        </p:spPr>
        <p:txBody>
          <a:bodyPr anchor="t" rtlCol="false" tIns="0" lIns="0" bIns="0" rIns="0">
            <a:spAutoFit/>
          </a:bodyPr>
          <a:lstStyle/>
          <a:p>
            <a:pPr algn="l">
              <a:lnSpc>
                <a:spcPts val="8743"/>
              </a:lnSpc>
            </a:pPr>
            <a:r>
              <a:rPr lang="en-US" sz="6476">
                <a:solidFill>
                  <a:srgbClr val="05061C"/>
                </a:solidFill>
                <a:latin typeface="Bungee"/>
                <a:ea typeface="Bungee"/>
                <a:cs typeface="Bungee"/>
                <a:sym typeface="Bungee"/>
              </a:rPr>
              <a:t>Sprint</a:t>
            </a:r>
          </a:p>
        </p:txBody>
      </p:sp>
      <p:sp>
        <p:nvSpPr>
          <p:cNvPr name="TextBox 7" id="7"/>
          <p:cNvSpPr txBox="true"/>
          <p:nvPr/>
        </p:nvSpPr>
        <p:spPr>
          <a:xfrm rot="0">
            <a:off x="8397801" y="4695686"/>
            <a:ext cx="8255785" cy="1023551"/>
          </a:xfrm>
          <a:prstGeom prst="rect">
            <a:avLst/>
          </a:prstGeom>
        </p:spPr>
        <p:txBody>
          <a:bodyPr anchor="t" rtlCol="false" tIns="0" lIns="0" bIns="0" rIns="0">
            <a:spAutoFit/>
          </a:bodyPr>
          <a:lstStyle/>
          <a:p>
            <a:pPr algn="just">
              <a:lnSpc>
                <a:spcPts val="2077"/>
              </a:lnSpc>
            </a:pPr>
            <a:r>
              <a:rPr lang="en-US" sz="1385">
                <a:solidFill>
                  <a:srgbClr val="05061C"/>
                </a:solidFill>
                <a:latin typeface="Questrial"/>
                <a:ea typeface="Questrial"/>
                <a:cs typeface="Questrial"/>
                <a:sym typeface="Questrial"/>
              </a:rPr>
              <a:t>Desarrollar la administración básica de los vehículos, permitiendo registrar, consultar y gestionar de manera organizada la información principal de cada vehículo, incluyendo sus características, estado, kilometraje, fechas de mantenimiento y revisión técnica, con el objetivo de facilitar su seguimiento y control dentro del sistema.</a:t>
            </a:r>
          </a:p>
        </p:txBody>
      </p:sp>
      <p:sp>
        <p:nvSpPr>
          <p:cNvPr name="TextBox 8" id="8"/>
          <p:cNvSpPr txBox="true"/>
          <p:nvPr/>
        </p:nvSpPr>
        <p:spPr>
          <a:xfrm rot="0">
            <a:off x="8397801" y="4074774"/>
            <a:ext cx="8255785" cy="505870"/>
          </a:xfrm>
          <a:prstGeom prst="rect">
            <a:avLst/>
          </a:prstGeom>
        </p:spPr>
        <p:txBody>
          <a:bodyPr anchor="t" rtlCol="false" tIns="0" lIns="0" bIns="0" rIns="0">
            <a:spAutoFit/>
          </a:bodyPr>
          <a:lstStyle/>
          <a:p>
            <a:pPr algn="l" marL="0" indent="0" lvl="0">
              <a:lnSpc>
                <a:spcPts val="4142"/>
              </a:lnSpc>
              <a:spcBef>
                <a:spcPct val="0"/>
              </a:spcBef>
            </a:pPr>
            <a:r>
              <a:rPr lang="en-US" sz="2958">
                <a:solidFill>
                  <a:srgbClr val="05061C"/>
                </a:solidFill>
                <a:latin typeface="Questrial"/>
                <a:ea typeface="Questrial"/>
                <a:cs typeface="Questrial"/>
                <a:sym typeface="Questrial"/>
              </a:rPr>
              <a:t>01. Sprint 1</a:t>
            </a:r>
          </a:p>
        </p:txBody>
      </p:sp>
      <p:sp>
        <p:nvSpPr>
          <p:cNvPr name="TextBox 9" id="9"/>
          <p:cNvSpPr txBox="true"/>
          <p:nvPr/>
        </p:nvSpPr>
        <p:spPr>
          <a:xfrm rot="0">
            <a:off x="8442793" y="6576836"/>
            <a:ext cx="8255785" cy="951259"/>
          </a:xfrm>
          <a:prstGeom prst="rect">
            <a:avLst/>
          </a:prstGeom>
        </p:spPr>
        <p:txBody>
          <a:bodyPr anchor="t" rtlCol="false" tIns="0" lIns="0" bIns="0" rIns="0">
            <a:spAutoFit/>
          </a:bodyPr>
          <a:lstStyle/>
          <a:p>
            <a:pPr algn="just">
              <a:lnSpc>
                <a:spcPts val="1923"/>
              </a:lnSpc>
            </a:pPr>
            <a:r>
              <a:rPr lang="en-US" sz="1282">
                <a:solidFill>
                  <a:srgbClr val="05061C"/>
                </a:solidFill>
                <a:latin typeface="Questrial"/>
                <a:ea typeface="Questrial"/>
                <a:cs typeface="Questrial"/>
                <a:sym typeface="Questrial"/>
              </a:rPr>
              <a:t>I</a:t>
            </a:r>
            <a:r>
              <a:rPr lang="en-US" sz="1282">
                <a:solidFill>
                  <a:srgbClr val="05061C"/>
                </a:solidFill>
                <a:latin typeface="Questrial"/>
                <a:ea typeface="Questrial"/>
                <a:cs typeface="Questrial"/>
                <a:sym typeface="Questrial"/>
              </a:rPr>
              <a:t>mplementar la gestión de reportes y mantenimientos asociados a los vehículos, permitiendo registrar fallas, reparaciones y repuestos utilizados. Además, desarrollar el módulo de empleados para administrar la información del personal, incluyendo sus cargos, tipos de contrato, estado laboral y, cuando corresponda, información relacionada con despidos y sus motivos.</a:t>
            </a:r>
          </a:p>
        </p:txBody>
      </p:sp>
      <p:sp>
        <p:nvSpPr>
          <p:cNvPr name="TextBox 10" id="10"/>
          <p:cNvSpPr txBox="true"/>
          <p:nvPr/>
        </p:nvSpPr>
        <p:spPr>
          <a:xfrm rot="0">
            <a:off x="8397801" y="5954761"/>
            <a:ext cx="8345769" cy="505870"/>
          </a:xfrm>
          <a:prstGeom prst="rect">
            <a:avLst/>
          </a:prstGeom>
        </p:spPr>
        <p:txBody>
          <a:bodyPr anchor="t" rtlCol="false" tIns="0" lIns="0" bIns="0" rIns="0">
            <a:spAutoFit/>
          </a:bodyPr>
          <a:lstStyle/>
          <a:p>
            <a:pPr algn="l" marL="0" indent="0" lvl="0">
              <a:lnSpc>
                <a:spcPts val="4142"/>
              </a:lnSpc>
              <a:spcBef>
                <a:spcPct val="0"/>
              </a:spcBef>
            </a:pPr>
            <a:r>
              <a:rPr lang="en-US" sz="2958">
                <a:solidFill>
                  <a:srgbClr val="05061C"/>
                </a:solidFill>
                <a:latin typeface="Questrial"/>
                <a:ea typeface="Questrial"/>
                <a:cs typeface="Questrial"/>
                <a:sym typeface="Questrial"/>
              </a:rPr>
              <a:t>02. Sprint 2</a:t>
            </a:r>
          </a:p>
        </p:txBody>
      </p:sp>
      <p:sp>
        <p:nvSpPr>
          <p:cNvPr name="Freeform 11" id="11"/>
          <p:cNvSpPr/>
          <p:nvPr/>
        </p:nvSpPr>
        <p:spPr>
          <a:xfrm flipH="false" flipV="false" rot="0">
            <a:off x="1588454" y="242305"/>
            <a:ext cx="720479" cy="1619054"/>
          </a:xfrm>
          <a:custGeom>
            <a:avLst/>
            <a:gdLst/>
            <a:ahLst/>
            <a:cxnLst/>
            <a:rect r="r" b="b" t="t" l="l"/>
            <a:pathLst>
              <a:path h="1619054" w="720479">
                <a:moveTo>
                  <a:pt x="0" y="0"/>
                </a:moveTo>
                <a:lnTo>
                  <a:pt x="720480" y="0"/>
                </a:lnTo>
                <a:lnTo>
                  <a:pt x="720480" y="1619054"/>
                </a:lnTo>
                <a:lnTo>
                  <a:pt x="0" y="16190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8397801" y="8395947"/>
            <a:ext cx="8255785" cy="951259"/>
          </a:xfrm>
          <a:prstGeom prst="rect">
            <a:avLst/>
          </a:prstGeom>
        </p:spPr>
        <p:txBody>
          <a:bodyPr anchor="t" rtlCol="false" tIns="0" lIns="0" bIns="0" rIns="0">
            <a:spAutoFit/>
          </a:bodyPr>
          <a:lstStyle/>
          <a:p>
            <a:pPr algn="just">
              <a:lnSpc>
                <a:spcPts val="1923"/>
              </a:lnSpc>
            </a:pPr>
            <a:r>
              <a:rPr lang="en-US" sz="1282">
                <a:solidFill>
                  <a:srgbClr val="05061C"/>
                </a:solidFill>
                <a:latin typeface="Questrial"/>
                <a:ea typeface="Questrial"/>
                <a:cs typeface="Questrial"/>
                <a:sym typeface="Questrial"/>
              </a:rPr>
              <a:t>Int</a:t>
            </a:r>
            <a:r>
              <a:rPr lang="en-US" sz="1282">
                <a:solidFill>
                  <a:srgbClr val="05061C"/>
                </a:solidFill>
                <a:latin typeface="Questrial"/>
                <a:ea typeface="Questrial"/>
                <a:cs typeface="Questrial"/>
                <a:sym typeface="Questrial"/>
              </a:rPr>
              <a:t>egrar los módulos desarrollados durante los Sprints anteriores, verificando la correcta comunicación entre la aplicación móvil, la API y la base de datos. Durante este Sprint se realizarán pruebas generales, corrección de errores, mejoras de la interfaz, validación de la persistencia de los datos y preparación del sistema para su despliegue y presentación final.</a:t>
            </a:r>
          </a:p>
        </p:txBody>
      </p:sp>
      <p:sp>
        <p:nvSpPr>
          <p:cNvPr name="TextBox 13" id="13"/>
          <p:cNvSpPr txBox="true"/>
          <p:nvPr/>
        </p:nvSpPr>
        <p:spPr>
          <a:xfrm rot="0">
            <a:off x="8352808" y="7773872"/>
            <a:ext cx="8345769" cy="505870"/>
          </a:xfrm>
          <a:prstGeom prst="rect">
            <a:avLst/>
          </a:prstGeom>
        </p:spPr>
        <p:txBody>
          <a:bodyPr anchor="t" rtlCol="false" tIns="0" lIns="0" bIns="0" rIns="0">
            <a:spAutoFit/>
          </a:bodyPr>
          <a:lstStyle/>
          <a:p>
            <a:pPr algn="l" marL="0" indent="0" lvl="0">
              <a:lnSpc>
                <a:spcPts val="4142"/>
              </a:lnSpc>
              <a:spcBef>
                <a:spcPct val="0"/>
              </a:spcBef>
            </a:pPr>
            <a:r>
              <a:rPr lang="en-US" sz="2958">
                <a:solidFill>
                  <a:srgbClr val="05061C"/>
                </a:solidFill>
                <a:latin typeface="Questrial"/>
                <a:ea typeface="Questrial"/>
                <a:cs typeface="Questrial"/>
                <a:sym typeface="Questrial"/>
              </a:rPr>
              <a:t>03. Sprint 3</a:t>
            </a:r>
          </a:p>
        </p:txBody>
      </p:sp>
      <p:sp>
        <p:nvSpPr>
          <p:cNvPr name="TextBox 14" id="14"/>
          <p:cNvSpPr txBox="true"/>
          <p:nvPr/>
        </p:nvSpPr>
        <p:spPr>
          <a:xfrm rot="0">
            <a:off x="8352808" y="2946448"/>
            <a:ext cx="8255785" cy="1023551"/>
          </a:xfrm>
          <a:prstGeom prst="rect">
            <a:avLst/>
          </a:prstGeom>
        </p:spPr>
        <p:txBody>
          <a:bodyPr anchor="t" rtlCol="false" tIns="0" lIns="0" bIns="0" rIns="0">
            <a:spAutoFit/>
          </a:bodyPr>
          <a:lstStyle/>
          <a:p>
            <a:pPr algn="just">
              <a:lnSpc>
                <a:spcPts val="2077"/>
              </a:lnSpc>
            </a:pPr>
            <a:r>
              <a:rPr lang="en-US" sz="1385">
                <a:solidFill>
                  <a:srgbClr val="05061C"/>
                </a:solidFill>
                <a:latin typeface="Questrial"/>
                <a:ea typeface="Questrial"/>
                <a:cs typeface="Questrial"/>
                <a:sym typeface="Questrial"/>
              </a:rPr>
              <a:t>Definir y planificar el proyecto, identificando las necesidades principales del sistema, los requerimientos funcionales y no funcionales, las historias de usuario y la arquitectura tecnológica. En esta etapa también se establecerá el Product Backlog, se definirán las prioridades de desarrollo y se preparará el entorno de trabajo para comenzar la implementación.</a:t>
            </a:r>
          </a:p>
        </p:txBody>
      </p:sp>
      <p:sp>
        <p:nvSpPr>
          <p:cNvPr name="TextBox 15" id="15"/>
          <p:cNvSpPr txBox="true"/>
          <p:nvPr/>
        </p:nvSpPr>
        <p:spPr>
          <a:xfrm rot="0">
            <a:off x="8352808" y="2325535"/>
            <a:ext cx="8255785" cy="505870"/>
          </a:xfrm>
          <a:prstGeom prst="rect">
            <a:avLst/>
          </a:prstGeom>
        </p:spPr>
        <p:txBody>
          <a:bodyPr anchor="t" rtlCol="false" tIns="0" lIns="0" bIns="0" rIns="0">
            <a:spAutoFit/>
          </a:bodyPr>
          <a:lstStyle/>
          <a:p>
            <a:pPr algn="l" marL="0" indent="0" lvl="0">
              <a:lnSpc>
                <a:spcPts val="4142"/>
              </a:lnSpc>
              <a:spcBef>
                <a:spcPct val="0"/>
              </a:spcBef>
            </a:pPr>
            <a:r>
              <a:rPr lang="en-US" sz="2958">
                <a:solidFill>
                  <a:srgbClr val="05061C"/>
                </a:solidFill>
                <a:latin typeface="Questrial"/>
                <a:ea typeface="Questrial"/>
                <a:cs typeface="Questrial"/>
                <a:sym typeface="Questrial"/>
              </a:rPr>
              <a:t>00. Sprint 0</a:t>
            </a:r>
          </a:p>
        </p:txBody>
      </p:sp>
      <p:sp>
        <p:nvSpPr>
          <p:cNvPr name="TextBox 16" id="16"/>
          <p:cNvSpPr txBox="true"/>
          <p:nvPr/>
        </p:nvSpPr>
        <p:spPr>
          <a:xfrm rot="0">
            <a:off x="337679" y="152498"/>
            <a:ext cx="371177" cy="465921"/>
          </a:xfrm>
          <a:prstGeom prst="rect">
            <a:avLst/>
          </a:prstGeom>
        </p:spPr>
        <p:txBody>
          <a:bodyPr anchor="t" rtlCol="false" tIns="0" lIns="0" bIns="0" rIns="0">
            <a:spAutoFit/>
          </a:bodyPr>
          <a:lstStyle/>
          <a:p>
            <a:pPr algn="ctr">
              <a:lnSpc>
                <a:spcPts val="3719"/>
              </a:lnSpc>
              <a:spcBef>
                <a:spcPct val="0"/>
              </a:spcBef>
            </a:pPr>
            <a:r>
              <a:rPr lang="en-US" sz="2656">
                <a:solidFill>
                  <a:srgbClr val="000000"/>
                </a:solidFill>
                <a:latin typeface="Questrial"/>
                <a:ea typeface="Questrial"/>
                <a:cs typeface="Questrial"/>
                <a:sym typeface="Questrial"/>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grpSp>
        <p:nvGrpSpPr>
          <p:cNvPr name="Group 2" id="2"/>
          <p:cNvGrpSpPr/>
          <p:nvPr/>
        </p:nvGrpSpPr>
        <p:grpSpPr>
          <a:xfrm rot="0">
            <a:off x="861332" y="645323"/>
            <a:ext cx="16565336" cy="8913453"/>
            <a:chOff x="0" y="0"/>
            <a:chExt cx="4362887" cy="2347576"/>
          </a:xfrm>
        </p:grpSpPr>
        <p:sp>
          <p:nvSpPr>
            <p:cNvPr name="Freeform 3" id="3"/>
            <p:cNvSpPr/>
            <p:nvPr/>
          </p:nvSpPr>
          <p:spPr>
            <a:xfrm flipH="false" flipV="false" rot="0">
              <a:off x="0" y="0"/>
              <a:ext cx="4362887" cy="2347576"/>
            </a:xfrm>
            <a:custGeom>
              <a:avLst/>
              <a:gdLst/>
              <a:ahLst/>
              <a:cxnLst/>
              <a:rect r="r" b="b" t="t" l="l"/>
              <a:pathLst>
                <a:path h="2347576" w="4362887">
                  <a:moveTo>
                    <a:pt x="5141" y="0"/>
                  </a:moveTo>
                  <a:lnTo>
                    <a:pt x="4357746" y="0"/>
                  </a:lnTo>
                  <a:cubicBezTo>
                    <a:pt x="4360585" y="0"/>
                    <a:pt x="4362887" y="2302"/>
                    <a:pt x="4362887" y="5141"/>
                  </a:cubicBezTo>
                  <a:lnTo>
                    <a:pt x="4362887" y="2342435"/>
                  </a:lnTo>
                  <a:cubicBezTo>
                    <a:pt x="4362887" y="2345274"/>
                    <a:pt x="4360585" y="2347576"/>
                    <a:pt x="4357746" y="2347576"/>
                  </a:cubicBezTo>
                  <a:lnTo>
                    <a:pt x="5141" y="2347576"/>
                  </a:lnTo>
                  <a:cubicBezTo>
                    <a:pt x="3777" y="2347576"/>
                    <a:pt x="2470" y="2347034"/>
                    <a:pt x="1506" y="2346070"/>
                  </a:cubicBezTo>
                  <a:cubicBezTo>
                    <a:pt x="542" y="2345106"/>
                    <a:pt x="0" y="2343799"/>
                    <a:pt x="0" y="2342435"/>
                  </a:cubicBezTo>
                  <a:lnTo>
                    <a:pt x="0" y="5141"/>
                  </a:lnTo>
                  <a:cubicBezTo>
                    <a:pt x="0" y="2302"/>
                    <a:pt x="2302" y="0"/>
                    <a:pt x="5141" y="0"/>
                  </a:cubicBezTo>
                  <a:close/>
                </a:path>
              </a:pathLst>
            </a:custGeom>
            <a:solidFill>
              <a:srgbClr val="FFFFFF"/>
            </a:solidFill>
            <a:ln w="66675" cap="sq">
              <a:solidFill>
                <a:srgbClr val="000000"/>
              </a:solidFill>
              <a:prstDash val="solid"/>
              <a:miter/>
            </a:ln>
          </p:spPr>
        </p:sp>
        <p:sp>
          <p:nvSpPr>
            <p:cNvPr name="TextBox 4" id="4"/>
            <p:cNvSpPr txBox="true"/>
            <p:nvPr/>
          </p:nvSpPr>
          <p:spPr>
            <a:xfrm>
              <a:off x="0" y="-85725"/>
              <a:ext cx="4362887" cy="2433301"/>
            </a:xfrm>
            <a:prstGeom prst="rect">
              <a:avLst/>
            </a:prstGeom>
          </p:spPr>
          <p:txBody>
            <a:bodyPr anchor="ctr" rtlCol="false" tIns="50800" lIns="50800" bIns="50800" rIns="50800"/>
            <a:lstStyle/>
            <a:p>
              <a:pPr algn="ctr">
                <a:lnSpc>
                  <a:spcPts val="3174"/>
                </a:lnSpc>
              </a:pPr>
            </a:p>
          </p:txBody>
        </p:sp>
      </p:grpSp>
      <p:sp>
        <p:nvSpPr>
          <p:cNvPr name="Freeform 5" id="5"/>
          <p:cNvSpPr/>
          <p:nvPr/>
        </p:nvSpPr>
        <p:spPr>
          <a:xfrm flipH="false" flipV="false" rot="0">
            <a:off x="14429295" y="500601"/>
            <a:ext cx="9942178" cy="6489531"/>
          </a:xfrm>
          <a:custGeom>
            <a:avLst/>
            <a:gdLst/>
            <a:ahLst/>
            <a:cxnLst/>
            <a:rect r="r" b="b" t="t" l="l"/>
            <a:pathLst>
              <a:path h="6489531" w="9942178">
                <a:moveTo>
                  <a:pt x="0" y="0"/>
                </a:moveTo>
                <a:lnTo>
                  <a:pt x="9942178" y="0"/>
                </a:lnTo>
                <a:lnTo>
                  <a:pt x="9942178" y="6489530"/>
                </a:lnTo>
                <a:lnTo>
                  <a:pt x="0" y="64895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282708" y="1066159"/>
            <a:ext cx="11565350" cy="1468127"/>
          </a:xfrm>
          <a:prstGeom prst="rect">
            <a:avLst/>
          </a:prstGeom>
        </p:spPr>
        <p:txBody>
          <a:bodyPr anchor="t" rtlCol="false" tIns="0" lIns="0" bIns="0" rIns="0">
            <a:spAutoFit/>
          </a:bodyPr>
          <a:lstStyle/>
          <a:p>
            <a:pPr algn="l" marL="0" indent="0" lvl="0">
              <a:lnSpc>
                <a:spcPts val="10598"/>
              </a:lnSpc>
            </a:pPr>
            <a:r>
              <a:rPr lang="en-US" sz="8090">
                <a:solidFill>
                  <a:srgbClr val="000000"/>
                </a:solidFill>
                <a:latin typeface="Bungee"/>
                <a:ea typeface="Bungee"/>
                <a:cs typeface="Bungee"/>
                <a:sym typeface="Bungee"/>
              </a:rPr>
              <a:t>carta gant </a:t>
            </a:r>
          </a:p>
        </p:txBody>
      </p:sp>
      <p:sp>
        <p:nvSpPr>
          <p:cNvPr name="Freeform 7" id="7"/>
          <p:cNvSpPr/>
          <p:nvPr/>
        </p:nvSpPr>
        <p:spPr>
          <a:xfrm flipH="false" flipV="false" rot="5483825">
            <a:off x="8221060" y="799482"/>
            <a:ext cx="999301" cy="1009605"/>
          </a:xfrm>
          <a:custGeom>
            <a:avLst/>
            <a:gdLst/>
            <a:ahLst/>
            <a:cxnLst/>
            <a:rect r="r" b="b" t="t" l="l"/>
            <a:pathLst>
              <a:path h="1009605" w="999301">
                <a:moveTo>
                  <a:pt x="0" y="0"/>
                </a:moveTo>
                <a:lnTo>
                  <a:pt x="999301" y="0"/>
                </a:lnTo>
                <a:lnTo>
                  <a:pt x="999301" y="1009605"/>
                </a:lnTo>
                <a:lnTo>
                  <a:pt x="0" y="1009605"/>
                </a:lnTo>
                <a:lnTo>
                  <a:pt x="0" y="0"/>
                </a:lnTo>
                <a:close/>
              </a:path>
            </a:pathLst>
          </a:custGeom>
          <a:blipFill>
            <a:blip r:embed="rId4"/>
            <a:stretch>
              <a:fillRect l="0" t="0" r="-90511" b="-89118"/>
            </a:stretch>
          </a:blipFill>
        </p:spPr>
      </p:sp>
      <p:sp>
        <p:nvSpPr>
          <p:cNvPr name="Freeform 8" id="8"/>
          <p:cNvSpPr/>
          <p:nvPr/>
        </p:nvSpPr>
        <p:spPr>
          <a:xfrm flipH="false" flipV="false" rot="0">
            <a:off x="1282708" y="2844821"/>
            <a:ext cx="9295608" cy="6202848"/>
          </a:xfrm>
          <a:custGeom>
            <a:avLst/>
            <a:gdLst/>
            <a:ahLst/>
            <a:cxnLst/>
            <a:rect r="r" b="b" t="t" l="l"/>
            <a:pathLst>
              <a:path h="6202848" w="9295608">
                <a:moveTo>
                  <a:pt x="0" y="0"/>
                </a:moveTo>
                <a:lnTo>
                  <a:pt x="9295608" y="0"/>
                </a:lnTo>
                <a:lnTo>
                  <a:pt x="9295608" y="6202848"/>
                </a:lnTo>
                <a:lnTo>
                  <a:pt x="0" y="6202848"/>
                </a:lnTo>
                <a:lnTo>
                  <a:pt x="0" y="0"/>
                </a:lnTo>
                <a:close/>
              </a:path>
            </a:pathLst>
          </a:custGeom>
          <a:blipFill>
            <a:blip r:embed="rId5"/>
            <a:stretch>
              <a:fillRect l="0" t="0" r="0" b="0"/>
            </a:stretch>
          </a:blipFill>
        </p:spPr>
      </p:sp>
      <p:sp>
        <p:nvSpPr>
          <p:cNvPr name="TextBox 9" id="9"/>
          <p:cNvSpPr txBox="true"/>
          <p:nvPr/>
        </p:nvSpPr>
        <p:spPr>
          <a:xfrm rot="0">
            <a:off x="337679" y="152498"/>
            <a:ext cx="371177" cy="465921"/>
          </a:xfrm>
          <a:prstGeom prst="rect">
            <a:avLst/>
          </a:prstGeom>
        </p:spPr>
        <p:txBody>
          <a:bodyPr anchor="t" rtlCol="false" tIns="0" lIns="0" bIns="0" rIns="0">
            <a:spAutoFit/>
          </a:bodyPr>
          <a:lstStyle/>
          <a:p>
            <a:pPr algn="ctr">
              <a:lnSpc>
                <a:spcPts val="3719"/>
              </a:lnSpc>
              <a:spcBef>
                <a:spcPct val="0"/>
              </a:spcBef>
            </a:pPr>
            <a:r>
              <a:rPr lang="en-US" sz="2656">
                <a:solidFill>
                  <a:srgbClr val="000000"/>
                </a:solidFill>
                <a:latin typeface="Questrial"/>
                <a:ea typeface="Questrial"/>
                <a:cs typeface="Questrial"/>
                <a:sym typeface="Questrial"/>
              </a:rPr>
              <a:t>15</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70B2E2"/>
        </a:solidFill>
      </p:bgPr>
    </p:bg>
    <p:spTree>
      <p:nvGrpSpPr>
        <p:cNvPr id="1" name=""/>
        <p:cNvGrpSpPr/>
        <p:nvPr/>
      </p:nvGrpSpPr>
      <p:grpSpPr>
        <a:xfrm>
          <a:off x="0" y="0"/>
          <a:ext cx="0" cy="0"/>
          <a:chOff x="0" y="0"/>
          <a:chExt cx="0" cy="0"/>
        </a:xfrm>
      </p:grpSpPr>
      <p:grpSp>
        <p:nvGrpSpPr>
          <p:cNvPr name="Group 2" id="2"/>
          <p:cNvGrpSpPr/>
          <p:nvPr/>
        </p:nvGrpSpPr>
        <p:grpSpPr>
          <a:xfrm rot="0">
            <a:off x="1009989" y="701639"/>
            <a:ext cx="16565336" cy="8913453"/>
            <a:chOff x="0" y="0"/>
            <a:chExt cx="4362887" cy="2347576"/>
          </a:xfrm>
        </p:grpSpPr>
        <p:sp>
          <p:nvSpPr>
            <p:cNvPr name="Freeform 3" id="3"/>
            <p:cNvSpPr/>
            <p:nvPr/>
          </p:nvSpPr>
          <p:spPr>
            <a:xfrm flipH="false" flipV="false" rot="0">
              <a:off x="0" y="0"/>
              <a:ext cx="4362887" cy="2347576"/>
            </a:xfrm>
            <a:custGeom>
              <a:avLst/>
              <a:gdLst/>
              <a:ahLst/>
              <a:cxnLst/>
              <a:rect r="r" b="b" t="t" l="l"/>
              <a:pathLst>
                <a:path h="2347576" w="4362887">
                  <a:moveTo>
                    <a:pt x="5141" y="0"/>
                  </a:moveTo>
                  <a:lnTo>
                    <a:pt x="4357746" y="0"/>
                  </a:lnTo>
                  <a:cubicBezTo>
                    <a:pt x="4360585" y="0"/>
                    <a:pt x="4362887" y="2302"/>
                    <a:pt x="4362887" y="5141"/>
                  </a:cubicBezTo>
                  <a:lnTo>
                    <a:pt x="4362887" y="2342435"/>
                  </a:lnTo>
                  <a:cubicBezTo>
                    <a:pt x="4362887" y="2345274"/>
                    <a:pt x="4360585" y="2347576"/>
                    <a:pt x="4357746" y="2347576"/>
                  </a:cubicBezTo>
                  <a:lnTo>
                    <a:pt x="5141" y="2347576"/>
                  </a:lnTo>
                  <a:cubicBezTo>
                    <a:pt x="3777" y="2347576"/>
                    <a:pt x="2470" y="2347034"/>
                    <a:pt x="1506" y="2346070"/>
                  </a:cubicBezTo>
                  <a:cubicBezTo>
                    <a:pt x="542" y="2345106"/>
                    <a:pt x="0" y="2343799"/>
                    <a:pt x="0" y="2342435"/>
                  </a:cubicBezTo>
                  <a:lnTo>
                    <a:pt x="0" y="5141"/>
                  </a:lnTo>
                  <a:cubicBezTo>
                    <a:pt x="0" y="2302"/>
                    <a:pt x="2302" y="0"/>
                    <a:pt x="5141" y="0"/>
                  </a:cubicBezTo>
                  <a:close/>
                </a:path>
              </a:pathLst>
            </a:custGeom>
            <a:solidFill>
              <a:srgbClr val="FFFFFF"/>
            </a:solidFill>
            <a:ln w="66675" cap="sq">
              <a:solidFill>
                <a:srgbClr val="000000"/>
              </a:solidFill>
              <a:prstDash val="solid"/>
              <a:miter/>
            </a:ln>
          </p:spPr>
        </p:sp>
        <p:sp>
          <p:nvSpPr>
            <p:cNvPr name="TextBox 4" id="4"/>
            <p:cNvSpPr txBox="true"/>
            <p:nvPr/>
          </p:nvSpPr>
          <p:spPr>
            <a:xfrm>
              <a:off x="0" y="-85725"/>
              <a:ext cx="4362887" cy="2433301"/>
            </a:xfrm>
            <a:prstGeom prst="rect">
              <a:avLst/>
            </a:prstGeom>
          </p:spPr>
          <p:txBody>
            <a:bodyPr anchor="ctr" rtlCol="false" tIns="50800" lIns="50800" bIns="50800" rIns="50800"/>
            <a:lstStyle/>
            <a:p>
              <a:pPr algn="ctr">
                <a:lnSpc>
                  <a:spcPts val="3174"/>
                </a:lnSpc>
              </a:pPr>
            </a:p>
          </p:txBody>
        </p:sp>
      </p:grpSp>
      <p:sp>
        <p:nvSpPr>
          <p:cNvPr name="TextBox 5" id="5"/>
          <p:cNvSpPr txBox="true"/>
          <p:nvPr/>
        </p:nvSpPr>
        <p:spPr>
          <a:xfrm rot="0">
            <a:off x="662909" y="1748086"/>
            <a:ext cx="16962182" cy="1187602"/>
          </a:xfrm>
          <a:prstGeom prst="rect">
            <a:avLst/>
          </a:prstGeom>
        </p:spPr>
        <p:txBody>
          <a:bodyPr anchor="t" rtlCol="false" tIns="0" lIns="0" bIns="0" rIns="0">
            <a:spAutoFit/>
          </a:bodyPr>
          <a:lstStyle/>
          <a:p>
            <a:pPr algn="ctr">
              <a:lnSpc>
                <a:spcPts val="8140"/>
              </a:lnSpc>
            </a:pPr>
            <a:r>
              <a:rPr lang="en-US" sz="7079">
                <a:solidFill>
                  <a:srgbClr val="000000"/>
                </a:solidFill>
                <a:latin typeface="Bungee"/>
                <a:ea typeface="Bungee"/>
                <a:cs typeface="Bungee"/>
                <a:sym typeface="Bungee"/>
              </a:rPr>
              <a:t>REFLEXIONES FINALES</a:t>
            </a:r>
          </a:p>
        </p:txBody>
      </p:sp>
      <p:sp>
        <p:nvSpPr>
          <p:cNvPr name="TextBox 6" id="6"/>
          <p:cNvSpPr txBox="true"/>
          <p:nvPr/>
        </p:nvSpPr>
        <p:spPr>
          <a:xfrm rot="0">
            <a:off x="11700979" y="3477255"/>
            <a:ext cx="5407543" cy="630555"/>
          </a:xfrm>
          <a:prstGeom prst="rect">
            <a:avLst/>
          </a:prstGeom>
        </p:spPr>
        <p:txBody>
          <a:bodyPr anchor="t" rtlCol="false" tIns="0" lIns="0" bIns="0" rIns="0">
            <a:spAutoFit/>
          </a:bodyPr>
          <a:lstStyle/>
          <a:p>
            <a:pPr algn="l">
              <a:lnSpc>
                <a:spcPts val="4620"/>
              </a:lnSpc>
              <a:spcBef>
                <a:spcPct val="0"/>
              </a:spcBef>
            </a:pPr>
            <a:r>
              <a:rPr lang="en-US" sz="3300" u="sng">
                <a:solidFill>
                  <a:srgbClr val="000000"/>
                </a:solidFill>
                <a:latin typeface="Bungee"/>
                <a:ea typeface="Bungee"/>
                <a:cs typeface="Bungee"/>
                <a:sym typeface="Bungee"/>
              </a:rPr>
              <a:t>CRISTOBAL OYARZUN</a:t>
            </a:r>
          </a:p>
        </p:txBody>
      </p:sp>
      <p:sp>
        <p:nvSpPr>
          <p:cNvPr name="TextBox 7" id="7"/>
          <p:cNvSpPr txBox="true"/>
          <p:nvPr/>
        </p:nvSpPr>
        <p:spPr>
          <a:xfrm rot="0">
            <a:off x="1894828" y="3477255"/>
            <a:ext cx="4959779" cy="630555"/>
          </a:xfrm>
          <a:prstGeom prst="rect">
            <a:avLst/>
          </a:prstGeom>
        </p:spPr>
        <p:txBody>
          <a:bodyPr anchor="t" rtlCol="false" tIns="0" lIns="0" bIns="0" rIns="0">
            <a:spAutoFit/>
          </a:bodyPr>
          <a:lstStyle/>
          <a:p>
            <a:pPr algn="l">
              <a:lnSpc>
                <a:spcPts val="4620"/>
              </a:lnSpc>
              <a:spcBef>
                <a:spcPct val="0"/>
              </a:spcBef>
            </a:pPr>
            <a:r>
              <a:rPr lang="en-US" sz="3300" u="sng">
                <a:solidFill>
                  <a:srgbClr val="000000"/>
                </a:solidFill>
                <a:latin typeface="Bungee"/>
                <a:ea typeface="Bungee"/>
                <a:cs typeface="Bungee"/>
                <a:sym typeface="Bungee"/>
              </a:rPr>
              <a:t>SEBASTIAN CABRERA</a:t>
            </a:r>
          </a:p>
        </p:txBody>
      </p:sp>
      <p:sp>
        <p:nvSpPr>
          <p:cNvPr name="TextBox 8" id="8"/>
          <p:cNvSpPr txBox="true"/>
          <p:nvPr/>
        </p:nvSpPr>
        <p:spPr>
          <a:xfrm rot="0">
            <a:off x="1658539" y="4300921"/>
            <a:ext cx="5432357" cy="4402455"/>
          </a:xfrm>
          <a:prstGeom prst="rect">
            <a:avLst/>
          </a:prstGeom>
        </p:spPr>
        <p:txBody>
          <a:bodyPr anchor="t" rtlCol="false" tIns="0" lIns="0" bIns="0" rIns="0">
            <a:spAutoFit/>
          </a:bodyPr>
          <a:lstStyle/>
          <a:p>
            <a:pPr algn="l">
              <a:lnSpc>
                <a:spcPts val="2520"/>
              </a:lnSpc>
            </a:pPr>
            <a:r>
              <a:rPr lang="en-US" sz="1800">
                <a:solidFill>
                  <a:srgbClr val="000000"/>
                </a:solidFill>
                <a:latin typeface="Questrial"/>
                <a:ea typeface="Questrial"/>
                <a:cs typeface="Questrial"/>
                <a:sym typeface="Questrial"/>
              </a:rPr>
              <a:t>Este proyecto lo veo con mucho futuro, tanto para mejorar nuestra formación como profesionales como por la gran escalabilidad que tiene. Nos permitirá aplicar los conocimientos que hemos adquirido y, al mismo tiempo, seguir desarrollando nuestras habilidades y ejercitando la mente mediante nuevos desafíos.</a:t>
            </a:r>
          </a:p>
          <a:p>
            <a:pPr algn="l">
              <a:lnSpc>
                <a:spcPts val="2520"/>
              </a:lnSpc>
            </a:pPr>
            <a:r>
              <a:rPr lang="en-US" sz="1800">
                <a:solidFill>
                  <a:srgbClr val="000000"/>
                </a:solidFill>
                <a:latin typeface="Questrial"/>
                <a:ea typeface="Questrial"/>
                <a:cs typeface="Questrial"/>
                <a:sym typeface="Questrial"/>
              </a:rPr>
              <a:t>Además, el proyecto puede seguir creciendo con la incorporación de nuevas funciones y tecnologías, como la inteligencia artificial, permitiendo mejorar y optimizar los procesos de la empresa. También nos entrega experiencia práctica que será muy útil para nuestro futuro laboral y profesional.</a:t>
            </a:r>
          </a:p>
          <a:p>
            <a:pPr algn="l">
              <a:lnSpc>
                <a:spcPts val="2520"/>
              </a:lnSpc>
            </a:pPr>
          </a:p>
        </p:txBody>
      </p:sp>
      <p:sp>
        <p:nvSpPr>
          <p:cNvPr name="TextBox 9" id="9"/>
          <p:cNvSpPr txBox="true"/>
          <p:nvPr/>
        </p:nvSpPr>
        <p:spPr>
          <a:xfrm rot="0">
            <a:off x="11700979" y="4300921"/>
            <a:ext cx="5352325" cy="3145155"/>
          </a:xfrm>
          <a:prstGeom prst="rect">
            <a:avLst/>
          </a:prstGeom>
        </p:spPr>
        <p:txBody>
          <a:bodyPr anchor="t" rtlCol="false" tIns="0" lIns="0" bIns="0" rIns="0">
            <a:spAutoFit/>
          </a:bodyPr>
          <a:lstStyle/>
          <a:p>
            <a:pPr algn="l">
              <a:lnSpc>
                <a:spcPts val="2520"/>
              </a:lnSpc>
            </a:pPr>
            <a:r>
              <a:rPr lang="en-US" sz="1800">
                <a:solidFill>
                  <a:srgbClr val="000000"/>
                </a:solidFill>
                <a:latin typeface="Questrial"/>
                <a:ea typeface="Questrial"/>
                <a:cs typeface="Questrial"/>
                <a:sym typeface="Questrial"/>
              </a:rPr>
              <a:t>En lo personal el desarrollo del proyecto presento una dinamica que nunca antes habia puesto en practica, ya que esta vez estuvo en desarrollo tanto un pagina web como una aplicación movil, lo que presento como un desafio interesante, pero que por suertre se pudo llevar adelante con el equipo. Durante el desarrollo del proyecto reforce conocimientos que habia puesto en practica anteriormente, lo que a decir verdad fue gratificante el poder desenvolverme de buena manera.</a:t>
            </a:r>
          </a:p>
        </p:txBody>
      </p:sp>
      <p:sp>
        <p:nvSpPr>
          <p:cNvPr name="TextBox 10" id="10"/>
          <p:cNvSpPr txBox="true"/>
          <p:nvPr/>
        </p:nvSpPr>
        <p:spPr>
          <a:xfrm rot="0">
            <a:off x="337679" y="152498"/>
            <a:ext cx="371177" cy="465921"/>
          </a:xfrm>
          <a:prstGeom prst="rect">
            <a:avLst/>
          </a:prstGeom>
        </p:spPr>
        <p:txBody>
          <a:bodyPr anchor="t" rtlCol="false" tIns="0" lIns="0" bIns="0" rIns="0">
            <a:spAutoFit/>
          </a:bodyPr>
          <a:lstStyle/>
          <a:p>
            <a:pPr algn="ctr">
              <a:lnSpc>
                <a:spcPts val="3719"/>
              </a:lnSpc>
              <a:spcBef>
                <a:spcPct val="0"/>
              </a:spcBef>
            </a:pPr>
            <a:r>
              <a:rPr lang="en-US" sz="2656">
                <a:solidFill>
                  <a:srgbClr val="000000"/>
                </a:solidFill>
                <a:latin typeface="Questrial"/>
                <a:ea typeface="Questrial"/>
                <a:cs typeface="Questrial"/>
                <a:sym typeface="Questrial"/>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70B2E2"/>
        </a:solidFill>
      </p:bgPr>
    </p:bg>
    <p:spTree>
      <p:nvGrpSpPr>
        <p:cNvPr id="1" name=""/>
        <p:cNvGrpSpPr/>
        <p:nvPr/>
      </p:nvGrpSpPr>
      <p:grpSpPr>
        <a:xfrm>
          <a:off x="0" y="0"/>
          <a:ext cx="0" cy="0"/>
          <a:chOff x="0" y="0"/>
          <a:chExt cx="0" cy="0"/>
        </a:xfrm>
      </p:grpSpPr>
      <p:grpSp>
        <p:nvGrpSpPr>
          <p:cNvPr name="Group 2" id="2"/>
          <p:cNvGrpSpPr/>
          <p:nvPr/>
        </p:nvGrpSpPr>
        <p:grpSpPr>
          <a:xfrm rot="0">
            <a:off x="1348394" y="773107"/>
            <a:ext cx="16565336" cy="8913453"/>
            <a:chOff x="0" y="0"/>
            <a:chExt cx="4362887" cy="2347576"/>
          </a:xfrm>
        </p:grpSpPr>
        <p:sp>
          <p:nvSpPr>
            <p:cNvPr name="Freeform 3" id="3"/>
            <p:cNvSpPr/>
            <p:nvPr/>
          </p:nvSpPr>
          <p:spPr>
            <a:xfrm flipH="false" flipV="false" rot="0">
              <a:off x="0" y="0"/>
              <a:ext cx="4362887" cy="2347576"/>
            </a:xfrm>
            <a:custGeom>
              <a:avLst/>
              <a:gdLst/>
              <a:ahLst/>
              <a:cxnLst/>
              <a:rect r="r" b="b" t="t" l="l"/>
              <a:pathLst>
                <a:path h="2347576" w="4362887">
                  <a:moveTo>
                    <a:pt x="5141" y="0"/>
                  </a:moveTo>
                  <a:lnTo>
                    <a:pt x="4357746" y="0"/>
                  </a:lnTo>
                  <a:cubicBezTo>
                    <a:pt x="4360585" y="0"/>
                    <a:pt x="4362887" y="2302"/>
                    <a:pt x="4362887" y="5141"/>
                  </a:cubicBezTo>
                  <a:lnTo>
                    <a:pt x="4362887" y="2342435"/>
                  </a:lnTo>
                  <a:cubicBezTo>
                    <a:pt x="4362887" y="2345274"/>
                    <a:pt x="4360585" y="2347576"/>
                    <a:pt x="4357746" y="2347576"/>
                  </a:cubicBezTo>
                  <a:lnTo>
                    <a:pt x="5141" y="2347576"/>
                  </a:lnTo>
                  <a:cubicBezTo>
                    <a:pt x="3777" y="2347576"/>
                    <a:pt x="2470" y="2347034"/>
                    <a:pt x="1506" y="2346070"/>
                  </a:cubicBezTo>
                  <a:cubicBezTo>
                    <a:pt x="542" y="2345106"/>
                    <a:pt x="0" y="2343799"/>
                    <a:pt x="0" y="2342435"/>
                  </a:cubicBezTo>
                  <a:lnTo>
                    <a:pt x="0" y="5141"/>
                  </a:lnTo>
                  <a:cubicBezTo>
                    <a:pt x="0" y="2302"/>
                    <a:pt x="2302" y="0"/>
                    <a:pt x="5141" y="0"/>
                  </a:cubicBezTo>
                  <a:close/>
                </a:path>
              </a:pathLst>
            </a:custGeom>
            <a:solidFill>
              <a:srgbClr val="FFFFFF"/>
            </a:solidFill>
            <a:ln w="114300" cap="sq">
              <a:solidFill>
                <a:srgbClr val="000000"/>
              </a:solidFill>
              <a:prstDash val="solid"/>
              <a:miter/>
            </a:ln>
          </p:spPr>
        </p:sp>
        <p:sp>
          <p:nvSpPr>
            <p:cNvPr name="TextBox 4" id="4"/>
            <p:cNvSpPr txBox="true"/>
            <p:nvPr/>
          </p:nvSpPr>
          <p:spPr>
            <a:xfrm>
              <a:off x="0" y="-85725"/>
              <a:ext cx="4362887" cy="2433301"/>
            </a:xfrm>
            <a:prstGeom prst="rect">
              <a:avLst/>
            </a:prstGeom>
          </p:spPr>
          <p:txBody>
            <a:bodyPr anchor="ctr" rtlCol="false" tIns="50800" lIns="50800" bIns="50800" rIns="50800"/>
            <a:lstStyle/>
            <a:p>
              <a:pPr algn="ctr">
                <a:lnSpc>
                  <a:spcPts val="3174"/>
                </a:lnSpc>
              </a:pPr>
            </a:p>
          </p:txBody>
        </p:sp>
      </p:grpSp>
      <p:sp>
        <p:nvSpPr>
          <p:cNvPr name="Freeform 5" id="5"/>
          <p:cNvSpPr/>
          <p:nvPr/>
        </p:nvSpPr>
        <p:spPr>
          <a:xfrm flipH="false" flipV="false" rot="0">
            <a:off x="-6821983" y="4128762"/>
            <a:ext cx="10500648" cy="6854059"/>
          </a:xfrm>
          <a:custGeom>
            <a:avLst/>
            <a:gdLst/>
            <a:ahLst/>
            <a:cxnLst/>
            <a:rect r="r" b="b" t="t" l="l"/>
            <a:pathLst>
              <a:path h="6854059" w="10500648">
                <a:moveTo>
                  <a:pt x="0" y="0"/>
                </a:moveTo>
                <a:lnTo>
                  <a:pt x="10500647" y="0"/>
                </a:lnTo>
                <a:lnTo>
                  <a:pt x="10500647" y="6854059"/>
                </a:lnTo>
                <a:lnTo>
                  <a:pt x="0" y="68540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3172118" y="3228437"/>
            <a:ext cx="11943764" cy="1872502"/>
          </a:xfrm>
          <a:prstGeom prst="rect">
            <a:avLst/>
          </a:prstGeom>
        </p:spPr>
        <p:txBody>
          <a:bodyPr anchor="t" rtlCol="false" tIns="0" lIns="0" bIns="0" rIns="0">
            <a:spAutoFit/>
          </a:bodyPr>
          <a:lstStyle/>
          <a:p>
            <a:pPr algn="ctr" marL="0" indent="0" lvl="0">
              <a:lnSpc>
                <a:spcPts val="12151"/>
              </a:lnSpc>
            </a:pPr>
            <a:r>
              <a:rPr lang="en-US" sz="12527">
                <a:solidFill>
                  <a:srgbClr val="000000"/>
                </a:solidFill>
                <a:latin typeface="Bungee"/>
                <a:ea typeface="Bungee"/>
                <a:cs typeface="Bungee"/>
                <a:sym typeface="Bungee"/>
              </a:rPr>
              <a:t>MUCHAS</a:t>
            </a:r>
          </a:p>
        </p:txBody>
      </p:sp>
      <p:sp>
        <p:nvSpPr>
          <p:cNvPr name="Freeform 7" id="7"/>
          <p:cNvSpPr/>
          <p:nvPr/>
        </p:nvSpPr>
        <p:spPr>
          <a:xfrm flipH="false" flipV="false" rot="0">
            <a:off x="14441650" y="346982"/>
            <a:ext cx="9942178" cy="6489531"/>
          </a:xfrm>
          <a:custGeom>
            <a:avLst/>
            <a:gdLst/>
            <a:ahLst/>
            <a:cxnLst/>
            <a:rect r="r" b="b" t="t" l="l"/>
            <a:pathLst>
              <a:path h="6489531" w="9942178">
                <a:moveTo>
                  <a:pt x="0" y="0"/>
                </a:moveTo>
                <a:lnTo>
                  <a:pt x="9942178" y="0"/>
                </a:lnTo>
                <a:lnTo>
                  <a:pt x="9942178" y="6489531"/>
                </a:lnTo>
                <a:lnTo>
                  <a:pt x="0" y="64895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952162" y="214313"/>
            <a:ext cx="827074" cy="1858594"/>
          </a:xfrm>
          <a:custGeom>
            <a:avLst/>
            <a:gdLst/>
            <a:ahLst/>
            <a:cxnLst/>
            <a:rect r="r" b="b" t="t" l="l"/>
            <a:pathLst>
              <a:path h="1858594" w="827074">
                <a:moveTo>
                  <a:pt x="0" y="0"/>
                </a:moveTo>
                <a:lnTo>
                  <a:pt x="827075" y="0"/>
                </a:lnTo>
                <a:lnTo>
                  <a:pt x="827075" y="1858594"/>
                </a:lnTo>
                <a:lnTo>
                  <a:pt x="0" y="185859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false" rot="1935342">
            <a:off x="15277174" y="6801731"/>
            <a:ext cx="1183605" cy="2188484"/>
          </a:xfrm>
          <a:custGeom>
            <a:avLst/>
            <a:gdLst/>
            <a:ahLst/>
            <a:cxnLst/>
            <a:rect r="r" b="b" t="t" l="l"/>
            <a:pathLst>
              <a:path h="2188484" w="1183605">
                <a:moveTo>
                  <a:pt x="1183605" y="0"/>
                </a:moveTo>
                <a:lnTo>
                  <a:pt x="0" y="0"/>
                </a:lnTo>
                <a:lnTo>
                  <a:pt x="0" y="2188484"/>
                </a:lnTo>
                <a:lnTo>
                  <a:pt x="1183605" y="2188484"/>
                </a:lnTo>
                <a:lnTo>
                  <a:pt x="118360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2483638">
            <a:off x="8366303" y="1722871"/>
            <a:ext cx="1555394" cy="1571433"/>
          </a:xfrm>
          <a:custGeom>
            <a:avLst/>
            <a:gdLst/>
            <a:ahLst/>
            <a:cxnLst/>
            <a:rect r="r" b="b" t="t" l="l"/>
            <a:pathLst>
              <a:path h="1571433" w="1555394">
                <a:moveTo>
                  <a:pt x="0" y="0"/>
                </a:moveTo>
                <a:lnTo>
                  <a:pt x="1555394" y="0"/>
                </a:lnTo>
                <a:lnTo>
                  <a:pt x="1555394" y="1571433"/>
                </a:lnTo>
                <a:lnTo>
                  <a:pt x="0" y="1571433"/>
                </a:lnTo>
                <a:lnTo>
                  <a:pt x="0" y="0"/>
                </a:lnTo>
                <a:close/>
              </a:path>
            </a:pathLst>
          </a:custGeom>
          <a:blipFill>
            <a:blip r:embed="rId8"/>
            <a:stretch>
              <a:fillRect l="0" t="0" r="-90511" b="-89118"/>
            </a:stretch>
          </a:blipFill>
        </p:spPr>
      </p:sp>
      <p:grpSp>
        <p:nvGrpSpPr>
          <p:cNvPr name="Group 11" id="11"/>
          <p:cNvGrpSpPr/>
          <p:nvPr/>
        </p:nvGrpSpPr>
        <p:grpSpPr>
          <a:xfrm rot="0">
            <a:off x="4049197" y="5229833"/>
            <a:ext cx="9976820" cy="2131480"/>
            <a:chOff x="0" y="0"/>
            <a:chExt cx="2411803" cy="515266"/>
          </a:xfrm>
        </p:grpSpPr>
        <p:sp>
          <p:nvSpPr>
            <p:cNvPr name="Freeform 12" id="12"/>
            <p:cNvSpPr/>
            <p:nvPr/>
          </p:nvSpPr>
          <p:spPr>
            <a:xfrm flipH="false" flipV="false" rot="0">
              <a:off x="0" y="0"/>
              <a:ext cx="2411804" cy="515266"/>
            </a:xfrm>
            <a:custGeom>
              <a:avLst/>
              <a:gdLst/>
              <a:ahLst/>
              <a:cxnLst/>
              <a:rect r="r" b="b" t="t" l="l"/>
              <a:pathLst>
                <a:path h="515266" w="2411804">
                  <a:moveTo>
                    <a:pt x="9312" y="0"/>
                  </a:moveTo>
                  <a:lnTo>
                    <a:pt x="2402492" y="0"/>
                  </a:lnTo>
                  <a:cubicBezTo>
                    <a:pt x="2404961" y="0"/>
                    <a:pt x="2407330" y="981"/>
                    <a:pt x="2409076" y="2727"/>
                  </a:cubicBezTo>
                  <a:cubicBezTo>
                    <a:pt x="2410822" y="4474"/>
                    <a:pt x="2411804" y="6842"/>
                    <a:pt x="2411804" y="9312"/>
                  </a:cubicBezTo>
                  <a:lnTo>
                    <a:pt x="2411804" y="505954"/>
                  </a:lnTo>
                  <a:cubicBezTo>
                    <a:pt x="2411804" y="511096"/>
                    <a:pt x="2407634" y="515266"/>
                    <a:pt x="2402492" y="515266"/>
                  </a:cubicBezTo>
                  <a:lnTo>
                    <a:pt x="9312" y="515266"/>
                  </a:lnTo>
                  <a:cubicBezTo>
                    <a:pt x="4169" y="515266"/>
                    <a:pt x="0" y="511096"/>
                    <a:pt x="0" y="505954"/>
                  </a:cubicBezTo>
                  <a:lnTo>
                    <a:pt x="0" y="9312"/>
                  </a:lnTo>
                  <a:cubicBezTo>
                    <a:pt x="0" y="4169"/>
                    <a:pt x="4169" y="0"/>
                    <a:pt x="9312" y="0"/>
                  </a:cubicBezTo>
                  <a:close/>
                </a:path>
              </a:pathLst>
            </a:custGeom>
            <a:solidFill>
              <a:srgbClr val="70B2E2"/>
            </a:solidFill>
          </p:spPr>
        </p:sp>
        <p:sp>
          <p:nvSpPr>
            <p:cNvPr name="TextBox 13" id="13"/>
            <p:cNvSpPr txBox="true"/>
            <p:nvPr/>
          </p:nvSpPr>
          <p:spPr>
            <a:xfrm>
              <a:off x="0" y="-85725"/>
              <a:ext cx="2411803" cy="600991"/>
            </a:xfrm>
            <a:prstGeom prst="rect">
              <a:avLst/>
            </a:prstGeom>
          </p:spPr>
          <p:txBody>
            <a:bodyPr anchor="ctr" rtlCol="false" tIns="0" lIns="0" bIns="0" rIns="0"/>
            <a:lstStyle/>
            <a:p>
              <a:pPr algn="ctr">
                <a:lnSpc>
                  <a:spcPts val="3035"/>
                </a:lnSpc>
              </a:pPr>
            </a:p>
          </p:txBody>
        </p:sp>
      </p:grpSp>
      <p:sp>
        <p:nvSpPr>
          <p:cNvPr name="Freeform 14" id="14"/>
          <p:cNvSpPr/>
          <p:nvPr/>
        </p:nvSpPr>
        <p:spPr>
          <a:xfrm flipH="false" flipV="false" rot="0">
            <a:off x="2814877" y="3087777"/>
            <a:ext cx="1125832" cy="1220414"/>
          </a:xfrm>
          <a:custGeom>
            <a:avLst/>
            <a:gdLst/>
            <a:ahLst/>
            <a:cxnLst/>
            <a:rect r="r" b="b" t="t" l="l"/>
            <a:pathLst>
              <a:path h="1220414" w="1125832">
                <a:moveTo>
                  <a:pt x="0" y="0"/>
                </a:moveTo>
                <a:lnTo>
                  <a:pt x="1125832" y="0"/>
                </a:lnTo>
                <a:lnTo>
                  <a:pt x="1125832" y="1220414"/>
                </a:lnTo>
                <a:lnTo>
                  <a:pt x="0" y="122041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5" id="15"/>
          <p:cNvSpPr txBox="true"/>
          <p:nvPr/>
        </p:nvSpPr>
        <p:spPr>
          <a:xfrm rot="0">
            <a:off x="5053811" y="7778866"/>
            <a:ext cx="7967591" cy="280393"/>
          </a:xfrm>
          <a:prstGeom prst="rect">
            <a:avLst/>
          </a:prstGeom>
        </p:spPr>
        <p:txBody>
          <a:bodyPr anchor="t" rtlCol="false" tIns="0" lIns="0" bIns="0" rIns="0">
            <a:spAutoFit/>
          </a:bodyPr>
          <a:lstStyle/>
          <a:p>
            <a:pPr algn="ctr" marL="0" indent="0" lvl="0">
              <a:lnSpc>
                <a:spcPts val="2285"/>
              </a:lnSpc>
            </a:pPr>
            <a:r>
              <a:rPr lang="en-US" sz="1718">
                <a:solidFill>
                  <a:srgbClr val="FBFEFE"/>
                </a:solidFill>
                <a:latin typeface="Questrial"/>
                <a:ea typeface="Questrial"/>
                <a:cs typeface="Questrial"/>
                <a:sym typeface="Questrial"/>
              </a:rPr>
              <a:t>www.unsitiogenial.es</a:t>
            </a:r>
          </a:p>
        </p:txBody>
      </p:sp>
      <p:sp>
        <p:nvSpPr>
          <p:cNvPr name="TextBox 16" id="16"/>
          <p:cNvSpPr txBox="true"/>
          <p:nvPr/>
        </p:nvSpPr>
        <p:spPr>
          <a:xfrm rot="0">
            <a:off x="4146471" y="5404742"/>
            <a:ext cx="9782272" cy="1872502"/>
          </a:xfrm>
          <a:prstGeom prst="rect">
            <a:avLst/>
          </a:prstGeom>
        </p:spPr>
        <p:txBody>
          <a:bodyPr anchor="t" rtlCol="false" tIns="0" lIns="0" bIns="0" rIns="0">
            <a:spAutoFit/>
          </a:bodyPr>
          <a:lstStyle/>
          <a:p>
            <a:pPr algn="ctr" marL="0" indent="0" lvl="0">
              <a:lnSpc>
                <a:spcPts val="12151"/>
              </a:lnSpc>
            </a:pPr>
            <a:r>
              <a:rPr lang="en-US" sz="12527">
                <a:solidFill>
                  <a:srgbClr val="FFFFFF"/>
                </a:solidFill>
                <a:latin typeface="Bungee"/>
                <a:ea typeface="Bungee"/>
                <a:cs typeface="Bungee"/>
                <a:sym typeface="Bungee"/>
              </a:rPr>
              <a:t>GRACIAS</a:t>
            </a:r>
          </a:p>
        </p:txBody>
      </p:sp>
      <p:sp>
        <p:nvSpPr>
          <p:cNvPr name="Freeform 17" id="17"/>
          <p:cNvSpPr/>
          <p:nvPr/>
        </p:nvSpPr>
        <p:spPr>
          <a:xfrm flipH="false" flipV="false" rot="0">
            <a:off x="3760149" y="1929397"/>
            <a:ext cx="1068605" cy="1158380"/>
          </a:xfrm>
          <a:custGeom>
            <a:avLst/>
            <a:gdLst/>
            <a:ahLst/>
            <a:cxnLst/>
            <a:rect r="r" b="b" t="t" l="l"/>
            <a:pathLst>
              <a:path h="1158380" w="1068605">
                <a:moveTo>
                  <a:pt x="0" y="0"/>
                </a:moveTo>
                <a:lnTo>
                  <a:pt x="1068605" y="0"/>
                </a:lnTo>
                <a:lnTo>
                  <a:pt x="1068605" y="1158380"/>
                </a:lnTo>
                <a:lnTo>
                  <a:pt x="0" y="115838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8" id="18"/>
          <p:cNvSpPr txBox="true"/>
          <p:nvPr/>
        </p:nvSpPr>
        <p:spPr>
          <a:xfrm rot="0">
            <a:off x="4146471" y="6064206"/>
            <a:ext cx="7992994" cy="3058529"/>
          </a:xfrm>
          <a:prstGeom prst="rect">
            <a:avLst/>
          </a:prstGeom>
        </p:spPr>
        <p:txBody>
          <a:bodyPr anchor="t" rtlCol="false" tIns="0" lIns="0" bIns="0" rIns="0">
            <a:spAutoFit/>
          </a:bodyPr>
          <a:lstStyle/>
          <a:p>
            <a:pPr algn="ctr">
              <a:lnSpc>
                <a:spcPts val="22364"/>
              </a:lnSpc>
              <a:spcBef>
                <a:spcPct val="0"/>
              </a:spcBef>
            </a:pPr>
            <a:r>
              <a:rPr lang="en-US" sz="16206" spc="-1879">
                <a:solidFill>
                  <a:srgbClr val="FFFFFF"/>
                </a:solidFill>
                <a:latin typeface="Bungee"/>
                <a:ea typeface="Bungee"/>
                <a:cs typeface="Bungee"/>
                <a:sym typeface="Bungee"/>
              </a:rPr>
              <a:t>-----------</a:t>
            </a:r>
          </a:p>
        </p:txBody>
      </p:sp>
      <p:sp>
        <p:nvSpPr>
          <p:cNvPr name="TextBox 19" id="19"/>
          <p:cNvSpPr txBox="true"/>
          <p:nvPr/>
        </p:nvSpPr>
        <p:spPr>
          <a:xfrm rot="0">
            <a:off x="337679" y="152498"/>
            <a:ext cx="371177" cy="465921"/>
          </a:xfrm>
          <a:prstGeom prst="rect">
            <a:avLst/>
          </a:prstGeom>
        </p:spPr>
        <p:txBody>
          <a:bodyPr anchor="t" rtlCol="false" tIns="0" lIns="0" bIns="0" rIns="0">
            <a:spAutoFit/>
          </a:bodyPr>
          <a:lstStyle/>
          <a:p>
            <a:pPr algn="ctr">
              <a:lnSpc>
                <a:spcPts val="3719"/>
              </a:lnSpc>
              <a:spcBef>
                <a:spcPct val="0"/>
              </a:spcBef>
            </a:pPr>
            <a:r>
              <a:rPr lang="en-US" sz="2656">
                <a:solidFill>
                  <a:srgbClr val="000000"/>
                </a:solidFill>
                <a:latin typeface="Questrial"/>
                <a:ea typeface="Questrial"/>
                <a:cs typeface="Questrial"/>
                <a:sym typeface="Questrial"/>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DAHTIBolbZ4</dc:identifier>
  <dcterms:modified xsi:type="dcterms:W3CDTF">2011-08-01T06:04:30Z</dcterms:modified>
  <cp:revision>1</cp:revision>
  <dc:title>PresentacionFase1</dc:title>
</cp:coreProperties>
</file>