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Bungee" charset="1" panose="00000000000000000000"/>
      <p:regular r:id="rId23"/>
    </p:embeddedFont>
    <p:embeddedFont>
      <p:font typeface="Questrial"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 Id="rId9" Target="../media/image2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9.pn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2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31.png" Type="http://schemas.openxmlformats.org/officeDocument/2006/relationships/image"/><Relationship Id="rId5" Target="../media/image3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3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21.jpe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 Id="rId9" Target="../media/image3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 Id="rId7" Target="../media/image3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41.png" Type="http://schemas.openxmlformats.org/officeDocument/2006/relationships/image"/><Relationship Id="rId12" Target="../media/image42.svg" Type="http://schemas.openxmlformats.org/officeDocument/2006/relationships/image"/><Relationship Id="rId13" Target="../media/image19.png" Type="http://schemas.openxmlformats.org/officeDocument/2006/relationships/image"/><Relationship Id="rId14" Target="../media/image20.svg" Type="http://schemas.openxmlformats.org/officeDocument/2006/relationships/image"/><Relationship Id="rId2" Target="../media/image39.png" Type="http://schemas.openxmlformats.org/officeDocument/2006/relationships/image"/><Relationship Id="rId3" Target="../media/image4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sp>
        <p:nvSpPr>
          <p:cNvPr name="Freeform 2" id="2"/>
          <p:cNvSpPr/>
          <p:nvPr/>
        </p:nvSpPr>
        <p:spPr>
          <a:xfrm flipH="false" flipV="false" rot="0">
            <a:off x="661197" y="532247"/>
            <a:ext cx="16999315" cy="9114006"/>
          </a:xfrm>
          <a:custGeom>
            <a:avLst/>
            <a:gdLst/>
            <a:ahLst/>
            <a:cxnLst/>
            <a:rect r="r" b="b" t="t" l="l"/>
            <a:pathLst>
              <a:path h="9114006" w="16999315">
                <a:moveTo>
                  <a:pt x="0" y="0"/>
                </a:moveTo>
                <a:lnTo>
                  <a:pt x="16999315" y="0"/>
                </a:lnTo>
                <a:lnTo>
                  <a:pt x="16999315" y="9114006"/>
                </a:lnTo>
                <a:lnTo>
                  <a:pt x="0" y="91140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684322" y="4529166"/>
            <a:ext cx="11230623" cy="7330535"/>
          </a:xfrm>
          <a:custGeom>
            <a:avLst/>
            <a:gdLst/>
            <a:ahLst/>
            <a:cxnLst/>
            <a:rect r="r" b="b" t="t" l="l"/>
            <a:pathLst>
              <a:path h="7330535" w="11230623">
                <a:moveTo>
                  <a:pt x="0" y="0"/>
                </a:moveTo>
                <a:lnTo>
                  <a:pt x="11230622" y="0"/>
                </a:lnTo>
                <a:lnTo>
                  <a:pt x="11230622" y="7330535"/>
                </a:lnTo>
                <a:lnTo>
                  <a:pt x="0" y="7330535"/>
                </a:lnTo>
                <a:lnTo>
                  <a:pt x="0" y="0"/>
                </a:lnTo>
                <a:close/>
              </a:path>
            </a:pathLst>
          </a:custGeom>
          <a:blipFill>
            <a:blip r:embed="rId4">
              <a:extLst>
                <a:ext uri="{96DAC541-7B7A-43D3-8B79-37D633B846F1}">
                  <asvg:svgBlip xmlns:asvg="http://schemas.microsoft.com/office/drawing/2016/SVG/main" r:embed="rId5"/>
                </a:ext>
              </a:extLst>
            </a:blip>
            <a:stretch>
              <a:fillRect l="0" t="-180" r="0" b="-180"/>
            </a:stretch>
          </a:blipFill>
        </p:spPr>
      </p:sp>
      <p:sp>
        <p:nvSpPr>
          <p:cNvPr name="Freeform 4" id="4"/>
          <p:cNvSpPr/>
          <p:nvPr/>
        </p:nvSpPr>
        <p:spPr>
          <a:xfrm flipH="false" flipV="false" rot="0">
            <a:off x="14784505" y="-693610"/>
            <a:ext cx="10126256" cy="6609683"/>
          </a:xfrm>
          <a:custGeom>
            <a:avLst/>
            <a:gdLst/>
            <a:ahLst/>
            <a:cxnLst/>
            <a:rect r="r" b="b" t="t" l="l"/>
            <a:pathLst>
              <a:path h="6609683" w="10126256">
                <a:moveTo>
                  <a:pt x="0" y="0"/>
                </a:moveTo>
                <a:lnTo>
                  <a:pt x="10126256" y="0"/>
                </a:lnTo>
                <a:lnTo>
                  <a:pt x="10126256" y="6609683"/>
                </a:lnTo>
                <a:lnTo>
                  <a:pt x="0" y="6609683"/>
                </a:lnTo>
                <a:lnTo>
                  <a:pt x="0" y="0"/>
                </a:lnTo>
                <a:close/>
              </a:path>
            </a:pathLst>
          </a:custGeom>
          <a:blipFill>
            <a:blip r:embed="rId4">
              <a:extLst>
                <a:ext uri="{96DAC541-7B7A-43D3-8B79-37D633B846F1}">
                  <asvg:svgBlip xmlns:asvg="http://schemas.microsoft.com/office/drawing/2016/SVG/main" r:embed="rId5"/>
                </a:ext>
              </a:extLst>
            </a:blip>
            <a:stretch>
              <a:fillRect l="0" t="-179" r="0" b="-179"/>
            </a:stretch>
          </a:blipFill>
        </p:spPr>
      </p:sp>
      <p:sp>
        <p:nvSpPr>
          <p:cNvPr name="Freeform 5" id="5"/>
          <p:cNvSpPr/>
          <p:nvPr/>
        </p:nvSpPr>
        <p:spPr>
          <a:xfrm flipH="false" flipV="false" rot="0">
            <a:off x="1952158" y="338138"/>
            <a:ext cx="898808" cy="2019795"/>
          </a:xfrm>
          <a:custGeom>
            <a:avLst/>
            <a:gdLst/>
            <a:ahLst/>
            <a:cxnLst/>
            <a:rect r="r" b="b" t="t" l="l"/>
            <a:pathLst>
              <a:path h="2019795" w="898808">
                <a:moveTo>
                  <a:pt x="0" y="0"/>
                </a:moveTo>
                <a:lnTo>
                  <a:pt x="898808" y="0"/>
                </a:lnTo>
                <a:lnTo>
                  <a:pt x="898808" y="2019795"/>
                </a:lnTo>
                <a:lnTo>
                  <a:pt x="0" y="2019795"/>
                </a:lnTo>
                <a:lnTo>
                  <a:pt x="0" y="0"/>
                </a:lnTo>
                <a:close/>
              </a:path>
            </a:pathLst>
          </a:custGeom>
          <a:blipFill>
            <a:blip r:embed="rId6">
              <a:extLst>
                <a:ext uri="{96DAC541-7B7A-43D3-8B79-37D633B846F1}">
                  <asvg:svgBlip xmlns:asvg="http://schemas.microsoft.com/office/drawing/2016/SVG/main" r:embed="rId7"/>
                </a:ext>
              </a:extLst>
            </a:blip>
            <a:stretch>
              <a:fillRect l="-113" t="0" r="-113" b="0"/>
            </a:stretch>
          </a:blipFill>
        </p:spPr>
      </p:sp>
      <p:sp>
        <p:nvSpPr>
          <p:cNvPr name="Freeform 6" id="6"/>
          <p:cNvSpPr/>
          <p:nvPr/>
        </p:nvSpPr>
        <p:spPr>
          <a:xfrm flipH="true" flipV="false" rot="1935360">
            <a:off x="15277176" y="6801726"/>
            <a:ext cx="1183605" cy="2188483"/>
          </a:xfrm>
          <a:custGeom>
            <a:avLst/>
            <a:gdLst/>
            <a:ahLst/>
            <a:cxnLst/>
            <a:rect r="r" b="b" t="t" l="l"/>
            <a:pathLst>
              <a:path h="2188483" w="1183605">
                <a:moveTo>
                  <a:pt x="1183605" y="0"/>
                </a:moveTo>
                <a:lnTo>
                  <a:pt x="0" y="0"/>
                </a:lnTo>
                <a:lnTo>
                  <a:pt x="0" y="2188483"/>
                </a:lnTo>
                <a:lnTo>
                  <a:pt x="1183605" y="2188483"/>
                </a:lnTo>
                <a:lnTo>
                  <a:pt x="1183605" y="0"/>
                </a:lnTo>
                <a:close/>
              </a:path>
            </a:pathLst>
          </a:custGeom>
          <a:blipFill>
            <a:blip r:embed="rId8">
              <a:extLst>
                <a:ext uri="{96DAC541-7B7A-43D3-8B79-37D633B846F1}">
                  <asvg:svgBlip xmlns:asvg="http://schemas.microsoft.com/office/drawing/2016/SVG/main" r:embed="rId9"/>
                </a:ext>
              </a:extLst>
            </a:blip>
            <a:stretch>
              <a:fillRect l="-244" t="0" r="-244" b="0"/>
            </a:stretch>
          </a:blipFill>
        </p:spPr>
      </p:sp>
      <p:grpSp>
        <p:nvGrpSpPr>
          <p:cNvPr name="Group 7" id="7"/>
          <p:cNvGrpSpPr/>
          <p:nvPr/>
        </p:nvGrpSpPr>
        <p:grpSpPr>
          <a:xfrm rot="2483640">
            <a:off x="8424586" y="1490243"/>
            <a:ext cx="1472546" cy="1487729"/>
            <a:chOff x="0" y="0"/>
            <a:chExt cx="1963395" cy="1983638"/>
          </a:xfrm>
        </p:grpSpPr>
        <p:sp>
          <p:nvSpPr>
            <p:cNvPr name="Freeform 8" id="8"/>
            <p:cNvSpPr/>
            <p:nvPr/>
          </p:nvSpPr>
          <p:spPr>
            <a:xfrm flipH="false" flipV="false" rot="0">
              <a:off x="0" y="0"/>
              <a:ext cx="1963420" cy="1983613"/>
            </a:xfrm>
            <a:custGeom>
              <a:avLst/>
              <a:gdLst/>
              <a:ahLst/>
              <a:cxnLst/>
              <a:rect r="r" b="b" t="t" l="l"/>
              <a:pathLst>
                <a:path h="1983613" w="1963420">
                  <a:moveTo>
                    <a:pt x="0" y="0"/>
                  </a:moveTo>
                  <a:lnTo>
                    <a:pt x="1963420" y="0"/>
                  </a:lnTo>
                  <a:lnTo>
                    <a:pt x="1963420" y="1983613"/>
                  </a:lnTo>
                  <a:lnTo>
                    <a:pt x="0" y="1983613"/>
                  </a:lnTo>
                  <a:lnTo>
                    <a:pt x="0" y="0"/>
                  </a:lnTo>
                  <a:close/>
                </a:path>
              </a:pathLst>
            </a:custGeom>
            <a:blipFill>
              <a:blip r:embed="rId10"/>
              <a:stretch>
                <a:fillRect l="-354" t="0" r="-353" b="-1"/>
              </a:stretch>
            </a:blipFill>
          </p:spPr>
        </p:sp>
      </p:grpSp>
      <p:sp>
        <p:nvSpPr>
          <p:cNvPr name="Freeform 9" id="9"/>
          <p:cNvSpPr/>
          <p:nvPr/>
        </p:nvSpPr>
        <p:spPr>
          <a:xfrm flipH="false" flipV="false" rot="0">
            <a:off x="2973514" y="4460805"/>
            <a:ext cx="12340981" cy="2547214"/>
          </a:xfrm>
          <a:custGeom>
            <a:avLst/>
            <a:gdLst/>
            <a:ahLst/>
            <a:cxnLst/>
            <a:rect r="r" b="b" t="t" l="l"/>
            <a:pathLst>
              <a:path h="2547214" w="12340981">
                <a:moveTo>
                  <a:pt x="0" y="0"/>
                </a:moveTo>
                <a:lnTo>
                  <a:pt x="12340981" y="0"/>
                </a:lnTo>
                <a:lnTo>
                  <a:pt x="12340981" y="2547214"/>
                </a:lnTo>
                <a:lnTo>
                  <a:pt x="0" y="254721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0" id="10"/>
          <p:cNvSpPr txBox="true"/>
          <p:nvPr/>
        </p:nvSpPr>
        <p:spPr>
          <a:xfrm rot="0">
            <a:off x="2802303" y="3012281"/>
            <a:ext cx="12683404" cy="1811855"/>
          </a:xfrm>
          <a:prstGeom prst="rect">
            <a:avLst/>
          </a:prstGeom>
        </p:spPr>
        <p:txBody>
          <a:bodyPr anchor="t" rtlCol="false" tIns="0" lIns="0" bIns="0" rIns="0">
            <a:spAutoFit/>
          </a:bodyPr>
          <a:lstStyle/>
          <a:p>
            <a:pPr algn="ctr">
              <a:lnSpc>
                <a:spcPts val="11504"/>
              </a:lnSpc>
            </a:pPr>
            <a:r>
              <a:rPr lang="en-US" sz="10181">
                <a:solidFill>
                  <a:srgbClr val="000000"/>
                </a:solidFill>
                <a:latin typeface="Bungee"/>
                <a:ea typeface="Bungee"/>
                <a:cs typeface="Bungee"/>
                <a:sym typeface="Bungee"/>
              </a:rPr>
              <a:t>PROYECTO:</a:t>
            </a:r>
          </a:p>
        </p:txBody>
      </p:sp>
      <p:sp>
        <p:nvSpPr>
          <p:cNvPr name="TextBox 11" id="11"/>
          <p:cNvSpPr txBox="true"/>
          <p:nvPr/>
        </p:nvSpPr>
        <p:spPr>
          <a:xfrm rot="0">
            <a:off x="3042171" y="5031219"/>
            <a:ext cx="12237368" cy="1890655"/>
          </a:xfrm>
          <a:prstGeom prst="rect">
            <a:avLst/>
          </a:prstGeom>
        </p:spPr>
        <p:txBody>
          <a:bodyPr anchor="t" rtlCol="false" tIns="0" lIns="0" bIns="0" rIns="0">
            <a:spAutoFit/>
          </a:bodyPr>
          <a:lstStyle/>
          <a:p>
            <a:pPr algn="ctr">
              <a:lnSpc>
                <a:spcPts val="12449"/>
              </a:lnSpc>
            </a:pPr>
            <a:r>
              <a:rPr lang="en-US" sz="12834">
                <a:solidFill>
                  <a:srgbClr val="FFFFFF"/>
                </a:solidFill>
                <a:latin typeface="Bungee"/>
                <a:ea typeface="Bungee"/>
                <a:cs typeface="Bungee"/>
                <a:sym typeface="Bungee"/>
              </a:rPr>
              <a:t>RUTAGEST</a:t>
            </a:r>
          </a:p>
        </p:txBody>
      </p:sp>
      <p:sp>
        <p:nvSpPr>
          <p:cNvPr name="TextBox 12" id="12"/>
          <p:cNvSpPr txBox="true"/>
          <p:nvPr/>
        </p:nvSpPr>
        <p:spPr>
          <a:xfrm rot="0">
            <a:off x="2688822" y="7327487"/>
            <a:ext cx="12237368" cy="1319022"/>
          </a:xfrm>
          <a:prstGeom prst="rect">
            <a:avLst/>
          </a:prstGeom>
        </p:spPr>
        <p:txBody>
          <a:bodyPr anchor="t" rtlCol="false" tIns="0" lIns="0" bIns="0" rIns="0">
            <a:spAutoFit/>
          </a:bodyPr>
          <a:lstStyle/>
          <a:p>
            <a:pPr algn="ctr">
              <a:lnSpc>
                <a:spcPts val="3174"/>
              </a:lnSpc>
            </a:pPr>
            <a:r>
              <a:rPr lang="en-US" sz="2300" spc="-265">
                <a:solidFill>
                  <a:srgbClr val="000000"/>
                </a:solidFill>
                <a:latin typeface="Bungee"/>
                <a:ea typeface="Bungee"/>
                <a:cs typeface="Bungee"/>
                <a:sym typeface="Bungee"/>
              </a:rPr>
              <a:t>Integrantes:  Sebastian  cabrera,  cristobal oyarzun.</a:t>
            </a:r>
          </a:p>
          <a:p>
            <a:pPr algn="ctr">
              <a:lnSpc>
                <a:spcPts val="3174"/>
              </a:lnSpc>
            </a:pPr>
            <a:r>
              <a:rPr lang="en-US" sz="2300" spc="-265">
                <a:solidFill>
                  <a:srgbClr val="000000"/>
                </a:solidFill>
                <a:latin typeface="Bungee"/>
                <a:ea typeface="Bungee"/>
                <a:cs typeface="Bungee"/>
                <a:sym typeface="Bungee"/>
              </a:rPr>
              <a:t>docente:  Mauricio  Figueroa</a:t>
            </a:r>
          </a:p>
          <a:p>
            <a:pPr algn="ctr">
              <a:lnSpc>
                <a:spcPts val="3174"/>
              </a:lnSpc>
            </a:pPr>
            <a:r>
              <a:rPr lang="en-US" sz="2300" spc="-265">
                <a:solidFill>
                  <a:srgbClr val="000000"/>
                </a:solidFill>
                <a:latin typeface="Bungee"/>
                <a:ea typeface="Bungee"/>
                <a:cs typeface="Bungee"/>
                <a:sym typeface="Bungee"/>
              </a:rPr>
              <a:t>Asignatura:  Capstone  oo2d</a:t>
            </a:r>
          </a:p>
        </p:txBody>
      </p:sp>
      <p:sp>
        <p:nvSpPr>
          <p:cNvPr name="TextBox 13" id="13"/>
          <p:cNvSpPr txBox="true"/>
          <p:nvPr/>
        </p:nvSpPr>
        <p:spPr>
          <a:xfrm rot="0">
            <a:off x="430473" y="85820"/>
            <a:ext cx="185585" cy="532600"/>
          </a:xfrm>
          <a:prstGeom prst="rect">
            <a:avLst/>
          </a:prstGeom>
        </p:spPr>
        <p:txBody>
          <a:bodyPr anchor="t" rtlCol="false" tIns="0" lIns="0" bIns="0" rIns="0">
            <a:spAutoFit/>
          </a:bodyPr>
          <a:lstStyle/>
          <a:p>
            <a:pPr algn="ctr">
              <a:lnSpc>
                <a:spcPts val="3719"/>
              </a:lnSpc>
            </a:pPr>
            <a:r>
              <a:rPr lang="en-US" sz="2655">
                <a:solidFill>
                  <a:srgbClr val="000000"/>
                </a:solidFill>
                <a:latin typeface="Questrial"/>
                <a:ea typeface="Questrial"/>
                <a:cs typeface="Questrial"/>
                <a:sym typeface="Questrial"/>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sp>
        <p:nvSpPr>
          <p:cNvPr name="Freeform 2" id="2"/>
          <p:cNvSpPr/>
          <p:nvPr/>
        </p:nvSpPr>
        <p:spPr>
          <a:xfrm flipH="false" flipV="false" rot="0">
            <a:off x="734749" y="361283"/>
            <a:ext cx="16818493" cy="9365523"/>
          </a:xfrm>
          <a:custGeom>
            <a:avLst/>
            <a:gdLst/>
            <a:ahLst/>
            <a:cxnLst/>
            <a:rect r="r" b="b" t="t" l="l"/>
            <a:pathLst>
              <a:path h="9365523" w="16818493">
                <a:moveTo>
                  <a:pt x="0" y="0"/>
                </a:moveTo>
                <a:lnTo>
                  <a:pt x="16818493" y="0"/>
                </a:lnTo>
                <a:lnTo>
                  <a:pt x="16818493" y="9365523"/>
                </a:lnTo>
                <a:lnTo>
                  <a:pt x="0" y="9365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15780">
            <a:off x="10174957" y="1819227"/>
            <a:ext cx="6226464" cy="0"/>
          </a:xfrm>
          <a:prstGeom prst="line">
            <a:avLst/>
          </a:prstGeom>
          <a:ln cap="rnd" w="19050">
            <a:solidFill>
              <a:srgbClr val="000000"/>
            </a:solidFill>
            <a:prstDash val="solid"/>
            <a:headEnd type="none" len="sm" w="sm"/>
            <a:tailEnd type="none" len="sm" w="sm"/>
          </a:ln>
        </p:spPr>
      </p:sp>
      <p:sp>
        <p:nvSpPr>
          <p:cNvPr name="AutoShape 4" id="4"/>
          <p:cNvSpPr/>
          <p:nvPr/>
        </p:nvSpPr>
        <p:spPr>
          <a:xfrm rot="15780">
            <a:off x="10174957" y="2604583"/>
            <a:ext cx="6226464" cy="0"/>
          </a:xfrm>
          <a:prstGeom prst="line">
            <a:avLst/>
          </a:prstGeom>
          <a:ln cap="rnd" w="19050">
            <a:solidFill>
              <a:srgbClr val="000000"/>
            </a:solidFill>
            <a:prstDash val="solid"/>
            <a:headEnd type="none" len="sm" w="sm"/>
            <a:tailEnd type="none" len="sm" w="sm"/>
          </a:ln>
        </p:spPr>
      </p:sp>
      <p:sp>
        <p:nvSpPr>
          <p:cNvPr name="AutoShape 5" id="5"/>
          <p:cNvSpPr/>
          <p:nvPr/>
        </p:nvSpPr>
        <p:spPr>
          <a:xfrm rot="15780">
            <a:off x="10174957" y="3389928"/>
            <a:ext cx="6226464" cy="0"/>
          </a:xfrm>
          <a:prstGeom prst="line">
            <a:avLst/>
          </a:prstGeom>
          <a:ln cap="rnd" w="19050">
            <a:solidFill>
              <a:srgbClr val="000000"/>
            </a:solidFill>
            <a:prstDash val="solid"/>
            <a:headEnd type="none" len="sm" w="sm"/>
            <a:tailEnd type="none" len="sm" w="sm"/>
          </a:ln>
        </p:spPr>
      </p:sp>
      <p:sp>
        <p:nvSpPr>
          <p:cNvPr name="AutoShape 6" id="6"/>
          <p:cNvSpPr/>
          <p:nvPr/>
        </p:nvSpPr>
        <p:spPr>
          <a:xfrm rot="15780">
            <a:off x="10174957" y="4175274"/>
            <a:ext cx="6226464" cy="0"/>
          </a:xfrm>
          <a:prstGeom prst="line">
            <a:avLst/>
          </a:prstGeom>
          <a:ln cap="rnd" w="19050">
            <a:solidFill>
              <a:srgbClr val="000000"/>
            </a:solidFill>
            <a:prstDash val="solid"/>
            <a:headEnd type="none" len="sm" w="sm"/>
            <a:tailEnd type="none" len="sm" w="sm"/>
          </a:ln>
        </p:spPr>
      </p:sp>
      <p:sp>
        <p:nvSpPr>
          <p:cNvPr name="AutoShape 7" id="7"/>
          <p:cNvSpPr/>
          <p:nvPr/>
        </p:nvSpPr>
        <p:spPr>
          <a:xfrm rot="15780">
            <a:off x="10174957" y="4960620"/>
            <a:ext cx="6226464" cy="0"/>
          </a:xfrm>
          <a:prstGeom prst="line">
            <a:avLst/>
          </a:prstGeom>
          <a:ln cap="rnd" w="19050">
            <a:solidFill>
              <a:srgbClr val="000000"/>
            </a:solidFill>
            <a:prstDash val="solid"/>
            <a:headEnd type="none" len="sm" w="sm"/>
            <a:tailEnd type="none" len="sm" w="sm"/>
          </a:ln>
        </p:spPr>
      </p:sp>
      <p:sp>
        <p:nvSpPr>
          <p:cNvPr name="AutoShape 8" id="8"/>
          <p:cNvSpPr/>
          <p:nvPr/>
        </p:nvSpPr>
        <p:spPr>
          <a:xfrm rot="-15780">
            <a:off x="10174957" y="1033462"/>
            <a:ext cx="6226464" cy="0"/>
          </a:xfrm>
          <a:prstGeom prst="line">
            <a:avLst/>
          </a:prstGeom>
          <a:ln cap="rnd" w="19050">
            <a:solidFill>
              <a:srgbClr val="000000"/>
            </a:solidFill>
            <a:prstDash val="solid"/>
            <a:headEnd type="none" len="sm" w="sm"/>
            <a:tailEnd type="none" len="sm" w="sm"/>
          </a:ln>
        </p:spPr>
      </p:sp>
      <p:sp>
        <p:nvSpPr>
          <p:cNvPr name="AutoShape 9" id="9"/>
          <p:cNvSpPr/>
          <p:nvPr/>
        </p:nvSpPr>
        <p:spPr>
          <a:xfrm rot="15780">
            <a:off x="10174957" y="5785171"/>
            <a:ext cx="6226464" cy="0"/>
          </a:xfrm>
          <a:prstGeom prst="line">
            <a:avLst/>
          </a:prstGeom>
          <a:ln cap="rnd" w="19050">
            <a:solidFill>
              <a:srgbClr val="000000"/>
            </a:solidFill>
            <a:prstDash val="solid"/>
            <a:headEnd type="none" len="sm" w="sm"/>
            <a:tailEnd type="none" len="sm" w="sm"/>
          </a:ln>
        </p:spPr>
      </p:sp>
      <p:sp>
        <p:nvSpPr>
          <p:cNvPr name="AutoShape 10" id="10"/>
          <p:cNvSpPr/>
          <p:nvPr/>
        </p:nvSpPr>
        <p:spPr>
          <a:xfrm rot="15780">
            <a:off x="10174957" y="6570516"/>
            <a:ext cx="6226464" cy="0"/>
          </a:xfrm>
          <a:prstGeom prst="line">
            <a:avLst/>
          </a:prstGeom>
          <a:ln cap="rnd" w="19050">
            <a:solidFill>
              <a:srgbClr val="000000"/>
            </a:solidFill>
            <a:prstDash val="solid"/>
            <a:headEnd type="none" len="sm" w="sm"/>
            <a:tailEnd type="none" len="sm" w="sm"/>
          </a:ln>
        </p:spPr>
      </p:sp>
      <p:sp>
        <p:nvSpPr>
          <p:cNvPr name="AutoShape 11" id="11"/>
          <p:cNvSpPr/>
          <p:nvPr/>
        </p:nvSpPr>
        <p:spPr>
          <a:xfrm rot="15780">
            <a:off x="10174957" y="7355862"/>
            <a:ext cx="6226464" cy="0"/>
          </a:xfrm>
          <a:prstGeom prst="line">
            <a:avLst/>
          </a:prstGeom>
          <a:ln cap="rnd" w="19050">
            <a:solidFill>
              <a:srgbClr val="000000"/>
            </a:solidFill>
            <a:prstDash val="solid"/>
            <a:headEnd type="none" len="sm" w="sm"/>
            <a:tailEnd type="none" len="sm" w="sm"/>
          </a:ln>
        </p:spPr>
      </p:sp>
      <p:sp>
        <p:nvSpPr>
          <p:cNvPr name="TextBox 12" id="12"/>
          <p:cNvSpPr txBox="true"/>
          <p:nvPr/>
        </p:nvSpPr>
        <p:spPr>
          <a:xfrm rot="0">
            <a:off x="10189274" y="1086583"/>
            <a:ext cx="6474285" cy="537000"/>
          </a:xfrm>
          <a:prstGeom prst="rect">
            <a:avLst/>
          </a:prstGeom>
        </p:spPr>
        <p:txBody>
          <a:bodyPr anchor="t" rtlCol="false" tIns="0" lIns="0" bIns="0" rIns="0">
            <a:spAutoFit/>
          </a:bodyPr>
          <a:lstStyle/>
          <a:p>
            <a:pPr algn="l">
              <a:lnSpc>
                <a:spcPts val="3719"/>
              </a:lnSpc>
            </a:pPr>
            <a:r>
              <a:rPr lang="en-US" sz="2655">
                <a:solidFill>
                  <a:srgbClr val="05061C"/>
                </a:solidFill>
                <a:latin typeface="Questrial"/>
                <a:ea typeface="Questrial"/>
                <a:cs typeface="Questrial"/>
                <a:sym typeface="Questrial"/>
              </a:rPr>
              <a:t>01. Contexto</a:t>
            </a:r>
          </a:p>
        </p:txBody>
      </p:sp>
      <p:sp>
        <p:nvSpPr>
          <p:cNvPr name="TextBox 13" id="13"/>
          <p:cNvSpPr txBox="true"/>
          <p:nvPr/>
        </p:nvSpPr>
        <p:spPr>
          <a:xfrm rot="0">
            <a:off x="10189274" y="1867100"/>
            <a:ext cx="6474285" cy="537000"/>
          </a:xfrm>
          <a:prstGeom prst="rect">
            <a:avLst/>
          </a:prstGeom>
        </p:spPr>
        <p:txBody>
          <a:bodyPr anchor="t" rtlCol="false" tIns="0" lIns="0" bIns="0" rIns="0">
            <a:spAutoFit/>
          </a:bodyPr>
          <a:lstStyle/>
          <a:p>
            <a:pPr algn="l">
              <a:lnSpc>
                <a:spcPts val="3719"/>
              </a:lnSpc>
            </a:pPr>
            <a:r>
              <a:rPr lang="en-US" sz="2655">
                <a:solidFill>
                  <a:srgbClr val="05061C"/>
                </a:solidFill>
                <a:latin typeface="Questrial"/>
                <a:ea typeface="Questrial"/>
                <a:cs typeface="Questrial"/>
                <a:sym typeface="Questrial"/>
              </a:rPr>
              <a:t>02. Problema</a:t>
            </a:r>
          </a:p>
        </p:txBody>
      </p:sp>
      <p:sp>
        <p:nvSpPr>
          <p:cNvPr name="TextBox 14" id="14"/>
          <p:cNvSpPr txBox="true"/>
          <p:nvPr/>
        </p:nvSpPr>
        <p:spPr>
          <a:xfrm rot="0">
            <a:off x="10189274" y="2661923"/>
            <a:ext cx="6474285" cy="537000"/>
          </a:xfrm>
          <a:prstGeom prst="rect">
            <a:avLst/>
          </a:prstGeom>
        </p:spPr>
        <p:txBody>
          <a:bodyPr anchor="t" rtlCol="false" tIns="0" lIns="0" bIns="0" rIns="0">
            <a:spAutoFit/>
          </a:bodyPr>
          <a:lstStyle/>
          <a:p>
            <a:pPr algn="l">
              <a:lnSpc>
                <a:spcPts val="3719"/>
              </a:lnSpc>
            </a:pPr>
            <a:r>
              <a:rPr lang="en-US" sz="2655">
                <a:solidFill>
                  <a:srgbClr val="05061C"/>
                </a:solidFill>
                <a:latin typeface="Questrial"/>
                <a:ea typeface="Questrial"/>
                <a:cs typeface="Questrial"/>
                <a:sym typeface="Questrial"/>
              </a:rPr>
              <a:t>03. Necesidad</a:t>
            </a:r>
          </a:p>
        </p:txBody>
      </p:sp>
      <p:sp>
        <p:nvSpPr>
          <p:cNvPr name="TextBox 15" id="15"/>
          <p:cNvSpPr txBox="true"/>
          <p:nvPr/>
        </p:nvSpPr>
        <p:spPr>
          <a:xfrm rot="0">
            <a:off x="10189274" y="3445393"/>
            <a:ext cx="6474285" cy="537000"/>
          </a:xfrm>
          <a:prstGeom prst="rect">
            <a:avLst/>
          </a:prstGeom>
        </p:spPr>
        <p:txBody>
          <a:bodyPr anchor="t" rtlCol="false" tIns="0" lIns="0" bIns="0" rIns="0">
            <a:spAutoFit/>
          </a:bodyPr>
          <a:lstStyle/>
          <a:p>
            <a:pPr algn="l">
              <a:lnSpc>
                <a:spcPts val="3719"/>
              </a:lnSpc>
            </a:pPr>
            <a:r>
              <a:rPr lang="en-US" sz="2655">
                <a:solidFill>
                  <a:srgbClr val="05061C"/>
                </a:solidFill>
                <a:latin typeface="Questrial"/>
                <a:ea typeface="Questrial"/>
                <a:cs typeface="Questrial"/>
                <a:sym typeface="Questrial"/>
              </a:rPr>
              <a:t>04. Solucion</a:t>
            </a:r>
          </a:p>
        </p:txBody>
      </p:sp>
      <p:sp>
        <p:nvSpPr>
          <p:cNvPr name="TextBox 16" id="16"/>
          <p:cNvSpPr txBox="true"/>
          <p:nvPr/>
        </p:nvSpPr>
        <p:spPr>
          <a:xfrm rot="0">
            <a:off x="10189274" y="4230748"/>
            <a:ext cx="6474285" cy="537000"/>
          </a:xfrm>
          <a:prstGeom prst="rect">
            <a:avLst/>
          </a:prstGeom>
        </p:spPr>
        <p:txBody>
          <a:bodyPr anchor="t" rtlCol="false" tIns="0" lIns="0" bIns="0" rIns="0">
            <a:spAutoFit/>
          </a:bodyPr>
          <a:lstStyle/>
          <a:p>
            <a:pPr algn="l">
              <a:lnSpc>
                <a:spcPts val="3719"/>
              </a:lnSpc>
            </a:pPr>
            <a:r>
              <a:rPr lang="en-US" sz="2655">
                <a:solidFill>
                  <a:srgbClr val="05061C"/>
                </a:solidFill>
                <a:latin typeface="Questrial"/>
                <a:ea typeface="Questrial"/>
                <a:cs typeface="Questrial"/>
                <a:sym typeface="Questrial"/>
              </a:rPr>
              <a:t>05. Requerimientos</a:t>
            </a:r>
          </a:p>
        </p:txBody>
      </p:sp>
      <p:sp>
        <p:nvSpPr>
          <p:cNvPr name="TextBox 17" id="17"/>
          <p:cNvSpPr txBox="true"/>
          <p:nvPr/>
        </p:nvSpPr>
        <p:spPr>
          <a:xfrm rot="0">
            <a:off x="10189274" y="5057165"/>
            <a:ext cx="6474285" cy="537000"/>
          </a:xfrm>
          <a:prstGeom prst="rect">
            <a:avLst/>
          </a:prstGeom>
        </p:spPr>
        <p:txBody>
          <a:bodyPr anchor="t" rtlCol="false" tIns="0" lIns="0" bIns="0" rIns="0">
            <a:spAutoFit/>
          </a:bodyPr>
          <a:lstStyle/>
          <a:p>
            <a:pPr algn="l">
              <a:lnSpc>
                <a:spcPts val="3719"/>
              </a:lnSpc>
            </a:pPr>
            <a:r>
              <a:rPr lang="en-US" sz="2655">
                <a:solidFill>
                  <a:srgbClr val="05061C"/>
                </a:solidFill>
                <a:latin typeface="Questrial"/>
                <a:ea typeface="Questrial"/>
                <a:cs typeface="Questrial"/>
                <a:sym typeface="Questrial"/>
              </a:rPr>
              <a:t>06. Arquitecturas</a:t>
            </a:r>
          </a:p>
        </p:txBody>
      </p:sp>
      <p:sp>
        <p:nvSpPr>
          <p:cNvPr name="TextBox 18" id="18"/>
          <p:cNvSpPr txBox="true"/>
          <p:nvPr/>
        </p:nvSpPr>
        <p:spPr>
          <a:xfrm rot="0">
            <a:off x="10189274" y="5840635"/>
            <a:ext cx="6474285" cy="537000"/>
          </a:xfrm>
          <a:prstGeom prst="rect">
            <a:avLst/>
          </a:prstGeom>
        </p:spPr>
        <p:txBody>
          <a:bodyPr anchor="t" rtlCol="false" tIns="0" lIns="0" bIns="0" rIns="0">
            <a:spAutoFit/>
          </a:bodyPr>
          <a:lstStyle/>
          <a:p>
            <a:pPr algn="l">
              <a:lnSpc>
                <a:spcPts val="3719"/>
              </a:lnSpc>
            </a:pPr>
            <a:r>
              <a:rPr lang="en-US" sz="2655">
                <a:solidFill>
                  <a:srgbClr val="05061C"/>
                </a:solidFill>
                <a:latin typeface="Questrial"/>
                <a:ea typeface="Questrial"/>
                <a:cs typeface="Questrial"/>
                <a:sym typeface="Questrial"/>
              </a:rPr>
              <a:t>07. Metodologias</a:t>
            </a:r>
          </a:p>
        </p:txBody>
      </p:sp>
      <p:sp>
        <p:nvSpPr>
          <p:cNvPr name="TextBox 19" id="19"/>
          <p:cNvSpPr txBox="true"/>
          <p:nvPr/>
        </p:nvSpPr>
        <p:spPr>
          <a:xfrm rot="0">
            <a:off x="10189274" y="6625990"/>
            <a:ext cx="6474285" cy="537000"/>
          </a:xfrm>
          <a:prstGeom prst="rect">
            <a:avLst/>
          </a:prstGeom>
        </p:spPr>
        <p:txBody>
          <a:bodyPr anchor="t" rtlCol="false" tIns="0" lIns="0" bIns="0" rIns="0">
            <a:spAutoFit/>
          </a:bodyPr>
          <a:lstStyle/>
          <a:p>
            <a:pPr algn="l">
              <a:lnSpc>
                <a:spcPts val="3719"/>
              </a:lnSpc>
            </a:pPr>
            <a:r>
              <a:rPr lang="en-US" sz="2655">
                <a:solidFill>
                  <a:srgbClr val="05061C"/>
                </a:solidFill>
                <a:latin typeface="Questrial"/>
                <a:ea typeface="Questrial"/>
                <a:cs typeface="Questrial"/>
                <a:sym typeface="Questrial"/>
              </a:rPr>
              <a:t>08. Evidencias</a:t>
            </a:r>
          </a:p>
        </p:txBody>
      </p:sp>
      <p:sp>
        <p:nvSpPr>
          <p:cNvPr name="TextBox 20" id="20"/>
          <p:cNvSpPr txBox="true"/>
          <p:nvPr/>
        </p:nvSpPr>
        <p:spPr>
          <a:xfrm rot="0">
            <a:off x="2870978" y="1726921"/>
            <a:ext cx="6273022" cy="1173042"/>
          </a:xfrm>
          <a:prstGeom prst="rect">
            <a:avLst/>
          </a:prstGeom>
        </p:spPr>
        <p:txBody>
          <a:bodyPr anchor="t" rtlCol="false" tIns="0" lIns="0" bIns="0" rIns="0">
            <a:spAutoFit/>
          </a:bodyPr>
          <a:lstStyle/>
          <a:p>
            <a:pPr algn="just">
              <a:lnSpc>
                <a:spcPts val="7551"/>
              </a:lnSpc>
            </a:pPr>
            <a:r>
              <a:rPr lang="en-US" sz="6864" spc="644">
                <a:solidFill>
                  <a:srgbClr val="05061C"/>
                </a:solidFill>
                <a:latin typeface="Bungee"/>
                <a:ea typeface="Bungee"/>
                <a:cs typeface="Bungee"/>
                <a:sym typeface="Bungee"/>
              </a:rPr>
              <a:t>CONTENIDO</a:t>
            </a:r>
          </a:p>
        </p:txBody>
      </p:sp>
      <p:sp>
        <p:nvSpPr>
          <p:cNvPr name="Freeform 21" id="21"/>
          <p:cNvSpPr/>
          <p:nvPr/>
        </p:nvSpPr>
        <p:spPr>
          <a:xfrm flipH="true" flipV="false" rot="0">
            <a:off x="2454735" y="3251568"/>
            <a:ext cx="6086046" cy="5521700"/>
          </a:xfrm>
          <a:custGeom>
            <a:avLst/>
            <a:gdLst/>
            <a:ahLst/>
            <a:cxnLst/>
            <a:rect r="r" b="b" t="t" l="l"/>
            <a:pathLst>
              <a:path h="5521700" w="6086046">
                <a:moveTo>
                  <a:pt x="6086047" y="0"/>
                </a:moveTo>
                <a:lnTo>
                  <a:pt x="0" y="0"/>
                </a:lnTo>
                <a:lnTo>
                  <a:pt x="0" y="5521700"/>
                </a:lnTo>
                <a:lnTo>
                  <a:pt x="6086047" y="5521700"/>
                </a:lnTo>
                <a:lnTo>
                  <a:pt x="6086047" y="0"/>
                </a:lnTo>
                <a:close/>
              </a:path>
            </a:pathLst>
          </a:custGeom>
          <a:blipFill>
            <a:blip r:embed="rId4">
              <a:extLst>
                <a:ext uri="{96DAC541-7B7A-43D3-8B79-37D633B846F1}">
                  <asvg:svgBlip xmlns:asvg="http://schemas.microsoft.com/office/drawing/2016/SVG/main" r:embed="rId5"/>
                </a:ext>
              </a:extLst>
            </a:blip>
            <a:stretch>
              <a:fillRect l="0" t="-194" r="0" b="-194"/>
            </a:stretch>
          </a:blipFill>
        </p:spPr>
      </p:sp>
      <p:sp>
        <p:nvSpPr>
          <p:cNvPr name="AutoShape 22" id="22"/>
          <p:cNvSpPr/>
          <p:nvPr/>
        </p:nvSpPr>
        <p:spPr>
          <a:xfrm rot="15780">
            <a:off x="10174957" y="8120320"/>
            <a:ext cx="6226464" cy="0"/>
          </a:xfrm>
          <a:prstGeom prst="line">
            <a:avLst/>
          </a:prstGeom>
          <a:ln cap="rnd" w="19050">
            <a:solidFill>
              <a:srgbClr val="000000"/>
            </a:solidFill>
            <a:prstDash val="solid"/>
            <a:headEnd type="none" len="sm" w="sm"/>
            <a:tailEnd type="none" len="sm" w="sm"/>
          </a:ln>
        </p:spPr>
      </p:sp>
      <p:sp>
        <p:nvSpPr>
          <p:cNvPr name="TextBox 23" id="23"/>
          <p:cNvSpPr txBox="true"/>
          <p:nvPr/>
        </p:nvSpPr>
        <p:spPr>
          <a:xfrm rot="0">
            <a:off x="10189274" y="7390438"/>
            <a:ext cx="6474285" cy="537000"/>
          </a:xfrm>
          <a:prstGeom prst="rect">
            <a:avLst/>
          </a:prstGeom>
        </p:spPr>
        <p:txBody>
          <a:bodyPr anchor="t" rtlCol="false" tIns="0" lIns="0" bIns="0" rIns="0">
            <a:spAutoFit/>
          </a:bodyPr>
          <a:lstStyle/>
          <a:p>
            <a:pPr algn="l">
              <a:lnSpc>
                <a:spcPts val="3719"/>
              </a:lnSpc>
            </a:pPr>
            <a:r>
              <a:rPr lang="en-US" sz="2655">
                <a:solidFill>
                  <a:srgbClr val="05061C"/>
                </a:solidFill>
                <a:latin typeface="Questrial"/>
                <a:ea typeface="Questrial"/>
                <a:cs typeface="Questrial"/>
                <a:sym typeface="Questrial"/>
              </a:rPr>
              <a:t>09. Cronograma</a:t>
            </a:r>
          </a:p>
        </p:txBody>
      </p:sp>
      <p:sp>
        <p:nvSpPr>
          <p:cNvPr name="AutoShape 24" id="24"/>
          <p:cNvSpPr/>
          <p:nvPr/>
        </p:nvSpPr>
        <p:spPr>
          <a:xfrm rot="15780">
            <a:off x="10174957" y="8950204"/>
            <a:ext cx="6226464" cy="0"/>
          </a:xfrm>
          <a:prstGeom prst="line">
            <a:avLst/>
          </a:prstGeom>
          <a:ln cap="rnd" w="19050">
            <a:solidFill>
              <a:srgbClr val="000000"/>
            </a:solidFill>
            <a:prstDash val="solid"/>
            <a:headEnd type="none" len="sm" w="sm"/>
            <a:tailEnd type="none" len="sm" w="sm"/>
          </a:ln>
        </p:spPr>
      </p:sp>
      <p:sp>
        <p:nvSpPr>
          <p:cNvPr name="TextBox 25" id="25"/>
          <p:cNvSpPr txBox="true"/>
          <p:nvPr/>
        </p:nvSpPr>
        <p:spPr>
          <a:xfrm rot="0">
            <a:off x="10189274" y="8220332"/>
            <a:ext cx="6474285" cy="537000"/>
          </a:xfrm>
          <a:prstGeom prst="rect">
            <a:avLst/>
          </a:prstGeom>
        </p:spPr>
        <p:txBody>
          <a:bodyPr anchor="t" rtlCol="false" tIns="0" lIns="0" bIns="0" rIns="0">
            <a:spAutoFit/>
          </a:bodyPr>
          <a:lstStyle/>
          <a:p>
            <a:pPr algn="l">
              <a:lnSpc>
                <a:spcPts val="3719"/>
              </a:lnSpc>
            </a:pPr>
            <a:r>
              <a:rPr lang="en-US" sz="2655">
                <a:solidFill>
                  <a:srgbClr val="05061C"/>
                </a:solidFill>
                <a:latin typeface="Questrial"/>
                <a:ea typeface="Questrial"/>
                <a:cs typeface="Questrial"/>
                <a:sym typeface="Questrial"/>
              </a:rPr>
              <a:t>10. Conclucion</a:t>
            </a:r>
          </a:p>
        </p:txBody>
      </p:sp>
      <p:sp>
        <p:nvSpPr>
          <p:cNvPr name="TextBox 26" id="26"/>
          <p:cNvSpPr txBox="true"/>
          <p:nvPr/>
        </p:nvSpPr>
        <p:spPr>
          <a:xfrm rot="0">
            <a:off x="430473" y="85820"/>
            <a:ext cx="185585" cy="532600"/>
          </a:xfrm>
          <a:prstGeom prst="rect">
            <a:avLst/>
          </a:prstGeom>
        </p:spPr>
        <p:txBody>
          <a:bodyPr anchor="t" rtlCol="false" tIns="0" lIns="0" bIns="0" rIns="0">
            <a:spAutoFit/>
          </a:bodyPr>
          <a:lstStyle/>
          <a:p>
            <a:pPr algn="ctr">
              <a:lnSpc>
                <a:spcPts val="3719"/>
              </a:lnSpc>
            </a:pPr>
            <a:r>
              <a:rPr lang="en-US" sz="2655">
                <a:solidFill>
                  <a:srgbClr val="000000"/>
                </a:solidFill>
                <a:latin typeface="Questrial"/>
                <a:ea typeface="Questrial"/>
                <a:cs typeface="Questrial"/>
                <a:sym typeface="Questrial"/>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sp>
        <p:nvSpPr>
          <p:cNvPr name="Freeform 2" id="2"/>
          <p:cNvSpPr/>
          <p:nvPr/>
        </p:nvSpPr>
        <p:spPr>
          <a:xfrm flipH="false" flipV="false" rot="0">
            <a:off x="734749" y="361283"/>
            <a:ext cx="16818493" cy="9365523"/>
          </a:xfrm>
          <a:custGeom>
            <a:avLst/>
            <a:gdLst/>
            <a:ahLst/>
            <a:cxnLst/>
            <a:rect r="r" b="b" t="t" l="l"/>
            <a:pathLst>
              <a:path h="9365523" w="16818493">
                <a:moveTo>
                  <a:pt x="0" y="0"/>
                </a:moveTo>
                <a:lnTo>
                  <a:pt x="16818493" y="0"/>
                </a:lnTo>
                <a:lnTo>
                  <a:pt x="16818493" y="9365523"/>
                </a:lnTo>
                <a:lnTo>
                  <a:pt x="0" y="9365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237708" y="1743008"/>
            <a:ext cx="14230198" cy="1759906"/>
          </a:xfrm>
          <a:prstGeom prst="rect">
            <a:avLst/>
          </a:prstGeom>
        </p:spPr>
        <p:txBody>
          <a:bodyPr anchor="t" rtlCol="false" tIns="0" lIns="0" bIns="0" rIns="0">
            <a:spAutoFit/>
          </a:bodyPr>
          <a:lstStyle/>
          <a:p>
            <a:pPr algn="ctr">
              <a:lnSpc>
                <a:spcPts val="11198"/>
              </a:lnSpc>
            </a:pPr>
            <a:r>
              <a:rPr lang="en-US" sz="9332">
                <a:solidFill>
                  <a:srgbClr val="000000"/>
                </a:solidFill>
                <a:latin typeface="Bungee"/>
                <a:ea typeface="Bungee"/>
                <a:cs typeface="Bungee"/>
                <a:sym typeface="Bungee"/>
              </a:rPr>
              <a:t>Contexto</a:t>
            </a:r>
          </a:p>
        </p:txBody>
      </p:sp>
      <p:sp>
        <p:nvSpPr>
          <p:cNvPr name="Freeform 4" id="4"/>
          <p:cNvSpPr/>
          <p:nvPr/>
        </p:nvSpPr>
        <p:spPr>
          <a:xfrm flipH="false" flipV="false" rot="0">
            <a:off x="15904235" y="219170"/>
            <a:ext cx="720481" cy="1619050"/>
          </a:xfrm>
          <a:custGeom>
            <a:avLst/>
            <a:gdLst/>
            <a:ahLst/>
            <a:cxnLst/>
            <a:rect r="r" b="b" t="t" l="l"/>
            <a:pathLst>
              <a:path h="1619050" w="720481">
                <a:moveTo>
                  <a:pt x="0" y="0"/>
                </a:moveTo>
                <a:lnTo>
                  <a:pt x="720481" y="0"/>
                </a:lnTo>
                <a:lnTo>
                  <a:pt x="720481" y="1619050"/>
                </a:lnTo>
                <a:lnTo>
                  <a:pt x="0" y="1619050"/>
                </a:lnTo>
                <a:lnTo>
                  <a:pt x="0" y="0"/>
                </a:lnTo>
                <a:close/>
              </a:path>
            </a:pathLst>
          </a:custGeom>
          <a:blipFill>
            <a:blip r:embed="rId4">
              <a:extLst>
                <a:ext uri="{96DAC541-7B7A-43D3-8B79-37D633B846F1}">
                  <asvg:svgBlip xmlns:asvg="http://schemas.microsoft.com/office/drawing/2016/SVG/main" r:embed="rId5"/>
                </a:ext>
              </a:extLst>
            </a:blip>
            <a:stretch>
              <a:fillRect l="0" t="-62" r="0" b="-62"/>
            </a:stretch>
          </a:blipFill>
        </p:spPr>
      </p:sp>
      <p:sp>
        <p:nvSpPr>
          <p:cNvPr name="Freeform 5" id="5"/>
          <p:cNvSpPr/>
          <p:nvPr/>
        </p:nvSpPr>
        <p:spPr>
          <a:xfrm flipH="false" flipV="false" rot="3222120">
            <a:off x="1928565" y="1283960"/>
            <a:ext cx="1183605" cy="2188483"/>
          </a:xfrm>
          <a:custGeom>
            <a:avLst/>
            <a:gdLst/>
            <a:ahLst/>
            <a:cxnLst/>
            <a:rect r="r" b="b" t="t" l="l"/>
            <a:pathLst>
              <a:path h="2188483" w="1183605">
                <a:moveTo>
                  <a:pt x="0" y="0"/>
                </a:moveTo>
                <a:lnTo>
                  <a:pt x="1183605" y="0"/>
                </a:lnTo>
                <a:lnTo>
                  <a:pt x="1183605" y="2188484"/>
                </a:lnTo>
                <a:lnTo>
                  <a:pt x="0" y="2188484"/>
                </a:lnTo>
                <a:lnTo>
                  <a:pt x="0" y="0"/>
                </a:lnTo>
                <a:close/>
              </a:path>
            </a:pathLst>
          </a:custGeom>
          <a:blipFill>
            <a:blip r:embed="rId6">
              <a:extLst>
                <a:ext uri="{96DAC541-7B7A-43D3-8B79-37D633B846F1}">
                  <asvg:svgBlip xmlns:asvg="http://schemas.microsoft.com/office/drawing/2016/SVG/main" r:embed="rId7"/>
                </a:ext>
              </a:extLst>
            </a:blip>
            <a:stretch>
              <a:fillRect l="-244" t="0" r="-244" b="0"/>
            </a:stretch>
          </a:blipFill>
        </p:spPr>
      </p:sp>
      <p:grpSp>
        <p:nvGrpSpPr>
          <p:cNvPr name="Group 6" id="6"/>
          <p:cNvGrpSpPr/>
          <p:nvPr/>
        </p:nvGrpSpPr>
        <p:grpSpPr>
          <a:xfrm rot="0">
            <a:off x="11175502" y="4261333"/>
            <a:ext cx="5778065" cy="3414427"/>
            <a:chOff x="0" y="0"/>
            <a:chExt cx="7704087" cy="4552569"/>
          </a:xfrm>
        </p:grpSpPr>
        <p:sp>
          <p:nvSpPr>
            <p:cNvPr name="Freeform 7" id="7"/>
            <p:cNvSpPr/>
            <p:nvPr/>
          </p:nvSpPr>
          <p:spPr>
            <a:xfrm flipH="false" flipV="false" rot="0">
              <a:off x="0" y="0"/>
              <a:ext cx="7704074" cy="4552569"/>
            </a:xfrm>
            <a:custGeom>
              <a:avLst/>
              <a:gdLst/>
              <a:ahLst/>
              <a:cxnLst/>
              <a:rect r="r" b="b" t="t" l="l"/>
              <a:pathLst>
                <a:path h="4552569" w="7704074">
                  <a:moveTo>
                    <a:pt x="0" y="0"/>
                  </a:moveTo>
                  <a:lnTo>
                    <a:pt x="7704074" y="0"/>
                  </a:lnTo>
                  <a:lnTo>
                    <a:pt x="7704074" y="4552569"/>
                  </a:lnTo>
                  <a:lnTo>
                    <a:pt x="0" y="4552569"/>
                  </a:lnTo>
                  <a:lnTo>
                    <a:pt x="0" y="0"/>
                  </a:lnTo>
                  <a:close/>
                </a:path>
              </a:pathLst>
            </a:custGeom>
            <a:blipFill>
              <a:blip r:embed="rId8"/>
              <a:stretch>
                <a:fillRect l="0" t="-34612" r="0" b="-34612"/>
              </a:stretch>
            </a:blipFill>
          </p:spPr>
        </p:sp>
      </p:grpSp>
      <p:sp>
        <p:nvSpPr>
          <p:cNvPr name="TextBox 8" id="8"/>
          <p:cNvSpPr txBox="true"/>
          <p:nvPr/>
        </p:nvSpPr>
        <p:spPr>
          <a:xfrm rot="0">
            <a:off x="2237708" y="3681508"/>
            <a:ext cx="7828655" cy="4701083"/>
          </a:xfrm>
          <a:prstGeom prst="rect">
            <a:avLst/>
          </a:prstGeom>
        </p:spPr>
        <p:txBody>
          <a:bodyPr anchor="t" rtlCol="false" tIns="0" lIns="0" bIns="0" rIns="0">
            <a:spAutoFit/>
          </a:bodyPr>
          <a:lstStyle/>
          <a:p>
            <a:pPr algn="l">
              <a:lnSpc>
                <a:spcPts val="3075"/>
              </a:lnSpc>
            </a:pPr>
            <a:r>
              <a:rPr lang="en-US" sz="2196">
                <a:solidFill>
                  <a:srgbClr val="000000"/>
                </a:solidFill>
                <a:latin typeface="Questrial"/>
                <a:ea typeface="Questrial"/>
                <a:cs typeface="Questrial"/>
                <a:sym typeface="Questrial"/>
              </a:rPr>
              <a:t>Transporte Guillermo Varas</a:t>
            </a:r>
          </a:p>
          <a:p>
            <a:pPr algn="l" marL="502309" indent="-167436" lvl="2">
              <a:lnSpc>
                <a:spcPts val="3075"/>
              </a:lnSpc>
              <a:buFont typeface="Arial"/>
              <a:buChar char="⚬"/>
            </a:pPr>
            <a:r>
              <a:rPr lang="en-US" sz="2196">
                <a:solidFill>
                  <a:srgbClr val="000000"/>
                </a:solidFill>
                <a:latin typeface="Questrial"/>
                <a:ea typeface="Questrial"/>
                <a:cs typeface="Questrial"/>
                <a:sym typeface="Questrial"/>
              </a:rPr>
              <a:t>Empresa dedicada a la prestación de servicios de transporte de vehículos y personal.</a:t>
            </a:r>
          </a:p>
          <a:p>
            <a:pPr algn="l" marL="502309" indent="-167436" lvl="2">
              <a:lnSpc>
                <a:spcPts val="3075"/>
              </a:lnSpc>
              <a:buFont typeface="Arial"/>
              <a:buChar char="⚬"/>
            </a:pPr>
            <a:r>
              <a:rPr lang="en-US" sz="2196">
                <a:solidFill>
                  <a:srgbClr val="000000"/>
                </a:solidFill>
                <a:latin typeface="Questrial"/>
                <a:ea typeface="Questrial"/>
                <a:cs typeface="Questrial"/>
                <a:sym typeface="Questrial"/>
              </a:rPr>
              <a:t>Ofrece servicios que incluyen chofer y peoneta, adaptándose a las necesidades de sus clientes.</a:t>
            </a:r>
          </a:p>
          <a:p>
            <a:pPr algn="l" marL="502309" indent="-167436" lvl="2">
              <a:lnSpc>
                <a:spcPts val="3075"/>
              </a:lnSpc>
              <a:buFont typeface="Arial"/>
              <a:buChar char="⚬"/>
            </a:pPr>
            <a:r>
              <a:rPr lang="en-US" sz="2196">
                <a:solidFill>
                  <a:srgbClr val="000000"/>
                </a:solidFill>
                <a:latin typeface="Questrial"/>
                <a:ea typeface="Questrial"/>
                <a:cs typeface="Questrial"/>
                <a:sym typeface="Questrial"/>
              </a:rPr>
              <a:t>Ubicada en la V Región de Valparaíso.</a:t>
            </a:r>
          </a:p>
          <a:p>
            <a:pPr algn="l" marL="502309" indent="-167436" lvl="2">
              <a:lnSpc>
                <a:spcPts val="3075"/>
              </a:lnSpc>
              <a:buFont typeface="Arial"/>
              <a:buChar char="⚬"/>
            </a:pPr>
            <a:r>
              <a:rPr lang="en-US" sz="2196">
                <a:solidFill>
                  <a:srgbClr val="000000"/>
                </a:solidFill>
                <a:latin typeface="Questrial"/>
                <a:ea typeface="Questrial"/>
                <a:cs typeface="Questrial"/>
                <a:sym typeface="Questrial"/>
              </a:rPr>
              <a:t>Cuenta con una amplia trayectoria y experiencia en el rubro del transporte.</a:t>
            </a:r>
          </a:p>
          <a:p>
            <a:pPr algn="l" marL="502309" indent="-167436" lvl="2">
              <a:lnSpc>
                <a:spcPts val="3075"/>
              </a:lnSpc>
              <a:buFont typeface="Arial"/>
              <a:buChar char="⚬"/>
            </a:pPr>
            <a:r>
              <a:rPr lang="en-US" sz="2196">
                <a:solidFill>
                  <a:srgbClr val="000000"/>
                </a:solidFill>
                <a:latin typeface="Questrial"/>
                <a:ea typeface="Questrial"/>
                <a:cs typeface="Questrial"/>
                <a:sym typeface="Questrial"/>
              </a:rPr>
              <a:t>Entre sus principales clientes se encuentran Starken, Correos de Chile y FedEx.</a:t>
            </a:r>
          </a:p>
          <a:p>
            <a:pPr algn="l" marL="502309" indent="-167436" lvl="2">
              <a:lnSpc>
                <a:spcPts val="3075"/>
              </a:lnSpc>
              <a:buFont typeface="Arial"/>
              <a:buChar char="⚬"/>
            </a:pPr>
            <a:r>
              <a:rPr lang="en-US" sz="2196">
                <a:solidFill>
                  <a:srgbClr val="000000"/>
                </a:solidFill>
                <a:latin typeface="Questrial"/>
                <a:ea typeface="Questrial"/>
                <a:cs typeface="Questrial"/>
                <a:sym typeface="Questrial"/>
              </a:rPr>
              <a:t>Actualmente cuenta con 37 empleados.</a:t>
            </a:r>
          </a:p>
          <a:p>
            <a:pPr algn="l" marL="502309" indent="-167436" lvl="2">
              <a:lnSpc>
                <a:spcPts val="3075"/>
              </a:lnSpc>
            </a:pPr>
          </a:p>
        </p:txBody>
      </p:sp>
      <p:sp>
        <p:nvSpPr>
          <p:cNvPr name="TextBox 9" id="9"/>
          <p:cNvSpPr txBox="true"/>
          <p:nvPr/>
        </p:nvSpPr>
        <p:spPr>
          <a:xfrm rot="0">
            <a:off x="430473" y="85820"/>
            <a:ext cx="185585" cy="532600"/>
          </a:xfrm>
          <a:prstGeom prst="rect">
            <a:avLst/>
          </a:prstGeom>
        </p:spPr>
        <p:txBody>
          <a:bodyPr anchor="t" rtlCol="false" tIns="0" lIns="0" bIns="0" rIns="0">
            <a:spAutoFit/>
          </a:bodyPr>
          <a:lstStyle/>
          <a:p>
            <a:pPr algn="ctr">
              <a:lnSpc>
                <a:spcPts val="3719"/>
              </a:lnSpc>
            </a:pPr>
            <a:r>
              <a:rPr lang="en-US" sz="2655">
                <a:solidFill>
                  <a:srgbClr val="000000"/>
                </a:solidFill>
                <a:latin typeface="Questrial"/>
                <a:ea typeface="Questrial"/>
                <a:cs typeface="Questrial"/>
                <a:sym typeface="Questrial"/>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sp>
        <p:nvSpPr>
          <p:cNvPr name="Freeform 2" id="2"/>
          <p:cNvSpPr/>
          <p:nvPr/>
        </p:nvSpPr>
        <p:spPr>
          <a:xfrm flipH="false" flipV="false" rot="0">
            <a:off x="734749" y="552260"/>
            <a:ext cx="16921839" cy="9365523"/>
          </a:xfrm>
          <a:custGeom>
            <a:avLst/>
            <a:gdLst/>
            <a:ahLst/>
            <a:cxnLst/>
            <a:rect r="r" b="b" t="t" l="l"/>
            <a:pathLst>
              <a:path h="9365523" w="16921839">
                <a:moveTo>
                  <a:pt x="0" y="0"/>
                </a:moveTo>
                <a:lnTo>
                  <a:pt x="16921839" y="0"/>
                </a:lnTo>
                <a:lnTo>
                  <a:pt x="16921839" y="9365522"/>
                </a:lnTo>
                <a:lnTo>
                  <a:pt x="0" y="93655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905154" y="1459735"/>
            <a:ext cx="12477702" cy="2143897"/>
          </a:xfrm>
          <a:prstGeom prst="rect">
            <a:avLst/>
          </a:prstGeom>
        </p:spPr>
        <p:txBody>
          <a:bodyPr anchor="t" rtlCol="false" tIns="0" lIns="0" bIns="0" rIns="0">
            <a:spAutoFit/>
          </a:bodyPr>
          <a:lstStyle/>
          <a:p>
            <a:pPr algn="ctr">
              <a:lnSpc>
                <a:spcPts val="13220"/>
              </a:lnSpc>
            </a:pPr>
            <a:r>
              <a:rPr lang="en-US" sz="10328">
                <a:solidFill>
                  <a:srgbClr val="05061C"/>
                </a:solidFill>
                <a:latin typeface="Bungee"/>
                <a:ea typeface="Bungee"/>
                <a:cs typeface="Bungee"/>
                <a:sym typeface="Bungee"/>
              </a:rPr>
              <a:t>Problemas</a:t>
            </a:r>
          </a:p>
        </p:txBody>
      </p:sp>
      <p:sp>
        <p:nvSpPr>
          <p:cNvPr name="Freeform 4" id="4"/>
          <p:cNvSpPr/>
          <p:nvPr/>
        </p:nvSpPr>
        <p:spPr>
          <a:xfrm flipH="true" flipV="false" rot="2232300">
            <a:off x="15485488" y="6766417"/>
            <a:ext cx="1183605" cy="2188483"/>
          </a:xfrm>
          <a:custGeom>
            <a:avLst/>
            <a:gdLst/>
            <a:ahLst/>
            <a:cxnLst/>
            <a:rect r="r" b="b" t="t" l="l"/>
            <a:pathLst>
              <a:path h="2188483" w="1183605">
                <a:moveTo>
                  <a:pt x="1183605" y="0"/>
                </a:moveTo>
                <a:lnTo>
                  <a:pt x="0" y="0"/>
                </a:lnTo>
                <a:lnTo>
                  <a:pt x="0" y="2188483"/>
                </a:lnTo>
                <a:lnTo>
                  <a:pt x="1183605" y="2188483"/>
                </a:lnTo>
                <a:lnTo>
                  <a:pt x="1183605" y="0"/>
                </a:lnTo>
                <a:close/>
              </a:path>
            </a:pathLst>
          </a:custGeom>
          <a:blipFill>
            <a:blip r:embed="rId4">
              <a:extLst>
                <a:ext uri="{96DAC541-7B7A-43D3-8B79-37D633B846F1}">
                  <asvg:svgBlip xmlns:asvg="http://schemas.microsoft.com/office/drawing/2016/SVG/main" r:embed="rId5"/>
                </a:ext>
              </a:extLst>
            </a:blip>
            <a:stretch>
              <a:fillRect l="-244" t="0" r="-244" b="0"/>
            </a:stretch>
          </a:blipFill>
        </p:spPr>
      </p:sp>
      <p:grpSp>
        <p:nvGrpSpPr>
          <p:cNvPr name="Group 5" id="5"/>
          <p:cNvGrpSpPr/>
          <p:nvPr/>
        </p:nvGrpSpPr>
        <p:grpSpPr>
          <a:xfrm rot="-222480">
            <a:off x="1729226" y="1330433"/>
            <a:ext cx="1427636" cy="1442352"/>
            <a:chOff x="0" y="0"/>
            <a:chExt cx="1903514" cy="1923136"/>
          </a:xfrm>
        </p:grpSpPr>
        <p:sp>
          <p:nvSpPr>
            <p:cNvPr name="Freeform 6" id="6"/>
            <p:cNvSpPr/>
            <p:nvPr/>
          </p:nvSpPr>
          <p:spPr>
            <a:xfrm flipH="false" flipV="false" rot="0">
              <a:off x="0" y="0"/>
              <a:ext cx="1903476" cy="1923161"/>
            </a:xfrm>
            <a:custGeom>
              <a:avLst/>
              <a:gdLst/>
              <a:ahLst/>
              <a:cxnLst/>
              <a:rect r="r" b="b" t="t" l="l"/>
              <a:pathLst>
                <a:path h="1923161" w="1903476">
                  <a:moveTo>
                    <a:pt x="0" y="0"/>
                  </a:moveTo>
                  <a:lnTo>
                    <a:pt x="1903476" y="0"/>
                  </a:lnTo>
                  <a:lnTo>
                    <a:pt x="1903476" y="1923161"/>
                  </a:lnTo>
                  <a:lnTo>
                    <a:pt x="0" y="1923161"/>
                  </a:lnTo>
                  <a:lnTo>
                    <a:pt x="0" y="0"/>
                  </a:lnTo>
                  <a:close/>
                </a:path>
              </a:pathLst>
            </a:custGeom>
            <a:blipFill>
              <a:blip r:embed="rId6"/>
              <a:stretch>
                <a:fillRect l="-354" t="0" r="-356" b="1"/>
              </a:stretch>
            </a:blipFill>
          </p:spPr>
        </p:sp>
      </p:grpSp>
      <p:sp>
        <p:nvSpPr>
          <p:cNvPr name="Freeform 7" id="7"/>
          <p:cNvSpPr/>
          <p:nvPr/>
        </p:nvSpPr>
        <p:spPr>
          <a:xfrm flipH="false" flipV="false" rot="0">
            <a:off x="15542981" y="2577094"/>
            <a:ext cx="1125836" cy="1220410"/>
          </a:xfrm>
          <a:custGeom>
            <a:avLst/>
            <a:gdLst/>
            <a:ahLst/>
            <a:cxnLst/>
            <a:rect r="r" b="b" t="t" l="l"/>
            <a:pathLst>
              <a:path h="1220410" w="1125836">
                <a:moveTo>
                  <a:pt x="0" y="0"/>
                </a:moveTo>
                <a:lnTo>
                  <a:pt x="1125836" y="0"/>
                </a:lnTo>
                <a:lnTo>
                  <a:pt x="1125836" y="1220409"/>
                </a:lnTo>
                <a:lnTo>
                  <a:pt x="0" y="1220409"/>
                </a:lnTo>
                <a:lnTo>
                  <a:pt x="0" y="0"/>
                </a:lnTo>
                <a:close/>
              </a:path>
            </a:pathLst>
          </a:custGeom>
          <a:blipFill>
            <a:blip r:embed="rId7">
              <a:extLst>
                <a:ext uri="{96DAC541-7B7A-43D3-8B79-37D633B846F1}">
                  <asvg:svgBlip xmlns:asvg="http://schemas.microsoft.com/office/drawing/2016/SVG/main" r:embed="rId8"/>
                </a:ext>
              </a:extLst>
            </a:blip>
            <a:stretch>
              <a:fillRect l="0" t="0" r="0" b="-1"/>
            </a:stretch>
          </a:blipFill>
        </p:spPr>
      </p:sp>
      <p:sp>
        <p:nvSpPr>
          <p:cNvPr name="Freeform 8" id="8"/>
          <p:cNvSpPr/>
          <p:nvPr/>
        </p:nvSpPr>
        <p:spPr>
          <a:xfrm flipH="false" flipV="false" rot="0">
            <a:off x="15008685" y="1285780"/>
            <a:ext cx="1068610" cy="1158383"/>
          </a:xfrm>
          <a:custGeom>
            <a:avLst/>
            <a:gdLst/>
            <a:ahLst/>
            <a:cxnLst/>
            <a:rect r="r" b="b" t="t" l="l"/>
            <a:pathLst>
              <a:path h="1158383" w="1068610">
                <a:moveTo>
                  <a:pt x="0" y="0"/>
                </a:moveTo>
                <a:lnTo>
                  <a:pt x="1068610" y="0"/>
                </a:lnTo>
                <a:lnTo>
                  <a:pt x="1068610" y="1158383"/>
                </a:lnTo>
                <a:lnTo>
                  <a:pt x="0" y="1158383"/>
                </a:lnTo>
                <a:lnTo>
                  <a:pt x="0" y="0"/>
                </a:lnTo>
                <a:close/>
              </a:path>
            </a:pathLst>
          </a:custGeom>
          <a:blipFill>
            <a:blip r:embed="rId7">
              <a:extLst>
                <a:ext uri="{96DAC541-7B7A-43D3-8B79-37D633B846F1}">
                  <asvg:svgBlip xmlns:asvg="http://schemas.microsoft.com/office/drawing/2016/SVG/main" r:embed="rId8"/>
                </a:ext>
              </a:extLst>
            </a:blip>
            <a:stretch>
              <a:fillRect l="-202" t="0" r="-201" b="0"/>
            </a:stretch>
          </a:blipFill>
        </p:spPr>
      </p:sp>
      <p:sp>
        <p:nvSpPr>
          <p:cNvPr name="Freeform 9" id="9"/>
          <p:cNvSpPr/>
          <p:nvPr/>
        </p:nvSpPr>
        <p:spPr>
          <a:xfrm flipH="false" flipV="false" rot="0">
            <a:off x="1908743" y="7860659"/>
            <a:ext cx="1125836" cy="1220410"/>
          </a:xfrm>
          <a:custGeom>
            <a:avLst/>
            <a:gdLst/>
            <a:ahLst/>
            <a:cxnLst/>
            <a:rect r="r" b="b" t="t" l="l"/>
            <a:pathLst>
              <a:path h="1220410" w="1125836">
                <a:moveTo>
                  <a:pt x="0" y="0"/>
                </a:moveTo>
                <a:lnTo>
                  <a:pt x="1125836" y="0"/>
                </a:lnTo>
                <a:lnTo>
                  <a:pt x="1125836" y="1220409"/>
                </a:lnTo>
                <a:lnTo>
                  <a:pt x="0" y="1220409"/>
                </a:lnTo>
                <a:lnTo>
                  <a:pt x="0" y="0"/>
                </a:lnTo>
                <a:close/>
              </a:path>
            </a:pathLst>
          </a:custGeom>
          <a:blipFill>
            <a:blip r:embed="rId7">
              <a:extLst>
                <a:ext uri="{96DAC541-7B7A-43D3-8B79-37D633B846F1}">
                  <asvg:svgBlip xmlns:asvg="http://schemas.microsoft.com/office/drawing/2016/SVG/main" r:embed="rId8"/>
                </a:ext>
              </a:extLst>
            </a:blip>
            <a:stretch>
              <a:fillRect l="0" t="0" r="0" b="-1"/>
            </a:stretch>
          </a:blipFill>
        </p:spPr>
      </p:sp>
      <p:sp>
        <p:nvSpPr>
          <p:cNvPr name="Freeform 10" id="10"/>
          <p:cNvSpPr/>
          <p:nvPr/>
        </p:nvSpPr>
        <p:spPr>
          <a:xfrm flipH="false" flipV="false" rot="0">
            <a:off x="1374438" y="6631276"/>
            <a:ext cx="1068610" cy="1158383"/>
          </a:xfrm>
          <a:custGeom>
            <a:avLst/>
            <a:gdLst/>
            <a:ahLst/>
            <a:cxnLst/>
            <a:rect r="r" b="b" t="t" l="l"/>
            <a:pathLst>
              <a:path h="1158383" w="1068610">
                <a:moveTo>
                  <a:pt x="0" y="0"/>
                </a:moveTo>
                <a:lnTo>
                  <a:pt x="1068610" y="0"/>
                </a:lnTo>
                <a:lnTo>
                  <a:pt x="1068610" y="1158383"/>
                </a:lnTo>
                <a:lnTo>
                  <a:pt x="0" y="1158383"/>
                </a:lnTo>
                <a:lnTo>
                  <a:pt x="0" y="0"/>
                </a:lnTo>
                <a:close/>
              </a:path>
            </a:pathLst>
          </a:custGeom>
          <a:blipFill>
            <a:blip r:embed="rId7">
              <a:extLst>
                <a:ext uri="{96DAC541-7B7A-43D3-8B79-37D633B846F1}">
                  <asvg:svgBlip xmlns:asvg="http://schemas.microsoft.com/office/drawing/2016/SVG/main" r:embed="rId8"/>
                </a:ext>
              </a:extLst>
            </a:blip>
            <a:stretch>
              <a:fillRect l="-202" t="0" r="-201" b="0"/>
            </a:stretch>
          </a:blipFill>
        </p:spPr>
      </p:sp>
      <p:sp>
        <p:nvSpPr>
          <p:cNvPr name="TextBox 11" id="11"/>
          <p:cNvSpPr txBox="true"/>
          <p:nvPr/>
        </p:nvSpPr>
        <p:spPr>
          <a:xfrm rot="0">
            <a:off x="430473" y="85820"/>
            <a:ext cx="185585" cy="532600"/>
          </a:xfrm>
          <a:prstGeom prst="rect">
            <a:avLst/>
          </a:prstGeom>
        </p:spPr>
        <p:txBody>
          <a:bodyPr anchor="t" rtlCol="false" tIns="0" lIns="0" bIns="0" rIns="0">
            <a:spAutoFit/>
          </a:bodyPr>
          <a:lstStyle/>
          <a:p>
            <a:pPr algn="ctr">
              <a:lnSpc>
                <a:spcPts val="3719"/>
              </a:lnSpc>
            </a:pPr>
            <a:r>
              <a:rPr lang="en-US" sz="2655">
                <a:solidFill>
                  <a:srgbClr val="000000"/>
                </a:solidFill>
                <a:latin typeface="Questrial"/>
                <a:ea typeface="Questrial"/>
                <a:cs typeface="Questrial"/>
                <a:sym typeface="Questrial"/>
              </a:rPr>
              <a:t>4</a:t>
            </a:r>
          </a:p>
        </p:txBody>
      </p:sp>
      <p:grpSp>
        <p:nvGrpSpPr>
          <p:cNvPr name="Group 12" id="12"/>
          <p:cNvGrpSpPr/>
          <p:nvPr/>
        </p:nvGrpSpPr>
        <p:grpSpPr>
          <a:xfrm rot="0">
            <a:off x="3202000" y="5646249"/>
            <a:ext cx="5378148" cy="1347883"/>
            <a:chOff x="0" y="0"/>
            <a:chExt cx="7170864" cy="1797177"/>
          </a:xfrm>
        </p:grpSpPr>
        <p:sp>
          <p:nvSpPr>
            <p:cNvPr name="Freeform 13" id="13"/>
            <p:cNvSpPr/>
            <p:nvPr/>
          </p:nvSpPr>
          <p:spPr>
            <a:xfrm flipH="false" flipV="false" rot="0">
              <a:off x="0" y="0"/>
              <a:ext cx="7170928" cy="1797177"/>
            </a:xfrm>
            <a:custGeom>
              <a:avLst/>
              <a:gdLst/>
              <a:ahLst/>
              <a:cxnLst/>
              <a:rect r="r" b="b" t="t" l="l"/>
              <a:pathLst>
                <a:path h="1797177" w="7170928">
                  <a:moveTo>
                    <a:pt x="84455" y="0"/>
                  </a:moveTo>
                  <a:lnTo>
                    <a:pt x="7086473" y="0"/>
                  </a:lnTo>
                  <a:cubicBezTo>
                    <a:pt x="7133082" y="0"/>
                    <a:pt x="7170928" y="37846"/>
                    <a:pt x="7170928" y="84455"/>
                  </a:cubicBezTo>
                  <a:lnTo>
                    <a:pt x="7170928" y="1712722"/>
                  </a:lnTo>
                  <a:cubicBezTo>
                    <a:pt x="7170928" y="1759331"/>
                    <a:pt x="7133082" y="1797177"/>
                    <a:pt x="7086473" y="1797177"/>
                  </a:cubicBezTo>
                  <a:lnTo>
                    <a:pt x="84455" y="1797177"/>
                  </a:lnTo>
                  <a:cubicBezTo>
                    <a:pt x="37846" y="1797177"/>
                    <a:pt x="0" y="1759331"/>
                    <a:pt x="0" y="1712722"/>
                  </a:cubicBezTo>
                  <a:lnTo>
                    <a:pt x="0" y="84455"/>
                  </a:lnTo>
                  <a:cubicBezTo>
                    <a:pt x="0" y="37846"/>
                    <a:pt x="37846" y="0"/>
                    <a:pt x="84455" y="0"/>
                  </a:cubicBezTo>
                  <a:close/>
                </a:path>
              </a:pathLst>
            </a:custGeom>
            <a:solidFill>
              <a:srgbClr val="70B2E2"/>
            </a:solidFill>
          </p:spPr>
        </p:sp>
      </p:grpSp>
      <p:grpSp>
        <p:nvGrpSpPr>
          <p:cNvPr name="Group 14" id="14"/>
          <p:cNvGrpSpPr/>
          <p:nvPr/>
        </p:nvGrpSpPr>
        <p:grpSpPr>
          <a:xfrm rot="0">
            <a:off x="3202000" y="5535682"/>
            <a:ext cx="5378148" cy="1458449"/>
            <a:chOff x="0" y="0"/>
            <a:chExt cx="7170864" cy="1944599"/>
          </a:xfrm>
        </p:grpSpPr>
        <p:sp>
          <p:nvSpPr>
            <p:cNvPr name="Freeform 15" id="15"/>
            <p:cNvSpPr/>
            <p:nvPr/>
          </p:nvSpPr>
          <p:spPr>
            <a:xfrm flipH="false" flipV="false" rot="0">
              <a:off x="0" y="0"/>
              <a:ext cx="7170858" cy="1944598"/>
            </a:xfrm>
            <a:custGeom>
              <a:avLst/>
              <a:gdLst/>
              <a:ahLst/>
              <a:cxnLst/>
              <a:rect r="r" b="b" t="t" l="l"/>
              <a:pathLst>
                <a:path h="1944598" w="7170858">
                  <a:moveTo>
                    <a:pt x="0" y="0"/>
                  </a:moveTo>
                  <a:lnTo>
                    <a:pt x="7170858" y="0"/>
                  </a:lnTo>
                  <a:lnTo>
                    <a:pt x="7170858" y="1944598"/>
                  </a:lnTo>
                  <a:lnTo>
                    <a:pt x="0" y="1944598"/>
                  </a:lnTo>
                  <a:close/>
                </a:path>
              </a:pathLst>
            </a:custGeom>
            <a:blipFill>
              <a:blip r:embed="rId9">
                <a:alphaModFix amt="0"/>
              </a:blip>
              <a:stretch>
                <a:fillRect l="0" t="-21852" r="0" b="-21852"/>
              </a:stretch>
            </a:blipFill>
          </p:spPr>
        </p:sp>
        <p:sp>
          <p:nvSpPr>
            <p:cNvPr name="TextBox 16" id="16"/>
            <p:cNvSpPr txBox="true"/>
            <p:nvPr/>
          </p:nvSpPr>
          <p:spPr>
            <a:xfrm>
              <a:off x="0" y="-66675"/>
              <a:ext cx="7170864" cy="2011274"/>
            </a:xfrm>
            <a:prstGeom prst="rect">
              <a:avLst/>
            </a:prstGeom>
          </p:spPr>
          <p:txBody>
            <a:bodyPr anchor="ctr" rtlCol="false" tIns="0" lIns="0" bIns="0" rIns="0"/>
            <a:lstStyle/>
            <a:p>
              <a:pPr algn="ctr">
                <a:lnSpc>
                  <a:spcPts val="2859"/>
                </a:lnSpc>
              </a:pPr>
              <a:r>
                <a:rPr lang="en-US" sz="2199">
                  <a:solidFill>
                    <a:srgbClr val="FFFFFF"/>
                  </a:solidFill>
                  <a:latin typeface="Bungee"/>
                  <a:ea typeface="Bungee"/>
                  <a:cs typeface="Bungee"/>
                  <a:sym typeface="Bungee"/>
                </a:rPr>
                <a:t>problemas de Administración </a:t>
              </a:r>
            </a:p>
          </p:txBody>
        </p:sp>
      </p:grpSp>
      <p:grpSp>
        <p:nvGrpSpPr>
          <p:cNvPr name="Group 17" id="17"/>
          <p:cNvGrpSpPr/>
          <p:nvPr/>
        </p:nvGrpSpPr>
        <p:grpSpPr>
          <a:xfrm rot="0">
            <a:off x="9144000" y="3769576"/>
            <a:ext cx="5378148" cy="1347883"/>
            <a:chOff x="0" y="0"/>
            <a:chExt cx="7170864" cy="1797177"/>
          </a:xfrm>
        </p:grpSpPr>
        <p:sp>
          <p:nvSpPr>
            <p:cNvPr name="Freeform 18" id="18"/>
            <p:cNvSpPr/>
            <p:nvPr/>
          </p:nvSpPr>
          <p:spPr>
            <a:xfrm flipH="false" flipV="false" rot="0">
              <a:off x="0" y="0"/>
              <a:ext cx="7170928" cy="1797177"/>
            </a:xfrm>
            <a:custGeom>
              <a:avLst/>
              <a:gdLst/>
              <a:ahLst/>
              <a:cxnLst/>
              <a:rect r="r" b="b" t="t" l="l"/>
              <a:pathLst>
                <a:path h="1797177" w="7170928">
                  <a:moveTo>
                    <a:pt x="84455" y="0"/>
                  </a:moveTo>
                  <a:lnTo>
                    <a:pt x="7086473" y="0"/>
                  </a:lnTo>
                  <a:cubicBezTo>
                    <a:pt x="7133082" y="0"/>
                    <a:pt x="7170928" y="37846"/>
                    <a:pt x="7170928" y="84455"/>
                  </a:cubicBezTo>
                  <a:lnTo>
                    <a:pt x="7170928" y="1712722"/>
                  </a:lnTo>
                  <a:cubicBezTo>
                    <a:pt x="7170928" y="1759331"/>
                    <a:pt x="7133082" y="1797177"/>
                    <a:pt x="7086473" y="1797177"/>
                  </a:cubicBezTo>
                  <a:lnTo>
                    <a:pt x="84455" y="1797177"/>
                  </a:lnTo>
                  <a:cubicBezTo>
                    <a:pt x="37846" y="1797177"/>
                    <a:pt x="0" y="1759331"/>
                    <a:pt x="0" y="1712722"/>
                  </a:cubicBezTo>
                  <a:lnTo>
                    <a:pt x="0" y="84455"/>
                  </a:lnTo>
                  <a:cubicBezTo>
                    <a:pt x="0" y="37846"/>
                    <a:pt x="37846" y="0"/>
                    <a:pt x="84455" y="0"/>
                  </a:cubicBezTo>
                  <a:close/>
                </a:path>
              </a:pathLst>
            </a:custGeom>
            <a:solidFill>
              <a:srgbClr val="70B2E2"/>
            </a:solidFill>
          </p:spPr>
        </p:sp>
      </p:grpSp>
      <p:grpSp>
        <p:nvGrpSpPr>
          <p:cNvPr name="Group 19" id="19"/>
          <p:cNvGrpSpPr/>
          <p:nvPr/>
        </p:nvGrpSpPr>
        <p:grpSpPr>
          <a:xfrm rot="0">
            <a:off x="9144000" y="3659000"/>
            <a:ext cx="5378148" cy="1458449"/>
            <a:chOff x="0" y="0"/>
            <a:chExt cx="7170864" cy="1944599"/>
          </a:xfrm>
        </p:grpSpPr>
        <p:sp>
          <p:nvSpPr>
            <p:cNvPr name="Freeform 20" id="20"/>
            <p:cNvSpPr/>
            <p:nvPr/>
          </p:nvSpPr>
          <p:spPr>
            <a:xfrm flipH="false" flipV="false" rot="0">
              <a:off x="0" y="0"/>
              <a:ext cx="7170858" cy="1944598"/>
            </a:xfrm>
            <a:custGeom>
              <a:avLst/>
              <a:gdLst/>
              <a:ahLst/>
              <a:cxnLst/>
              <a:rect r="r" b="b" t="t" l="l"/>
              <a:pathLst>
                <a:path h="1944598" w="7170858">
                  <a:moveTo>
                    <a:pt x="0" y="0"/>
                  </a:moveTo>
                  <a:lnTo>
                    <a:pt x="7170858" y="0"/>
                  </a:lnTo>
                  <a:lnTo>
                    <a:pt x="7170858" y="1944598"/>
                  </a:lnTo>
                  <a:lnTo>
                    <a:pt x="0" y="1944598"/>
                  </a:lnTo>
                  <a:close/>
                </a:path>
              </a:pathLst>
            </a:custGeom>
            <a:blipFill>
              <a:blip r:embed="rId9">
                <a:alphaModFix amt="0"/>
              </a:blip>
              <a:stretch>
                <a:fillRect l="0" t="-21852" r="0" b="-21852"/>
              </a:stretch>
            </a:blipFill>
          </p:spPr>
        </p:sp>
        <p:sp>
          <p:nvSpPr>
            <p:cNvPr name="TextBox 21" id="21"/>
            <p:cNvSpPr txBox="true"/>
            <p:nvPr/>
          </p:nvSpPr>
          <p:spPr>
            <a:xfrm>
              <a:off x="0" y="-66675"/>
              <a:ext cx="7170864" cy="2011274"/>
            </a:xfrm>
            <a:prstGeom prst="rect">
              <a:avLst/>
            </a:prstGeom>
          </p:spPr>
          <p:txBody>
            <a:bodyPr anchor="ctr" rtlCol="false" tIns="0" lIns="0" bIns="0" rIns="0"/>
            <a:lstStyle/>
            <a:p>
              <a:pPr algn="ctr">
                <a:lnSpc>
                  <a:spcPts val="2859"/>
                </a:lnSpc>
              </a:pPr>
              <a:r>
                <a:rPr lang="en-US" sz="2199">
                  <a:solidFill>
                    <a:srgbClr val="FFFFFF"/>
                  </a:solidFill>
                  <a:latin typeface="Bungee"/>
                  <a:ea typeface="Bungee"/>
                  <a:cs typeface="Bungee"/>
                  <a:sym typeface="Bungee"/>
                </a:rPr>
                <a:t>Información dispersa</a:t>
              </a:r>
            </a:p>
          </p:txBody>
        </p:sp>
      </p:grpSp>
      <p:grpSp>
        <p:nvGrpSpPr>
          <p:cNvPr name="Group 22" id="22"/>
          <p:cNvGrpSpPr/>
          <p:nvPr/>
        </p:nvGrpSpPr>
        <p:grpSpPr>
          <a:xfrm rot="0">
            <a:off x="9144000" y="5646249"/>
            <a:ext cx="5378148" cy="1347883"/>
            <a:chOff x="0" y="0"/>
            <a:chExt cx="7170864" cy="1797177"/>
          </a:xfrm>
        </p:grpSpPr>
        <p:sp>
          <p:nvSpPr>
            <p:cNvPr name="Freeform 23" id="23"/>
            <p:cNvSpPr/>
            <p:nvPr/>
          </p:nvSpPr>
          <p:spPr>
            <a:xfrm flipH="false" flipV="false" rot="0">
              <a:off x="0" y="0"/>
              <a:ext cx="7170928" cy="1797177"/>
            </a:xfrm>
            <a:custGeom>
              <a:avLst/>
              <a:gdLst/>
              <a:ahLst/>
              <a:cxnLst/>
              <a:rect r="r" b="b" t="t" l="l"/>
              <a:pathLst>
                <a:path h="1797177" w="7170928">
                  <a:moveTo>
                    <a:pt x="84455" y="0"/>
                  </a:moveTo>
                  <a:lnTo>
                    <a:pt x="7086473" y="0"/>
                  </a:lnTo>
                  <a:cubicBezTo>
                    <a:pt x="7133082" y="0"/>
                    <a:pt x="7170928" y="37846"/>
                    <a:pt x="7170928" y="84455"/>
                  </a:cubicBezTo>
                  <a:lnTo>
                    <a:pt x="7170928" y="1712722"/>
                  </a:lnTo>
                  <a:cubicBezTo>
                    <a:pt x="7170928" y="1759331"/>
                    <a:pt x="7133082" y="1797177"/>
                    <a:pt x="7086473" y="1797177"/>
                  </a:cubicBezTo>
                  <a:lnTo>
                    <a:pt x="84455" y="1797177"/>
                  </a:lnTo>
                  <a:cubicBezTo>
                    <a:pt x="37846" y="1797177"/>
                    <a:pt x="0" y="1759331"/>
                    <a:pt x="0" y="1712722"/>
                  </a:cubicBezTo>
                  <a:lnTo>
                    <a:pt x="0" y="84455"/>
                  </a:lnTo>
                  <a:cubicBezTo>
                    <a:pt x="0" y="37846"/>
                    <a:pt x="37846" y="0"/>
                    <a:pt x="84455" y="0"/>
                  </a:cubicBezTo>
                  <a:close/>
                </a:path>
              </a:pathLst>
            </a:custGeom>
            <a:solidFill>
              <a:srgbClr val="70B2E2"/>
            </a:solidFill>
          </p:spPr>
        </p:sp>
      </p:grpSp>
      <p:grpSp>
        <p:nvGrpSpPr>
          <p:cNvPr name="Group 24" id="24"/>
          <p:cNvGrpSpPr/>
          <p:nvPr/>
        </p:nvGrpSpPr>
        <p:grpSpPr>
          <a:xfrm rot="0">
            <a:off x="9144000" y="5535682"/>
            <a:ext cx="5378148" cy="1458449"/>
            <a:chOff x="0" y="0"/>
            <a:chExt cx="7170864" cy="1944599"/>
          </a:xfrm>
        </p:grpSpPr>
        <p:sp>
          <p:nvSpPr>
            <p:cNvPr name="Freeform 25" id="25"/>
            <p:cNvSpPr/>
            <p:nvPr/>
          </p:nvSpPr>
          <p:spPr>
            <a:xfrm flipH="false" flipV="false" rot="0">
              <a:off x="0" y="0"/>
              <a:ext cx="7170858" cy="1944598"/>
            </a:xfrm>
            <a:custGeom>
              <a:avLst/>
              <a:gdLst/>
              <a:ahLst/>
              <a:cxnLst/>
              <a:rect r="r" b="b" t="t" l="l"/>
              <a:pathLst>
                <a:path h="1944598" w="7170858">
                  <a:moveTo>
                    <a:pt x="0" y="0"/>
                  </a:moveTo>
                  <a:lnTo>
                    <a:pt x="7170858" y="0"/>
                  </a:lnTo>
                  <a:lnTo>
                    <a:pt x="7170858" y="1944598"/>
                  </a:lnTo>
                  <a:lnTo>
                    <a:pt x="0" y="1944598"/>
                  </a:lnTo>
                  <a:close/>
                </a:path>
              </a:pathLst>
            </a:custGeom>
            <a:blipFill>
              <a:blip r:embed="rId9">
                <a:alphaModFix amt="0"/>
              </a:blip>
              <a:stretch>
                <a:fillRect l="0" t="-21852" r="0" b="-21852"/>
              </a:stretch>
            </a:blipFill>
          </p:spPr>
        </p:sp>
        <p:sp>
          <p:nvSpPr>
            <p:cNvPr name="TextBox 26" id="26"/>
            <p:cNvSpPr txBox="true"/>
            <p:nvPr/>
          </p:nvSpPr>
          <p:spPr>
            <a:xfrm>
              <a:off x="0" y="-66675"/>
              <a:ext cx="7170864" cy="2011274"/>
            </a:xfrm>
            <a:prstGeom prst="rect">
              <a:avLst/>
            </a:prstGeom>
          </p:spPr>
          <p:txBody>
            <a:bodyPr anchor="ctr" rtlCol="false" tIns="0" lIns="0" bIns="0" rIns="0"/>
            <a:lstStyle/>
            <a:p>
              <a:pPr algn="ctr">
                <a:lnSpc>
                  <a:spcPts val="2859"/>
                </a:lnSpc>
              </a:pPr>
              <a:r>
                <a:rPr lang="en-US" sz="2199">
                  <a:solidFill>
                    <a:srgbClr val="FFFFFF"/>
                  </a:solidFill>
                  <a:latin typeface="Bungee"/>
                  <a:ea typeface="Bungee"/>
                  <a:cs typeface="Bungee"/>
                  <a:sym typeface="Bungee"/>
                </a:rPr>
                <a:t>Poca coordicación entre vehiculos </a:t>
              </a:r>
            </a:p>
          </p:txBody>
        </p:sp>
      </p:grpSp>
      <p:grpSp>
        <p:nvGrpSpPr>
          <p:cNvPr name="Group 27" id="27"/>
          <p:cNvGrpSpPr/>
          <p:nvPr/>
        </p:nvGrpSpPr>
        <p:grpSpPr>
          <a:xfrm rot="0">
            <a:off x="3202000" y="3769576"/>
            <a:ext cx="5378148" cy="1347883"/>
            <a:chOff x="0" y="0"/>
            <a:chExt cx="7170864" cy="1797177"/>
          </a:xfrm>
        </p:grpSpPr>
        <p:sp>
          <p:nvSpPr>
            <p:cNvPr name="Freeform 28" id="28"/>
            <p:cNvSpPr/>
            <p:nvPr/>
          </p:nvSpPr>
          <p:spPr>
            <a:xfrm flipH="false" flipV="false" rot="0">
              <a:off x="0" y="0"/>
              <a:ext cx="7170928" cy="1797177"/>
            </a:xfrm>
            <a:custGeom>
              <a:avLst/>
              <a:gdLst/>
              <a:ahLst/>
              <a:cxnLst/>
              <a:rect r="r" b="b" t="t" l="l"/>
              <a:pathLst>
                <a:path h="1797177" w="7170928">
                  <a:moveTo>
                    <a:pt x="84455" y="0"/>
                  </a:moveTo>
                  <a:lnTo>
                    <a:pt x="7086473" y="0"/>
                  </a:lnTo>
                  <a:cubicBezTo>
                    <a:pt x="7133082" y="0"/>
                    <a:pt x="7170928" y="37846"/>
                    <a:pt x="7170928" y="84455"/>
                  </a:cubicBezTo>
                  <a:lnTo>
                    <a:pt x="7170928" y="1712722"/>
                  </a:lnTo>
                  <a:cubicBezTo>
                    <a:pt x="7170928" y="1759331"/>
                    <a:pt x="7133082" y="1797177"/>
                    <a:pt x="7086473" y="1797177"/>
                  </a:cubicBezTo>
                  <a:lnTo>
                    <a:pt x="84455" y="1797177"/>
                  </a:lnTo>
                  <a:cubicBezTo>
                    <a:pt x="37846" y="1797177"/>
                    <a:pt x="0" y="1759331"/>
                    <a:pt x="0" y="1712722"/>
                  </a:cubicBezTo>
                  <a:lnTo>
                    <a:pt x="0" y="84455"/>
                  </a:lnTo>
                  <a:cubicBezTo>
                    <a:pt x="0" y="37846"/>
                    <a:pt x="37846" y="0"/>
                    <a:pt x="84455" y="0"/>
                  </a:cubicBezTo>
                  <a:close/>
                </a:path>
              </a:pathLst>
            </a:custGeom>
            <a:solidFill>
              <a:srgbClr val="70B2E2"/>
            </a:solidFill>
          </p:spPr>
        </p:sp>
      </p:grpSp>
      <p:grpSp>
        <p:nvGrpSpPr>
          <p:cNvPr name="Group 29" id="29"/>
          <p:cNvGrpSpPr/>
          <p:nvPr/>
        </p:nvGrpSpPr>
        <p:grpSpPr>
          <a:xfrm rot="0">
            <a:off x="3202000" y="3659000"/>
            <a:ext cx="5378148" cy="1458449"/>
            <a:chOff x="0" y="0"/>
            <a:chExt cx="7170864" cy="1944599"/>
          </a:xfrm>
        </p:grpSpPr>
        <p:sp>
          <p:nvSpPr>
            <p:cNvPr name="Freeform 30" id="30"/>
            <p:cNvSpPr/>
            <p:nvPr/>
          </p:nvSpPr>
          <p:spPr>
            <a:xfrm flipH="false" flipV="false" rot="0">
              <a:off x="0" y="0"/>
              <a:ext cx="7170858" cy="1944598"/>
            </a:xfrm>
            <a:custGeom>
              <a:avLst/>
              <a:gdLst/>
              <a:ahLst/>
              <a:cxnLst/>
              <a:rect r="r" b="b" t="t" l="l"/>
              <a:pathLst>
                <a:path h="1944598" w="7170858">
                  <a:moveTo>
                    <a:pt x="0" y="0"/>
                  </a:moveTo>
                  <a:lnTo>
                    <a:pt x="7170858" y="0"/>
                  </a:lnTo>
                  <a:lnTo>
                    <a:pt x="7170858" y="1944598"/>
                  </a:lnTo>
                  <a:lnTo>
                    <a:pt x="0" y="1944598"/>
                  </a:lnTo>
                  <a:close/>
                </a:path>
              </a:pathLst>
            </a:custGeom>
            <a:blipFill>
              <a:blip r:embed="rId9">
                <a:alphaModFix amt="0"/>
              </a:blip>
              <a:stretch>
                <a:fillRect l="0" t="-21852" r="0" b="-21852"/>
              </a:stretch>
            </a:blipFill>
          </p:spPr>
        </p:sp>
        <p:sp>
          <p:nvSpPr>
            <p:cNvPr name="TextBox 31" id="31"/>
            <p:cNvSpPr txBox="true"/>
            <p:nvPr/>
          </p:nvSpPr>
          <p:spPr>
            <a:xfrm>
              <a:off x="0" y="-66675"/>
              <a:ext cx="7170864" cy="2011274"/>
            </a:xfrm>
            <a:prstGeom prst="rect">
              <a:avLst/>
            </a:prstGeom>
          </p:spPr>
          <p:txBody>
            <a:bodyPr anchor="ctr" rtlCol="false" tIns="0" lIns="0" bIns="0" rIns="0"/>
            <a:lstStyle/>
            <a:p>
              <a:pPr algn="ctr">
                <a:lnSpc>
                  <a:spcPts val="2859"/>
                </a:lnSpc>
              </a:pPr>
              <a:r>
                <a:rPr lang="en-US" sz="2199">
                  <a:solidFill>
                    <a:srgbClr val="FFFFFF"/>
                  </a:solidFill>
                  <a:latin typeface="Bungee"/>
                  <a:ea typeface="Bungee"/>
                  <a:cs typeface="Bungee"/>
                  <a:sym typeface="Bungee"/>
                </a:rPr>
                <a:t>DIficultad para tomar desiciones</a:t>
              </a:r>
            </a:p>
          </p:txBody>
        </p:sp>
      </p:grpSp>
      <p:grpSp>
        <p:nvGrpSpPr>
          <p:cNvPr name="Group 32" id="32"/>
          <p:cNvGrpSpPr/>
          <p:nvPr/>
        </p:nvGrpSpPr>
        <p:grpSpPr>
          <a:xfrm rot="0">
            <a:off x="6455178" y="7186717"/>
            <a:ext cx="5378148" cy="1347883"/>
            <a:chOff x="0" y="0"/>
            <a:chExt cx="7170864" cy="1797177"/>
          </a:xfrm>
        </p:grpSpPr>
        <p:sp>
          <p:nvSpPr>
            <p:cNvPr name="Freeform 33" id="33"/>
            <p:cNvSpPr/>
            <p:nvPr/>
          </p:nvSpPr>
          <p:spPr>
            <a:xfrm flipH="false" flipV="false" rot="0">
              <a:off x="0" y="0"/>
              <a:ext cx="7170928" cy="1797177"/>
            </a:xfrm>
            <a:custGeom>
              <a:avLst/>
              <a:gdLst/>
              <a:ahLst/>
              <a:cxnLst/>
              <a:rect r="r" b="b" t="t" l="l"/>
              <a:pathLst>
                <a:path h="1797177" w="7170928">
                  <a:moveTo>
                    <a:pt x="84455" y="0"/>
                  </a:moveTo>
                  <a:lnTo>
                    <a:pt x="7086473" y="0"/>
                  </a:lnTo>
                  <a:cubicBezTo>
                    <a:pt x="7133082" y="0"/>
                    <a:pt x="7170928" y="37846"/>
                    <a:pt x="7170928" y="84455"/>
                  </a:cubicBezTo>
                  <a:lnTo>
                    <a:pt x="7170928" y="1712722"/>
                  </a:lnTo>
                  <a:cubicBezTo>
                    <a:pt x="7170928" y="1759331"/>
                    <a:pt x="7133082" y="1797177"/>
                    <a:pt x="7086473" y="1797177"/>
                  </a:cubicBezTo>
                  <a:lnTo>
                    <a:pt x="84455" y="1797177"/>
                  </a:lnTo>
                  <a:cubicBezTo>
                    <a:pt x="37846" y="1797177"/>
                    <a:pt x="0" y="1759331"/>
                    <a:pt x="0" y="1712722"/>
                  </a:cubicBezTo>
                  <a:lnTo>
                    <a:pt x="0" y="84455"/>
                  </a:lnTo>
                  <a:cubicBezTo>
                    <a:pt x="0" y="37846"/>
                    <a:pt x="37846" y="0"/>
                    <a:pt x="84455" y="0"/>
                  </a:cubicBezTo>
                  <a:close/>
                </a:path>
              </a:pathLst>
            </a:custGeom>
            <a:solidFill>
              <a:srgbClr val="70B2E2"/>
            </a:solidFill>
          </p:spPr>
        </p:sp>
      </p:grpSp>
      <p:grpSp>
        <p:nvGrpSpPr>
          <p:cNvPr name="Group 34" id="34"/>
          <p:cNvGrpSpPr/>
          <p:nvPr/>
        </p:nvGrpSpPr>
        <p:grpSpPr>
          <a:xfrm rot="0">
            <a:off x="6455178" y="7076151"/>
            <a:ext cx="5378148" cy="1458449"/>
            <a:chOff x="0" y="0"/>
            <a:chExt cx="7170864" cy="1944599"/>
          </a:xfrm>
        </p:grpSpPr>
        <p:sp>
          <p:nvSpPr>
            <p:cNvPr name="Freeform 35" id="35"/>
            <p:cNvSpPr/>
            <p:nvPr/>
          </p:nvSpPr>
          <p:spPr>
            <a:xfrm flipH="false" flipV="false" rot="0">
              <a:off x="0" y="0"/>
              <a:ext cx="7170858" cy="1944598"/>
            </a:xfrm>
            <a:custGeom>
              <a:avLst/>
              <a:gdLst/>
              <a:ahLst/>
              <a:cxnLst/>
              <a:rect r="r" b="b" t="t" l="l"/>
              <a:pathLst>
                <a:path h="1944598" w="7170858">
                  <a:moveTo>
                    <a:pt x="0" y="0"/>
                  </a:moveTo>
                  <a:lnTo>
                    <a:pt x="7170858" y="0"/>
                  </a:lnTo>
                  <a:lnTo>
                    <a:pt x="7170858" y="1944598"/>
                  </a:lnTo>
                  <a:lnTo>
                    <a:pt x="0" y="1944598"/>
                  </a:lnTo>
                  <a:close/>
                </a:path>
              </a:pathLst>
            </a:custGeom>
            <a:blipFill>
              <a:blip r:embed="rId9">
                <a:alphaModFix amt="0"/>
              </a:blip>
              <a:stretch>
                <a:fillRect l="0" t="-21852" r="0" b="-21852"/>
              </a:stretch>
            </a:blipFill>
          </p:spPr>
        </p:sp>
        <p:sp>
          <p:nvSpPr>
            <p:cNvPr name="TextBox 36" id="36"/>
            <p:cNvSpPr txBox="true"/>
            <p:nvPr/>
          </p:nvSpPr>
          <p:spPr>
            <a:xfrm>
              <a:off x="0" y="-66675"/>
              <a:ext cx="7170864" cy="2011274"/>
            </a:xfrm>
            <a:prstGeom prst="rect">
              <a:avLst/>
            </a:prstGeom>
          </p:spPr>
          <p:txBody>
            <a:bodyPr anchor="ctr" rtlCol="false" tIns="0" lIns="0" bIns="0" rIns="0"/>
            <a:lstStyle/>
            <a:p>
              <a:pPr algn="ctr">
                <a:lnSpc>
                  <a:spcPts val="2859"/>
                </a:lnSpc>
              </a:pPr>
              <a:r>
                <a:rPr lang="en-US" sz="2199">
                  <a:solidFill>
                    <a:srgbClr val="FFFFFF"/>
                  </a:solidFill>
                  <a:latin typeface="Bungee"/>
                  <a:ea typeface="Bungee"/>
                  <a:cs typeface="Bungee"/>
                  <a:sym typeface="Bungee"/>
                </a:rPr>
                <a:t>Perdida de información</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sp>
        <p:nvSpPr>
          <p:cNvPr name="Freeform 2" id="2"/>
          <p:cNvSpPr/>
          <p:nvPr/>
        </p:nvSpPr>
        <p:spPr>
          <a:xfrm flipH="false" flipV="false" rot="0">
            <a:off x="734749" y="361283"/>
            <a:ext cx="16818493" cy="9365523"/>
          </a:xfrm>
          <a:custGeom>
            <a:avLst/>
            <a:gdLst/>
            <a:ahLst/>
            <a:cxnLst/>
            <a:rect r="r" b="b" t="t" l="l"/>
            <a:pathLst>
              <a:path h="9365523" w="16818493">
                <a:moveTo>
                  <a:pt x="0" y="0"/>
                </a:moveTo>
                <a:lnTo>
                  <a:pt x="16818493" y="0"/>
                </a:lnTo>
                <a:lnTo>
                  <a:pt x="16818493" y="9365523"/>
                </a:lnTo>
                <a:lnTo>
                  <a:pt x="0" y="9365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912240">
            <a:off x="13480161" y="2113359"/>
            <a:ext cx="1242422" cy="1255233"/>
            <a:chOff x="0" y="0"/>
            <a:chExt cx="1656563" cy="1673644"/>
          </a:xfrm>
        </p:grpSpPr>
        <p:sp>
          <p:nvSpPr>
            <p:cNvPr name="Freeform 4" id="4"/>
            <p:cNvSpPr/>
            <p:nvPr/>
          </p:nvSpPr>
          <p:spPr>
            <a:xfrm flipH="false" flipV="false" rot="0">
              <a:off x="0" y="0"/>
              <a:ext cx="1656588" cy="1673606"/>
            </a:xfrm>
            <a:custGeom>
              <a:avLst/>
              <a:gdLst/>
              <a:ahLst/>
              <a:cxnLst/>
              <a:rect r="r" b="b" t="t" l="l"/>
              <a:pathLst>
                <a:path h="1673606" w="1656588">
                  <a:moveTo>
                    <a:pt x="0" y="0"/>
                  </a:moveTo>
                  <a:lnTo>
                    <a:pt x="1656588" y="0"/>
                  </a:lnTo>
                  <a:lnTo>
                    <a:pt x="1656588" y="1673606"/>
                  </a:lnTo>
                  <a:lnTo>
                    <a:pt x="0" y="1673606"/>
                  </a:lnTo>
                  <a:lnTo>
                    <a:pt x="0" y="0"/>
                  </a:lnTo>
                  <a:close/>
                </a:path>
              </a:pathLst>
            </a:custGeom>
            <a:blipFill>
              <a:blip r:embed="rId4"/>
              <a:stretch>
                <a:fillRect l="-354" t="0" r="-353" b="-2"/>
              </a:stretch>
            </a:blipFill>
          </p:spPr>
        </p:sp>
      </p:grpSp>
      <p:sp>
        <p:nvSpPr>
          <p:cNvPr name="Freeform 5" id="5"/>
          <p:cNvSpPr/>
          <p:nvPr/>
        </p:nvSpPr>
        <p:spPr>
          <a:xfrm flipH="false" flipV="false" rot="0">
            <a:off x="16005372" y="1096108"/>
            <a:ext cx="1068610" cy="1158383"/>
          </a:xfrm>
          <a:custGeom>
            <a:avLst/>
            <a:gdLst/>
            <a:ahLst/>
            <a:cxnLst/>
            <a:rect r="r" b="b" t="t" l="l"/>
            <a:pathLst>
              <a:path h="1158383" w="1068610">
                <a:moveTo>
                  <a:pt x="0" y="0"/>
                </a:moveTo>
                <a:lnTo>
                  <a:pt x="1068610" y="0"/>
                </a:lnTo>
                <a:lnTo>
                  <a:pt x="1068610" y="1158383"/>
                </a:lnTo>
                <a:lnTo>
                  <a:pt x="0" y="1158383"/>
                </a:lnTo>
                <a:lnTo>
                  <a:pt x="0" y="0"/>
                </a:lnTo>
                <a:close/>
              </a:path>
            </a:pathLst>
          </a:custGeom>
          <a:blipFill>
            <a:blip r:embed="rId5">
              <a:extLst>
                <a:ext uri="{96DAC541-7B7A-43D3-8B79-37D633B846F1}">
                  <asvg:svgBlip xmlns:asvg="http://schemas.microsoft.com/office/drawing/2016/SVG/main" r:embed="rId6"/>
                </a:ext>
              </a:extLst>
            </a:blip>
            <a:stretch>
              <a:fillRect l="-202" t="0" r="-201" b="0"/>
            </a:stretch>
          </a:blipFill>
        </p:spPr>
      </p:sp>
      <p:sp>
        <p:nvSpPr>
          <p:cNvPr name="TextBox 6" id="6"/>
          <p:cNvSpPr txBox="true"/>
          <p:nvPr/>
        </p:nvSpPr>
        <p:spPr>
          <a:xfrm rot="0">
            <a:off x="1972608" y="1027595"/>
            <a:ext cx="8460134" cy="1956445"/>
          </a:xfrm>
          <a:prstGeom prst="rect">
            <a:avLst/>
          </a:prstGeom>
        </p:spPr>
        <p:txBody>
          <a:bodyPr anchor="t" rtlCol="false" tIns="0" lIns="0" bIns="0" rIns="0">
            <a:spAutoFit/>
          </a:bodyPr>
          <a:lstStyle/>
          <a:p>
            <a:pPr algn="l">
              <a:lnSpc>
                <a:spcPts val="12059"/>
              </a:lnSpc>
            </a:pPr>
            <a:r>
              <a:rPr lang="en-US" sz="8613">
                <a:solidFill>
                  <a:srgbClr val="05061C"/>
                </a:solidFill>
                <a:latin typeface="Bungee"/>
                <a:ea typeface="Bungee"/>
                <a:cs typeface="Bungee"/>
                <a:sym typeface="Bungee"/>
              </a:rPr>
              <a:t>NECESIDAD</a:t>
            </a:r>
          </a:p>
        </p:txBody>
      </p:sp>
      <p:sp>
        <p:nvSpPr>
          <p:cNvPr name="Freeform 7" id="7"/>
          <p:cNvSpPr/>
          <p:nvPr/>
        </p:nvSpPr>
        <p:spPr>
          <a:xfrm flipH="true" flipV="false" rot="0">
            <a:off x="14405896" y="2722883"/>
            <a:ext cx="2853404" cy="5095370"/>
          </a:xfrm>
          <a:custGeom>
            <a:avLst/>
            <a:gdLst/>
            <a:ahLst/>
            <a:cxnLst/>
            <a:rect r="r" b="b" t="t" l="l"/>
            <a:pathLst>
              <a:path h="5095370" w="2853404">
                <a:moveTo>
                  <a:pt x="2853404" y="0"/>
                </a:moveTo>
                <a:lnTo>
                  <a:pt x="0" y="0"/>
                </a:lnTo>
                <a:lnTo>
                  <a:pt x="0" y="5095370"/>
                </a:lnTo>
                <a:lnTo>
                  <a:pt x="2853404" y="5095370"/>
                </a:lnTo>
                <a:lnTo>
                  <a:pt x="2853404" y="0"/>
                </a:lnTo>
                <a:close/>
              </a:path>
            </a:pathLst>
          </a:custGeom>
          <a:blipFill>
            <a:blip r:embed="rId7">
              <a:extLst>
                <a:ext uri="{96DAC541-7B7A-43D3-8B79-37D633B846F1}">
                  <asvg:svgBlip xmlns:asvg="http://schemas.microsoft.com/office/drawing/2016/SVG/main" r:embed="rId8"/>
                </a:ext>
              </a:extLst>
            </a:blip>
            <a:stretch>
              <a:fillRect l="0" t="-26" r="0" b="-26"/>
            </a:stretch>
          </a:blipFill>
        </p:spPr>
      </p:sp>
      <p:sp>
        <p:nvSpPr>
          <p:cNvPr name="TextBox 8" id="8"/>
          <p:cNvSpPr txBox="true"/>
          <p:nvPr/>
        </p:nvSpPr>
        <p:spPr>
          <a:xfrm rot="0">
            <a:off x="430473" y="85820"/>
            <a:ext cx="185585" cy="532600"/>
          </a:xfrm>
          <a:prstGeom prst="rect">
            <a:avLst/>
          </a:prstGeom>
        </p:spPr>
        <p:txBody>
          <a:bodyPr anchor="t" rtlCol="false" tIns="0" lIns="0" bIns="0" rIns="0">
            <a:spAutoFit/>
          </a:bodyPr>
          <a:lstStyle/>
          <a:p>
            <a:pPr algn="ctr">
              <a:lnSpc>
                <a:spcPts val="3719"/>
              </a:lnSpc>
            </a:pPr>
            <a:r>
              <a:rPr lang="en-US" sz="2655">
                <a:solidFill>
                  <a:srgbClr val="000000"/>
                </a:solidFill>
                <a:latin typeface="Questrial"/>
                <a:ea typeface="Questrial"/>
                <a:cs typeface="Questrial"/>
                <a:sym typeface="Questrial"/>
              </a:rPr>
              <a:t>5</a:t>
            </a:r>
          </a:p>
        </p:txBody>
      </p:sp>
      <p:grpSp>
        <p:nvGrpSpPr>
          <p:cNvPr name="Group 9" id="9"/>
          <p:cNvGrpSpPr/>
          <p:nvPr/>
        </p:nvGrpSpPr>
        <p:grpSpPr>
          <a:xfrm rot="0">
            <a:off x="7743673" y="3795617"/>
            <a:ext cx="5378148" cy="1347883"/>
            <a:chOff x="0" y="0"/>
            <a:chExt cx="7170864" cy="1797177"/>
          </a:xfrm>
        </p:grpSpPr>
        <p:sp>
          <p:nvSpPr>
            <p:cNvPr name="Freeform 10" id="10"/>
            <p:cNvSpPr/>
            <p:nvPr/>
          </p:nvSpPr>
          <p:spPr>
            <a:xfrm flipH="false" flipV="false" rot="0">
              <a:off x="0" y="0"/>
              <a:ext cx="7170928" cy="1797177"/>
            </a:xfrm>
            <a:custGeom>
              <a:avLst/>
              <a:gdLst/>
              <a:ahLst/>
              <a:cxnLst/>
              <a:rect r="r" b="b" t="t" l="l"/>
              <a:pathLst>
                <a:path h="1797177" w="7170928">
                  <a:moveTo>
                    <a:pt x="84455" y="0"/>
                  </a:moveTo>
                  <a:lnTo>
                    <a:pt x="7086473" y="0"/>
                  </a:lnTo>
                  <a:cubicBezTo>
                    <a:pt x="7133082" y="0"/>
                    <a:pt x="7170928" y="37846"/>
                    <a:pt x="7170928" y="84455"/>
                  </a:cubicBezTo>
                  <a:lnTo>
                    <a:pt x="7170928" y="1712722"/>
                  </a:lnTo>
                  <a:cubicBezTo>
                    <a:pt x="7170928" y="1759331"/>
                    <a:pt x="7133082" y="1797177"/>
                    <a:pt x="7086473" y="1797177"/>
                  </a:cubicBezTo>
                  <a:lnTo>
                    <a:pt x="84455" y="1797177"/>
                  </a:lnTo>
                  <a:cubicBezTo>
                    <a:pt x="37846" y="1797177"/>
                    <a:pt x="0" y="1759331"/>
                    <a:pt x="0" y="1712722"/>
                  </a:cubicBezTo>
                  <a:lnTo>
                    <a:pt x="0" y="84455"/>
                  </a:lnTo>
                  <a:cubicBezTo>
                    <a:pt x="0" y="37846"/>
                    <a:pt x="37846" y="0"/>
                    <a:pt x="84455" y="0"/>
                  </a:cubicBezTo>
                  <a:close/>
                </a:path>
              </a:pathLst>
            </a:custGeom>
            <a:solidFill>
              <a:srgbClr val="70B2E2"/>
            </a:solidFill>
          </p:spPr>
        </p:sp>
      </p:grpSp>
      <p:grpSp>
        <p:nvGrpSpPr>
          <p:cNvPr name="Group 11" id="11"/>
          <p:cNvGrpSpPr/>
          <p:nvPr/>
        </p:nvGrpSpPr>
        <p:grpSpPr>
          <a:xfrm rot="0">
            <a:off x="7743673" y="3685051"/>
            <a:ext cx="5378148" cy="1458449"/>
            <a:chOff x="0" y="0"/>
            <a:chExt cx="7170864" cy="1944599"/>
          </a:xfrm>
        </p:grpSpPr>
        <p:sp>
          <p:nvSpPr>
            <p:cNvPr name="Freeform 12" id="12"/>
            <p:cNvSpPr/>
            <p:nvPr/>
          </p:nvSpPr>
          <p:spPr>
            <a:xfrm flipH="false" flipV="false" rot="0">
              <a:off x="0" y="0"/>
              <a:ext cx="7170858" cy="1944598"/>
            </a:xfrm>
            <a:custGeom>
              <a:avLst/>
              <a:gdLst/>
              <a:ahLst/>
              <a:cxnLst/>
              <a:rect r="r" b="b" t="t" l="l"/>
              <a:pathLst>
                <a:path h="1944598" w="7170858">
                  <a:moveTo>
                    <a:pt x="0" y="0"/>
                  </a:moveTo>
                  <a:lnTo>
                    <a:pt x="7170858" y="0"/>
                  </a:lnTo>
                  <a:lnTo>
                    <a:pt x="7170858" y="1944598"/>
                  </a:lnTo>
                  <a:lnTo>
                    <a:pt x="0" y="1944598"/>
                  </a:lnTo>
                  <a:close/>
                </a:path>
              </a:pathLst>
            </a:custGeom>
            <a:blipFill>
              <a:blip r:embed="rId9">
                <a:alphaModFix amt="0"/>
              </a:blip>
              <a:stretch>
                <a:fillRect l="0" t="-21852" r="0" b="-21852"/>
              </a:stretch>
            </a:blipFill>
          </p:spPr>
        </p:sp>
        <p:sp>
          <p:nvSpPr>
            <p:cNvPr name="TextBox 13" id="13"/>
            <p:cNvSpPr txBox="true"/>
            <p:nvPr/>
          </p:nvSpPr>
          <p:spPr>
            <a:xfrm>
              <a:off x="0" y="-66675"/>
              <a:ext cx="7170864" cy="2011274"/>
            </a:xfrm>
            <a:prstGeom prst="rect">
              <a:avLst/>
            </a:prstGeom>
          </p:spPr>
          <p:txBody>
            <a:bodyPr anchor="ctr" rtlCol="false" tIns="0" lIns="0" bIns="0" rIns="0"/>
            <a:lstStyle/>
            <a:p>
              <a:pPr algn="ctr">
                <a:lnSpc>
                  <a:spcPts val="2859"/>
                </a:lnSpc>
              </a:pPr>
              <a:r>
                <a:rPr lang="en-US" sz="2199">
                  <a:solidFill>
                    <a:srgbClr val="FFFFFF"/>
                  </a:solidFill>
                  <a:latin typeface="Bungee"/>
                  <a:ea typeface="Bungee"/>
                  <a:cs typeface="Bungee"/>
                  <a:sym typeface="Bungee"/>
                </a:rPr>
                <a:t>Generación de informes</a:t>
              </a:r>
            </a:p>
          </p:txBody>
        </p:sp>
      </p:grpSp>
      <p:grpSp>
        <p:nvGrpSpPr>
          <p:cNvPr name="Group 14" id="14"/>
          <p:cNvGrpSpPr/>
          <p:nvPr/>
        </p:nvGrpSpPr>
        <p:grpSpPr>
          <a:xfrm rot="0">
            <a:off x="1803454" y="3795617"/>
            <a:ext cx="5378148" cy="1347883"/>
            <a:chOff x="0" y="0"/>
            <a:chExt cx="7170864" cy="1797177"/>
          </a:xfrm>
        </p:grpSpPr>
        <p:sp>
          <p:nvSpPr>
            <p:cNvPr name="Freeform 15" id="15"/>
            <p:cNvSpPr/>
            <p:nvPr/>
          </p:nvSpPr>
          <p:spPr>
            <a:xfrm flipH="false" flipV="false" rot="0">
              <a:off x="0" y="0"/>
              <a:ext cx="7170928" cy="1797177"/>
            </a:xfrm>
            <a:custGeom>
              <a:avLst/>
              <a:gdLst/>
              <a:ahLst/>
              <a:cxnLst/>
              <a:rect r="r" b="b" t="t" l="l"/>
              <a:pathLst>
                <a:path h="1797177" w="7170928">
                  <a:moveTo>
                    <a:pt x="84455" y="0"/>
                  </a:moveTo>
                  <a:lnTo>
                    <a:pt x="7086473" y="0"/>
                  </a:lnTo>
                  <a:cubicBezTo>
                    <a:pt x="7133082" y="0"/>
                    <a:pt x="7170928" y="37846"/>
                    <a:pt x="7170928" y="84455"/>
                  </a:cubicBezTo>
                  <a:lnTo>
                    <a:pt x="7170928" y="1712722"/>
                  </a:lnTo>
                  <a:cubicBezTo>
                    <a:pt x="7170928" y="1759331"/>
                    <a:pt x="7133082" y="1797177"/>
                    <a:pt x="7086473" y="1797177"/>
                  </a:cubicBezTo>
                  <a:lnTo>
                    <a:pt x="84455" y="1797177"/>
                  </a:lnTo>
                  <a:cubicBezTo>
                    <a:pt x="37846" y="1797177"/>
                    <a:pt x="0" y="1759331"/>
                    <a:pt x="0" y="1712722"/>
                  </a:cubicBezTo>
                  <a:lnTo>
                    <a:pt x="0" y="84455"/>
                  </a:lnTo>
                  <a:cubicBezTo>
                    <a:pt x="0" y="37846"/>
                    <a:pt x="37846" y="0"/>
                    <a:pt x="84455" y="0"/>
                  </a:cubicBezTo>
                  <a:close/>
                </a:path>
              </a:pathLst>
            </a:custGeom>
            <a:solidFill>
              <a:srgbClr val="70B2E2"/>
            </a:solidFill>
          </p:spPr>
        </p:sp>
      </p:grpSp>
      <p:grpSp>
        <p:nvGrpSpPr>
          <p:cNvPr name="Group 16" id="16"/>
          <p:cNvGrpSpPr/>
          <p:nvPr/>
        </p:nvGrpSpPr>
        <p:grpSpPr>
          <a:xfrm rot="0">
            <a:off x="1803454" y="3685051"/>
            <a:ext cx="5378148" cy="1458449"/>
            <a:chOff x="0" y="0"/>
            <a:chExt cx="7170864" cy="1944599"/>
          </a:xfrm>
        </p:grpSpPr>
        <p:sp>
          <p:nvSpPr>
            <p:cNvPr name="Freeform 17" id="17"/>
            <p:cNvSpPr/>
            <p:nvPr/>
          </p:nvSpPr>
          <p:spPr>
            <a:xfrm flipH="false" flipV="false" rot="0">
              <a:off x="0" y="0"/>
              <a:ext cx="7170858" cy="1944598"/>
            </a:xfrm>
            <a:custGeom>
              <a:avLst/>
              <a:gdLst/>
              <a:ahLst/>
              <a:cxnLst/>
              <a:rect r="r" b="b" t="t" l="l"/>
              <a:pathLst>
                <a:path h="1944598" w="7170858">
                  <a:moveTo>
                    <a:pt x="0" y="0"/>
                  </a:moveTo>
                  <a:lnTo>
                    <a:pt x="7170858" y="0"/>
                  </a:lnTo>
                  <a:lnTo>
                    <a:pt x="7170858" y="1944598"/>
                  </a:lnTo>
                  <a:lnTo>
                    <a:pt x="0" y="1944598"/>
                  </a:lnTo>
                  <a:close/>
                </a:path>
              </a:pathLst>
            </a:custGeom>
            <a:blipFill>
              <a:blip r:embed="rId9">
                <a:alphaModFix amt="0"/>
              </a:blip>
              <a:stretch>
                <a:fillRect l="0" t="-21852" r="0" b="-21852"/>
              </a:stretch>
            </a:blipFill>
          </p:spPr>
        </p:sp>
        <p:sp>
          <p:nvSpPr>
            <p:cNvPr name="TextBox 18" id="18"/>
            <p:cNvSpPr txBox="true"/>
            <p:nvPr/>
          </p:nvSpPr>
          <p:spPr>
            <a:xfrm>
              <a:off x="0" y="-66675"/>
              <a:ext cx="7170864" cy="2011274"/>
            </a:xfrm>
            <a:prstGeom prst="rect">
              <a:avLst/>
            </a:prstGeom>
          </p:spPr>
          <p:txBody>
            <a:bodyPr anchor="ctr" rtlCol="false" tIns="0" lIns="0" bIns="0" rIns="0"/>
            <a:lstStyle/>
            <a:p>
              <a:pPr algn="ctr">
                <a:lnSpc>
                  <a:spcPts val="2859"/>
                </a:lnSpc>
              </a:pPr>
              <a:r>
                <a:rPr lang="en-US" sz="2199">
                  <a:solidFill>
                    <a:srgbClr val="FFFFFF"/>
                  </a:solidFill>
                  <a:latin typeface="Bungee"/>
                  <a:ea typeface="Bungee"/>
                  <a:cs typeface="Bungee"/>
                  <a:sym typeface="Bungee"/>
                </a:rPr>
                <a:t>organización de vehiculos</a:t>
              </a:r>
            </a:p>
          </p:txBody>
        </p:sp>
      </p:grpSp>
      <p:grpSp>
        <p:nvGrpSpPr>
          <p:cNvPr name="Group 19" id="19"/>
          <p:cNvGrpSpPr/>
          <p:nvPr/>
        </p:nvGrpSpPr>
        <p:grpSpPr>
          <a:xfrm rot="0">
            <a:off x="1803454" y="5553627"/>
            <a:ext cx="5378148" cy="1347883"/>
            <a:chOff x="0" y="0"/>
            <a:chExt cx="7170864" cy="1797177"/>
          </a:xfrm>
        </p:grpSpPr>
        <p:sp>
          <p:nvSpPr>
            <p:cNvPr name="Freeform 20" id="20"/>
            <p:cNvSpPr/>
            <p:nvPr/>
          </p:nvSpPr>
          <p:spPr>
            <a:xfrm flipH="false" flipV="false" rot="0">
              <a:off x="0" y="0"/>
              <a:ext cx="7170928" cy="1797177"/>
            </a:xfrm>
            <a:custGeom>
              <a:avLst/>
              <a:gdLst/>
              <a:ahLst/>
              <a:cxnLst/>
              <a:rect r="r" b="b" t="t" l="l"/>
              <a:pathLst>
                <a:path h="1797177" w="7170928">
                  <a:moveTo>
                    <a:pt x="84455" y="0"/>
                  </a:moveTo>
                  <a:lnTo>
                    <a:pt x="7086473" y="0"/>
                  </a:lnTo>
                  <a:cubicBezTo>
                    <a:pt x="7133082" y="0"/>
                    <a:pt x="7170928" y="37846"/>
                    <a:pt x="7170928" y="84455"/>
                  </a:cubicBezTo>
                  <a:lnTo>
                    <a:pt x="7170928" y="1712722"/>
                  </a:lnTo>
                  <a:cubicBezTo>
                    <a:pt x="7170928" y="1759331"/>
                    <a:pt x="7133082" y="1797177"/>
                    <a:pt x="7086473" y="1797177"/>
                  </a:cubicBezTo>
                  <a:lnTo>
                    <a:pt x="84455" y="1797177"/>
                  </a:lnTo>
                  <a:cubicBezTo>
                    <a:pt x="37846" y="1797177"/>
                    <a:pt x="0" y="1759331"/>
                    <a:pt x="0" y="1712722"/>
                  </a:cubicBezTo>
                  <a:lnTo>
                    <a:pt x="0" y="84455"/>
                  </a:lnTo>
                  <a:cubicBezTo>
                    <a:pt x="0" y="37846"/>
                    <a:pt x="37846" y="0"/>
                    <a:pt x="84455" y="0"/>
                  </a:cubicBezTo>
                  <a:close/>
                </a:path>
              </a:pathLst>
            </a:custGeom>
            <a:solidFill>
              <a:srgbClr val="70B2E2"/>
            </a:solidFill>
          </p:spPr>
        </p:sp>
      </p:grpSp>
      <p:grpSp>
        <p:nvGrpSpPr>
          <p:cNvPr name="Group 21" id="21"/>
          <p:cNvGrpSpPr/>
          <p:nvPr/>
        </p:nvGrpSpPr>
        <p:grpSpPr>
          <a:xfrm rot="0">
            <a:off x="1803454" y="5443061"/>
            <a:ext cx="5378148" cy="1458449"/>
            <a:chOff x="0" y="0"/>
            <a:chExt cx="7170864" cy="1944599"/>
          </a:xfrm>
        </p:grpSpPr>
        <p:sp>
          <p:nvSpPr>
            <p:cNvPr name="Freeform 22" id="22"/>
            <p:cNvSpPr/>
            <p:nvPr/>
          </p:nvSpPr>
          <p:spPr>
            <a:xfrm flipH="false" flipV="false" rot="0">
              <a:off x="0" y="0"/>
              <a:ext cx="7170858" cy="1944598"/>
            </a:xfrm>
            <a:custGeom>
              <a:avLst/>
              <a:gdLst/>
              <a:ahLst/>
              <a:cxnLst/>
              <a:rect r="r" b="b" t="t" l="l"/>
              <a:pathLst>
                <a:path h="1944598" w="7170858">
                  <a:moveTo>
                    <a:pt x="0" y="0"/>
                  </a:moveTo>
                  <a:lnTo>
                    <a:pt x="7170858" y="0"/>
                  </a:lnTo>
                  <a:lnTo>
                    <a:pt x="7170858" y="1944598"/>
                  </a:lnTo>
                  <a:lnTo>
                    <a:pt x="0" y="1944598"/>
                  </a:lnTo>
                  <a:close/>
                </a:path>
              </a:pathLst>
            </a:custGeom>
            <a:blipFill>
              <a:blip r:embed="rId9">
                <a:alphaModFix amt="0"/>
              </a:blip>
              <a:stretch>
                <a:fillRect l="0" t="-21852" r="0" b="-21852"/>
              </a:stretch>
            </a:blipFill>
          </p:spPr>
        </p:sp>
        <p:sp>
          <p:nvSpPr>
            <p:cNvPr name="TextBox 23" id="23"/>
            <p:cNvSpPr txBox="true"/>
            <p:nvPr/>
          </p:nvSpPr>
          <p:spPr>
            <a:xfrm>
              <a:off x="0" y="-66675"/>
              <a:ext cx="7170864" cy="2011274"/>
            </a:xfrm>
            <a:prstGeom prst="rect">
              <a:avLst/>
            </a:prstGeom>
          </p:spPr>
          <p:txBody>
            <a:bodyPr anchor="ctr" rtlCol="false" tIns="0" lIns="0" bIns="0" rIns="0"/>
            <a:lstStyle/>
            <a:p>
              <a:pPr algn="ctr">
                <a:lnSpc>
                  <a:spcPts val="2859"/>
                </a:lnSpc>
              </a:pPr>
              <a:r>
                <a:rPr lang="en-US" sz="2199">
                  <a:solidFill>
                    <a:srgbClr val="FFFFFF"/>
                  </a:solidFill>
                  <a:latin typeface="Bungee"/>
                  <a:ea typeface="Bungee"/>
                  <a:cs typeface="Bungee"/>
                  <a:sym typeface="Bungee"/>
                </a:rPr>
                <a:t>administración de empleados</a:t>
              </a:r>
            </a:p>
          </p:txBody>
        </p:sp>
      </p:grpSp>
      <p:grpSp>
        <p:nvGrpSpPr>
          <p:cNvPr name="Group 24" id="24"/>
          <p:cNvGrpSpPr/>
          <p:nvPr/>
        </p:nvGrpSpPr>
        <p:grpSpPr>
          <a:xfrm rot="0">
            <a:off x="7743673" y="5553627"/>
            <a:ext cx="5378148" cy="1347883"/>
            <a:chOff x="0" y="0"/>
            <a:chExt cx="7170864" cy="1797177"/>
          </a:xfrm>
        </p:grpSpPr>
        <p:sp>
          <p:nvSpPr>
            <p:cNvPr name="Freeform 25" id="25"/>
            <p:cNvSpPr/>
            <p:nvPr/>
          </p:nvSpPr>
          <p:spPr>
            <a:xfrm flipH="false" flipV="false" rot="0">
              <a:off x="0" y="0"/>
              <a:ext cx="7170928" cy="1797177"/>
            </a:xfrm>
            <a:custGeom>
              <a:avLst/>
              <a:gdLst/>
              <a:ahLst/>
              <a:cxnLst/>
              <a:rect r="r" b="b" t="t" l="l"/>
              <a:pathLst>
                <a:path h="1797177" w="7170928">
                  <a:moveTo>
                    <a:pt x="84455" y="0"/>
                  </a:moveTo>
                  <a:lnTo>
                    <a:pt x="7086473" y="0"/>
                  </a:lnTo>
                  <a:cubicBezTo>
                    <a:pt x="7133082" y="0"/>
                    <a:pt x="7170928" y="37846"/>
                    <a:pt x="7170928" y="84455"/>
                  </a:cubicBezTo>
                  <a:lnTo>
                    <a:pt x="7170928" y="1712722"/>
                  </a:lnTo>
                  <a:cubicBezTo>
                    <a:pt x="7170928" y="1759331"/>
                    <a:pt x="7133082" y="1797177"/>
                    <a:pt x="7086473" y="1797177"/>
                  </a:cubicBezTo>
                  <a:lnTo>
                    <a:pt x="84455" y="1797177"/>
                  </a:lnTo>
                  <a:cubicBezTo>
                    <a:pt x="37846" y="1797177"/>
                    <a:pt x="0" y="1759331"/>
                    <a:pt x="0" y="1712722"/>
                  </a:cubicBezTo>
                  <a:lnTo>
                    <a:pt x="0" y="84455"/>
                  </a:lnTo>
                  <a:cubicBezTo>
                    <a:pt x="0" y="37846"/>
                    <a:pt x="37846" y="0"/>
                    <a:pt x="84455" y="0"/>
                  </a:cubicBezTo>
                  <a:close/>
                </a:path>
              </a:pathLst>
            </a:custGeom>
            <a:solidFill>
              <a:srgbClr val="70B2E2"/>
            </a:solidFill>
          </p:spPr>
        </p:sp>
      </p:grpSp>
      <p:grpSp>
        <p:nvGrpSpPr>
          <p:cNvPr name="Group 26" id="26"/>
          <p:cNvGrpSpPr/>
          <p:nvPr/>
        </p:nvGrpSpPr>
        <p:grpSpPr>
          <a:xfrm rot="0">
            <a:off x="7743673" y="5443061"/>
            <a:ext cx="5378148" cy="1458449"/>
            <a:chOff x="0" y="0"/>
            <a:chExt cx="7170864" cy="1944599"/>
          </a:xfrm>
        </p:grpSpPr>
        <p:sp>
          <p:nvSpPr>
            <p:cNvPr name="Freeform 27" id="27"/>
            <p:cNvSpPr/>
            <p:nvPr/>
          </p:nvSpPr>
          <p:spPr>
            <a:xfrm flipH="false" flipV="false" rot="0">
              <a:off x="0" y="0"/>
              <a:ext cx="7170858" cy="1944598"/>
            </a:xfrm>
            <a:custGeom>
              <a:avLst/>
              <a:gdLst/>
              <a:ahLst/>
              <a:cxnLst/>
              <a:rect r="r" b="b" t="t" l="l"/>
              <a:pathLst>
                <a:path h="1944598" w="7170858">
                  <a:moveTo>
                    <a:pt x="0" y="0"/>
                  </a:moveTo>
                  <a:lnTo>
                    <a:pt x="7170858" y="0"/>
                  </a:lnTo>
                  <a:lnTo>
                    <a:pt x="7170858" y="1944598"/>
                  </a:lnTo>
                  <a:lnTo>
                    <a:pt x="0" y="1944598"/>
                  </a:lnTo>
                  <a:close/>
                </a:path>
              </a:pathLst>
            </a:custGeom>
            <a:blipFill>
              <a:blip r:embed="rId9">
                <a:alphaModFix amt="0"/>
              </a:blip>
              <a:stretch>
                <a:fillRect l="0" t="-21852" r="0" b="-21852"/>
              </a:stretch>
            </a:blipFill>
          </p:spPr>
        </p:sp>
        <p:sp>
          <p:nvSpPr>
            <p:cNvPr name="TextBox 28" id="28"/>
            <p:cNvSpPr txBox="true"/>
            <p:nvPr/>
          </p:nvSpPr>
          <p:spPr>
            <a:xfrm>
              <a:off x="0" y="-66675"/>
              <a:ext cx="7170864" cy="2011274"/>
            </a:xfrm>
            <a:prstGeom prst="rect">
              <a:avLst/>
            </a:prstGeom>
          </p:spPr>
          <p:txBody>
            <a:bodyPr anchor="ctr" rtlCol="false" tIns="0" lIns="0" bIns="0" rIns="0"/>
            <a:lstStyle/>
            <a:p>
              <a:pPr algn="ctr">
                <a:lnSpc>
                  <a:spcPts val="2859"/>
                </a:lnSpc>
              </a:pPr>
              <a:r>
                <a:rPr lang="en-US" sz="2199">
                  <a:solidFill>
                    <a:srgbClr val="FFFFFF"/>
                  </a:solidFill>
                  <a:latin typeface="Bungee"/>
                  <a:ea typeface="Bungee"/>
                  <a:cs typeface="Bungee"/>
                  <a:sym typeface="Bungee"/>
                </a:rPr>
                <a:t>minimizar retrasos</a:t>
              </a:r>
            </a:p>
          </p:txBody>
        </p:sp>
      </p:grpSp>
      <p:grpSp>
        <p:nvGrpSpPr>
          <p:cNvPr name="Group 29" id="29"/>
          <p:cNvGrpSpPr/>
          <p:nvPr/>
        </p:nvGrpSpPr>
        <p:grpSpPr>
          <a:xfrm rot="0">
            <a:off x="1803454" y="7311085"/>
            <a:ext cx="5378148" cy="1347883"/>
            <a:chOff x="0" y="0"/>
            <a:chExt cx="7170864" cy="1797177"/>
          </a:xfrm>
        </p:grpSpPr>
        <p:sp>
          <p:nvSpPr>
            <p:cNvPr name="Freeform 30" id="30"/>
            <p:cNvSpPr/>
            <p:nvPr/>
          </p:nvSpPr>
          <p:spPr>
            <a:xfrm flipH="false" flipV="false" rot="0">
              <a:off x="0" y="0"/>
              <a:ext cx="7170928" cy="1797177"/>
            </a:xfrm>
            <a:custGeom>
              <a:avLst/>
              <a:gdLst/>
              <a:ahLst/>
              <a:cxnLst/>
              <a:rect r="r" b="b" t="t" l="l"/>
              <a:pathLst>
                <a:path h="1797177" w="7170928">
                  <a:moveTo>
                    <a:pt x="84455" y="0"/>
                  </a:moveTo>
                  <a:lnTo>
                    <a:pt x="7086473" y="0"/>
                  </a:lnTo>
                  <a:cubicBezTo>
                    <a:pt x="7133082" y="0"/>
                    <a:pt x="7170928" y="37846"/>
                    <a:pt x="7170928" y="84455"/>
                  </a:cubicBezTo>
                  <a:lnTo>
                    <a:pt x="7170928" y="1712722"/>
                  </a:lnTo>
                  <a:cubicBezTo>
                    <a:pt x="7170928" y="1759331"/>
                    <a:pt x="7133082" y="1797177"/>
                    <a:pt x="7086473" y="1797177"/>
                  </a:cubicBezTo>
                  <a:lnTo>
                    <a:pt x="84455" y="1797177"/>
                  </a:lnTo>
                  <a:cubicBezTo>
                    <a:pt x="37846" y="1797177"/>
                    <a:pt x="0" y="1759331"/>
                    <a:pt x="0" y="1712722"/>
                  </a:cubicBezTo>
                  <a:lnTo>
                    <a:pt x="0" y="84455"/>
                  </a:lnTo>
                  <a:cubicBezTo>
                    <a:pt x="0" y="37846"/>
                    <a:pt x="37846" y="0"/>
                    <a:pt x="84455" y="0"/>
                  </a:cubicBezTo>
                  <a:close/>
                </a:path>
              </a:pathLst>
            </a:custGeom>
            <a:solidFill>
              <a:srgbClr val="70B2E2"/>
            </a:solidFill>
          </p:spPr>
        </p:sp>
      </p:grpSp>
      <p:grpSp>
        <p:nvGrpSpPr>
          <p:cNvPr name="Group 31" id="31"/>
          <p:cNvGrpSpPr/>
          <p:nvPr/>
        </p:nvGrpSpPr>
        <p:grpSpPr>
          <a:xfrm rot="0">
            <a:off x="1803454" y="7200519"/>
            <a:ext cx="5378148" cy="1458449"/>
            <a:chOff x="0" y="0"/>
            <a:chExt cx="7170864" cy="1944599"/>
          </a:xfrm>
        </p:grpSpPr>
        <p:sp>
          <p:nvSpPr>
            <p:cNvPr name="Freeform 32" id="32"/>
            <p:cNvSpPr/>
            <p:nvPr/>
          </p:nvSpPr>
          <p:spPr>
            <a:xfrm flipH="false" flipV="false" rot="0">
              <a:off x="0" y="0"/>
              <a:ext cx="7170858" cy="1944598"/>
            </a:xfrm>
            <a:custGeom>
              <a:avLst/>
              <a:gdLst/>
              <a:ahLst/>
              <a:cxnLst/>
              <a:rect r="r" b="b" t="t" l="l"/>
              <a:pathLst>
                <a:path h="1944598" w="7170858">
                  <a:moveTo>
                    <a:pt x="0" y="0"/>
                  </a:moveTo>
                  <a:lnTo>
                    <a:pt x="7170858" y="0"/>
                  </a:lnTo>
                  <a:lnTo>
                    <a:pt x="7170858" y="1944598"/>
                  </a:lnTo>
                  <a:lnTo>
                    <a:pt x="0" y="1944598"/>
                  </a:lnTo>
                  <a:close/>
                </a:path>
              </a:pathLst>
            </a:custGeom>
            <a:blipFill>
              <a:blip r:embed="rId9">
                <a:alphaModFix amt="0"/>
              </a:blip>
              <a:stretch>
                <a:fillRect l="0" t="-21852" r="0" b="-21852"/>
              </a:stretch>
            </a:blipFill>
          </p:spPr>
        </p:sp>
        <p:sp>
          <p:nvSpPr>
            <p:cNvPr name="TextBox 33" id="33"/>
            <p:cNvSpPr txBox="true"/>
            <p:nvPr/>
          </p:nvSpPr>
          <p:spPr>
            <a:xfrm>
              <a:off x="0" y="-66675"/>
              <a:ext cx="7170864" cy="2011274"/>
            </a:xfrm>
            <a:prstGeom prst="rect">
              <a:avLst/>
            </a:prstGeom>
          </p:spPr>
          <p:txBody>
            <a:bodyPr anchor="ctr" rtlCol="false" tIns="0" lIns="0" bIns="0" rIns="0"/>
            <a:lstStyle/>
            <a:p>
              <a:pPr algn="ctr">
                <a:lnSpc>
                  <a:spcPts val="2859"/>
                </a:lnSpc>
              </a:pPr>
              <a:r>
                <a:rPr lang="en-US" sz="2199">
                  <a:solidFill>
                    <a:srgbClr val="FFFFFF"/>
                  </a:solidFill>
                  <a:latin typeface="Bungee"/>
                  <a:ea typeface="Bungee"/>
                  <a:cs typeface="Bungee"/>
                  <a:sym typeface="Bungee"/>
                </a:rPr>
                <a:t>optimizar trayectos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sp>
        <p:nvSpPr>
          <p:cNvPr name="Freeform 2" id="2"/>
          <p:cNvSpPr/>
          <p:nvPr/>
        </p:nvSpPr>
        <p:spPr>
          <a:xfrm flipH="false" flipV="false" rot="0">
            <a:off x="902122" y="361283"/>
            <a:ext cx="16818493" cy="9365523"/>
          </a:xfrm>
          <a:custGeom>
            <a:avLst/>
            <a:gdLst/>
            <a:ahLst/>
            <a:cxnLst/>
            <a:rect r="r" b="b" t="t" l="l"/>
            <a:pathLst>
              <a:path h="9365523" w="16818493">
                <a:moveTo>
                  <a:pt x="0" y="0"/>
                </a:moveTo>
                <a:lnTo>
                  <a:pt x="16818493" y="0"/>
                </a:lnTo>
                <a:lnTo>
                  <a:pt x="16818493" y="9365523"/>
                </a:lnTo>
                <a:lnTo>
                  <a:pt x="0" y="9365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904235" y="219170"/>
            <a:ext cx="720481" cy="1619050"/>
          </a:xfrm>
          <a:custGeom>
            <a:avLst/>
            <a:gdLst/>
            <a:ahLst/>
            <a:cxnLst/>
            <a:rect r="r" b="b" t="t" l="l"/>
            <a:pathLst>
              <a:path h="1619050" w="720481">
                <a:moveTo>
                  <a:pt x="0" y="0"/>
                </a:moveTo>
                <a:lnTo>
                  <a:pt x="720481" y="0"/>
                </a:lnTo>
                <a:lnTo>
                  <a:pt x="720481" y="1619050"/>
                </a:lnTo>
                <a:lnTo>
                  <a:pt x="0" y="1619050"/>
                </a:lnTo>
                <a:lnTo>
                  <a:pt x="0" y="0"/>
                </a:lnTo>
                <a:close/>
              </a:path>
            </a:pathLst>
          </a:custGeom>
          <a:blipFill>
            <a:blip r:embed="rId4">
              <a:extLst>
                <a:ext uri="{96DAC541-7B7A-43D3-8B79-37D633B846F1}">
                  <asvg:svgBlip xmlns:asvg="http://schemas.microsoft.com/office/drawing/2016/SVG/main" r:embed="rId5"/>
                </a:ext>
              </a:extLst>
            </a:blip>
            <a:stretch>
              <a:fillRect l="0" t="-62" r="0" b="-62"/>
            </a:stretch>
          </a:blipFill>
        </p:spPr>
      </p:sp>
      <p:sp>
        <p:nvSpPr>
          <p:cNvPr name="Freeform 4" id="4"/>
          <p:cNvSpPr/>
          <p:nvPr/>
        </p:nvSpPr>
        <p:spPr>
          <a:xfrm flipH="false" flipV="false" rot="0">
            <a:off x="12489237" y="2770394"/>
            <a:ext cx="4770063" cy="4746212"/>
          </a:xfrm>
          <a:custGeom>
            <a:avLst/>
            <a:gdLst/>
            <a:ahLst/>
            <a:cxnLst/>
            <a:rect r="r" b="b" t="t" l="l"/>
            <a:pathLst>
              <a:path h="4746212" w="4770063">
                <a:moveTo>
                  <a:pt x="0" y="0"/>
                </a:moveTo>
                <a:lnTo>
                  <a:pt x="4770063" y="0"/>
                </a:lnTo>
                <a:lnTo>
                  <a:pt x="4770063" y="4746212"/>
                </a:lnTo>
                <a:lnTo>
                  <a:pt x="0" y="4746212"/>
                </a:lnTo>
                <a:lnTo>
                  <a:pt x="0" y="0"/>
                </a:lnTo>
                <a:close/>
              </a:path>
            </a:pathLst>
          </a:custGeom>
          <a:blipFill>
            <a:blip r:embed="rId6">
              <a:extLst>
                <a:ext uri="{96DAC541-7B7A-43D3-8B79-37D633B846F1}">
                  <asvg:svgBlip xmlns:asvg="http://schemas.microsoft.com/office/drawing/2016/SVG/main" r:embed="rId7"/>
                </a:ext>
              </a:extLst>
            </a:blip>
            <a:stretch>
              <a:fillRect l="0" t="-251" r="0" b="-251"/>
            </a:stretch>
          </a:blipFill>
        </p:spPr>
      </p:sp>
      <p:sp>
        <p:nvSpPr>
          <p:cNvPr name="TextBox 5" id="5"/>
          <p:cNvSpPr txBox="true"/>
          <p:nvPr/>
        </p:nvSpPr>
        <p:spPr>
          <a:xfrm rot="0">
            <a:off x="6457845" y="1026519"/>
            <a:ext cx="5044154" cy="1318612"/>
          </a:xfrm>
          <a:prstGeom prst="rect">
            <a:avLst/>
          </a:prstGeom>
        </p:spPr>
        <p:txBody>
          <a:bodyPr anchor="t" rtlCol="false" tIns="0" lIns="0" bIns="0" rIns="0">
            <a:spAutoFit/>
          </a:bodyPr>
          <a:lstStyle/>
          <a:p>
            <a:pPr algn="l">
              <a:lnSpc>
                <a:spcPts val="8282"/>
              </a:lnSpc>
            </a:pPr>
            <a:r>
              <a:rPr lang="en-US" sz="6678">
                <a:solidFill>
                  <a:srgbClr val="000000"/>
                </a:solidFill>
                <a:latin typeface="Bungee"/>
                <a:ea typeface="Bungee"/>
                <a:cs typeface="Bungee"/>
                <a:sym typeface="Bungee"/>
              </a:rPr>
              <a:t>Solución</a:t>
            </a:r>
          </a:p>
        </p:txBody>
      </p:sp>
      <p:sp>
        <p:nvSpPr>
          <p:cNvPr name="TextBox 6" id="6"/>
          <p:cNvSpPr txBox="true"/>
          <p:nvPr/>
        </p:nvSpPr>
        <p:spPr>
          <a:xfrm rot="0">
            <a:off x="2268522" y="2644073"/>
            <a:ext cx="8643356" cy="2552614"/>
          </a:xfrm>
          <a:prstGeom prst="rect">
            <a:avLst/>
          </a:prstGeom>
        </p:spPr>
        <p:txBody>
          <a:bodyPr anchor="t" rtlCol="false" tIns="0" lIns="0" bIns="0" rIns="0">
            <a:spAutoFit/>
          </a:bodyPr>
          <a:lstStyle/>
          <a:p>
            <a:pPr algn="l">
              <a:lnSpc>
                <a:spcPts val="3330"/>
              </a:lnSpc>
            </a:pPr>
            <a:r>
              <a:rPr lang="en-US" sz="2378">
                <a:solidFill>
                  <a:srgbClr val="000000"/>
                </a:solidFill>
                <a:latin typeface="Questrial"/>
                <a:ea typeface="Questrial"/>
                <a:cs typeface="Questrial"/>
                <a:sym typeface="Questrial"/>
              </a:rPr>
              <a:t>La aplicación se conectará a una API que gestionará las operaciones y almacenará la información de forma persistente en una base de datos, permitiendo acceder a los datos de manera organizada, facilitar el seguimiento de los vehículos y empleados, reducir la pérdida de información y disminuir el tiempo destinado a tareas administrativas</a:t>
            </a:r>
          </a:p>
        </p:txBody>
      </p:sp>
      <p:grpSp>
        <p:nvGrpSpPr>
          <p:cNvPr name="Group 7" id="7"/>
          <p:cNvGrpSpPr/>
          <p:nvPr/>
        </p:nvGrpSpPr>
        <p:grpSpPr>
          <a:xfrm rot="0">
            <a:off x="2268522" y="5722849"/>
            <a:ext cx="5378148" cy="1347883"/>
            <a:chOff x="0" y="0"/>
            <a:chExt cx="7170864" cy="1797177"/>
          </a:xfrm>
        </p:grpSpPr>
        <p:sp>
          <p:nvSpPr>
            <p:cNvPr name="Freeform 8" id="8"/>
            <p:cNvSpPr/>
            <p:nvPr/>
          </p:nvSpPr>
          <p:spPr>
            <a:xfrm flipH="false" flipV="false" rot="0">
              <a:off x="0" y="0"/>
              <a:ext cx="7170928" cy="1797177"/>
            </a:xfrm>
            <a:custGeom>
              <a:avLst/>
              <a:gdLst/>
              <a:ahLst/>
              <a:cxnLst/>
              <a:rect r="r" b="b" t="t" l="l"/>
              <a:pathLst>
                <a:path h="1797177" w="7170928">
                  <a:moveTo>
                    <a:pt x="84455" y="0"/>
                  </a:moveTo>
                  <a:lnTo>
                    <a:pt x="7086473" y="0"/>
                  </a:lnTo>
                  <a:cubicBezTo>
                    <a:pt x="7133082" y="0"/>
                    <a:pt x="7170928" y="37846"/>
                    <a:pt x="7170928" y="84455"/>
                  </a:cubicBezTo>
                  <a:lnTo>
                    <a:pt x="7170928" y="1712722"/>
                  </a:lnTo>
                  <a:cubicBezTo>
                    <a:pt x="7170928" y="1759331"/>
                    <a:pt x="7133082" y="1797177"/>
                    <a:pt x="7086473" y="1797177"/>
                  </a:cubicBezTo>
                  <a:lnTo>
                    <a:pt x="84455" y="1797177"/>
                  </a:lnTo>
                  <a:cubicBezTo>
                    <a:pt x="37846" y="1797177"/>
                    <a:pt x="0" y="1759331"/>
                    <a:pt x="0" y="1712722"/>
                  </a:cubicBezTo>
                  <a:lnTo>
                    <a:pt x="0" y="84455"/>
                  </a:lnTo>
                  <a:cubicBezTo>
                    <a:pt x="0" y="37846"/>
                    <a:pt x="37846" y="0"/>
                    <a:pt x="84455" y="0"/>
                  </a:cubicBezTo>
                  <a:close/>
                </a:path>
              </a:pathLst>
            </a:custGeom>
            <a:solidFill>
              <a:srgbClr val="70B2E2"/>
            </a:solidFill>
          </p:spPr>
        </p:sp>
      </p:grpSp>
      <p:grpSp>
        <p:nvGrpSpPr>
          <p:cNvPr name="Group 9" id="9"/>
          <p:cNvGrpSpPr/>
          <p:nvPr/>
        </p:nvGrpSpPr>
        <p:grpSpPr>
          <a:xfrm rot="0">
            <a:off x="2268522" y="5612282"/>
            <a:ext cx="5378148" cy="1458449"/>
            <a:chOff x="0" y="0"/>
            <a:chExt cx="7170864" cy="1944599"/>
          </a:xfrm>
        </p:grpSpPr>
        <p:sp>
          <p:nvSpPr>
            <p:cNvPr name="Freeform 10" id="10"/>
            <p:cNvSpPr/>
            <p:nvPr/>
          </p:nvSpPr>
          <p:spPr>
            <a:xfrm flipH="false" flipV="false" rot="0">
              <a:off x="0" y="0"/>
              <a:ext cx="7170858" cy="1944598"/>
            </a:xfrm>
            <a:custGeom>
              <a:avLst/>
              <a:gdLst/>
              <a:ahLst/>
              <a:cxnLst/>
              <a:rect r="r" b="b" t="t" l="l"/>
              <a:pathLst>
                <a:path h="1944598" w="7170858">
                  <a:moveTo>
                    <a:pt x="0" y="0"/>
                  </a:moveTo>
                  <a:lnTo>
                    <a:pt x="7170858" y="0"/>
                  </a:lnTo>
                  <a:lnTo>
                    <a:pt x="7170858" y="1944598"/>
                  </a:lnTo>
                  <a:lnTo>
                    <a:pt x="0" y="1944598"/>
                  </a:lnTo>
                  <a:close/>
                </a:path>
              </a:pathLst>
            </a:custGeom>
            <a:blipFill>
              <a:blip r:embed="rId8">
                <a:alphaModFix amt="0"/>
              </a:blip>
              <a:stretch>
                <a:fillRect l="0" t="-21852" r="0" b="-21852"/>
              </a:stretch>
            </a:blipFill>
          </p:spPr>
        </p:sp>
        <p:sp>
          <p:nvSpPr>
            <p:cNvPr name="TextBox 11" id="11"/>
            <p:cNvSpPr txBox="true"/>
            <p:nvPr/>
          </p:nvSpPr>
          <p:spPr>
            <a:xfrm>
              <a:off x="0" y="-66675"/>
              <a:ext cx="7170864" cy="2011274"/>
            </a:xfrm>
            <a:prstGeom prst="rect">
              <a:avLst/>
            </a:prstGeom>
          </p:spPr>
          <p:txBody>
            <a:bodyPr anchor="ctr" rtlCol="false" tIns="0" lIns="0" bIns="0" rIns="0"/>
            <a:lstStyle/>
            <a:p>
              <a:pPr algn="ctr">
                <a:lnSpc>
                  <a:spcPts val="2859"/>
                </a:lnSpc>
              </a:pPr>
              <a:r>
                <a:rPr lang="en-US" sz="2199">
                  <a:solidFill>
                    <a:srgbClr val="FFFFFF"/>
                  </a:solidFill>
                  <a:latin typeface="Bungee"/>
                  <a:ea typeface="Bungee"/>
                  <a:cs typeface="Bungee"/>
                  <a:sym typeface="Bungee"/>
                </a:rPr>
                <a:t>El sistema consulta y registra los vehiculos</a:t>
              </a:r>
            </a:p>
          </p:txBody>
        </p:sp>
      </p:grpSp>
      <p:grpSp>
        <p:nvGrpSpPr>
          <p:cNvPr name="Group 12" id="12"/>
          <p:cNvGrpSpPr/>
          <p:nvPr/>
        </p:nvGrpSpPr>
        <p:grpSpPr>
          <a:xfrm rot="0">
            <a:off x="2268522" y="7480297"/>
            <a:ext cx="5378148" cy="1347883"/>
            <a:chOff x="0" y="0"/>
            <a:chExt cx="7170864" cy="1797177"/>
          </a:xfrm>
        </p:grpSpPr>
        <p:sp>
          <p:nvSpPr>
            <p:cNvPr name="Freeform 13" id="13"/>
            <p:cNvSpPr/>
            <p:nvPr/>
          </p:nvSpPr>
          <p:spPr>
            <a:xfrm flipH="false" flipV="false" rot="0">
              <a:off x="0" y="0"/>
              <a:ext cx="7170928" cy="1797177"/>
            </a:xfrm>
            <a:custGeom>
              <a:avLst/>
              <a:gdLst/>
              <a:ahLst/>
              <a:cxnLst/>
              <a:rect r="r" b="b" t="t" l="l"/>
              <a:pathLst>
                <a:path h="1797177" w="7170928">
                  <a:moveTo>
                    <a:pt x="84455" y="0"/>
                  </a:moveTo>
                  <a:lnTo>
                    <a:pt x="7086473" y="0"/>
                  </a:lnTo>
                  <a:cubicBezTo>
                    <a:pt x="7133082" y="0"/>
                    <a:pt x="7170928" y="37846"/>
                    <a:pt x="7170928" y="84455"/>
                  </a:cubicBezTo>
                  <a:lnTo>
                    <a:pt x="7170928" y="1712722"/>
                  </a:lnTo>
                  <a:cubicBezTo>
                    <a:pt x="7170928" y="1759331"/>
                    <a:pt x="7133082" y="1797177"/>
                    <a:pt x="7086473" y="1797177"/>
                  </a:cubicBezTo>
                  <a:lnTo>
                    <a:pt x="84455" y="1797177"/>
                  </a:lnTo>
                  <a:cubicBezTo>
                    <a:pt x="37846" y="1797177"/>
                    <a:pt x="0" y="1759331"/>
                    <a:pt x="0" y="1712722"/>
                  </a:cubicBezTo>
                  <a:lnTo>
                    <a:pt x="0" y="84455"/>
                  </a:lnTo>
                  <a:cubicBezTo>
                    <a:pt x="0" y="37846"/>
                    <a:pt x="37846" y="0"/>
                    <a:pt x="84455" y="0"/>
                  </a:cubicBezTo>
                  <a:close/>
                </a:path>
              </a:pathLst>
            </a:custGeom>
            <a:solidFill>
              <a:srgbClr val="70B2E2"/>
            </a:solidFill>
          </p:spPr>
        </p:sp>
      </p:grpSp>
      <p:grpSp>
        <p:nvGrpSpPr>
          <p:cNvPr name="Group 14" id="14"/>
          <p:cNvGrpSpPr/>
          <p:nvPr/>
        </p:nvGrpSpPr>
        <p:grpSpPr>
          <a:xfrm rot="0">
            <a:off x="2268522" y="7369731"/>
            <a:ext cx="5378148" cy="1458449"/>
            <a:chOff x="0" y="0"/>
            <a:chExt cx="7170864" cy="1944599"/>
          </a:xfrm>
        </p:grpSpPr>
        <p:sp>
          <p:nvSpPr>
            <p:cNvPr name="Freeform 15" id="15"/>
            <p:cNvSpPr/>
            <p:nvPr/>
          </p:nvSpPr>
          <p:spPr>
            <a:xfrm flipH="false" flipV="false" rot="0">
              <a:off x="0" y="0"/>
              <a:ext cx="7170858" cy="1944598"/>
            </a:xfrm>
            <a:custGeom>
              <a:avLst/>
              <a:gdLst/>
              <a:ahLst/>
              <a:cxnLst/>
              <a:rect r="r" b="b" t="t" l="l"/>
              <a:pathLst>
                <a:path h="1944598" w="7170858">
                  <a:moveTo>
                    <a:pt x="0" y="0"/>
                  </a:moveTo>
                  <a:lnTo>
                    <a:pt x="7170858" y="0"/>
                  </a:lnTo>
                  <a:lnTo>
                    <a:pt x="7170858" y="1944598"/>
                  </a:lnTo>
                  <a:lnTo>
                    <a:pt x="0" y="1944598"/>
                  </a:lnTo>
                  <a:close/>
                </a:path>
              </a:pathLst>
            </a:custGeom>
            <a:blipFill>
              <a:blip r:embed="rId8">
                <a:alphaModFix amt="0"/>
              </a:blip>
              <a:stretch>
                <a:fillRect l="0" t="-21852" r="0" b="-21852"/>
              </a:stretch>
            </a:blipFill>
          </p:spPr>
        </p:sp>
        <p:sp>
          <p:nvSpPr>
            <p:cNvPr name="TextBox 16" id="16"/>
            <p:cNvSpPr txBox="true"/>
            <p:nvPr/>
          </p:nvSpPr>
          <p:spPr>
            <a:xfrm>
              <a:off x="0" y="-66675"/>
              <a:ext cx="7170864" cy="2011274"/>
            </a:xfrm>
            <a:prstGeom prst="rect">
              <a:avLst/>
            </a:prstGeom>
          </p:spPr>
          <p:txBody>
            <a:bodyPr anchor="ctr" rtlCol="false" tIns="0" lIns="0" bIns="0" rIns="0"/>
            <a:lstStyle/>
            <a:p>
              <a:pPr algn="ctr">
                <a:lnSpc>
                  <a:spcPts val="2859"/>
                </a:lnSpc>
              </a:pPr>
              <a:r>
                <a:rPr lang="en-US" sz="2199">
                  <a:solidFill>
                    <a:srgbClr val="FFFFFF"/>
                  </a:solidFill>
                  <a:latin typeface="Bungee"/>
                  <a:ea typeface="Bungee"/>
                  <a:cs typeface="Bungee"/>
                  <a:sym typeface="Bungee"/>
                </a:rPr>
                <a:t>Administra información de empleados</a:t>
              </a:r>
            </a:p>
          </p:txBody>
        </p:sp>
      </p:grpSp>
      <p:sp>
        <p:nvSpPr>
          <p:cNvPr name="TextBox 17" id="17"/>
          <p:cNvSpPr txBox="true"/>
          <p:nvPr/>
        </p:nvSpPr>
        <p:spPr>
          <a:xfrm rot="0">
            <a:off x="430473" y="85820"/>
            <a:ext cx="185585" cy="532600"/>
          </a:xfrm>
          <a:prstGeom prst="rect">
            <a:avLst/>
          </a:prstGeom>
        </p:spPr>
        <p:txBody>
          <a:bodyPr anchor="t" rtlCol="false" tIns="0" lIns="0" bIns="0" rIns="0">
            <a:spAutoFit/>
          </a:bodyPr>
          <a:lstStyle/>
          <a:p>
            <a:pPr algn="ctr">
              <a:lnSpc>
                <a:spcPts val="3719"/>
              </a:lnSpc>
            </a:pPr>
            <a:r>
              <a:rPr lang="en-US" sz="2655">
                <a:solidFill>
                  <a:srgbClr val="000000"/>
                </a:solidFill>
                <a:latin typeface="Questrial"/>
                <a:ea typeface="Questrial"/>
                <a:cs typeface="Questrial"/>
                <a:sym typeface="Questrial"/>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sp>
        <p:nvSpPr>
          <p:cNvPr name="Freeform 2" id="2"/>
          <p:cNvSpPr/>
          <p:nvPr/>
        </p:nvSpPr>
        <p:spPr>
          <a:xfrm flipH="false" flipV="false" rot="0">
            <a:off x="734749" y="361283"/>
            <a:ext cx="16818493" cy="9365523"/>
          </a:xfrm>
          <a:custGeom>
            <a:avLst/>
            <a:gdLst/>
            <a:ahLst/>
            <a:cxnLst/>
            <a:rect r="r" b="b" t="t" l="l"/>
            <a:pathLst>
              <a:path h="9365523" w="16818493">
                <a:moveTo>
                  <a:pt x="0" y="0"/>
                </a:moveTo>
                <a:lnTo>
                  <a:pt x="16818493" y="0"/>
                </a:lnTo>
                <a:lnTo>
                  <a:pt x="16818493" y="9365523"/>
                </a:lnTo>
                <a:lnTo>
                  <a:pt x="0" y="9365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876326" y="3629025"/>
            <a:ext cx="4535348" cy="4114800"/>
          </a:xfrm>
          <a:custGeom>
            <a:avLst/>
            <a:gdLst/>
            <a:ahLst/>
            <a:cxnLst/>
            <a:rect r="r" b="b" t="t" l="l"/>
            <a:pathLst>
              <a:path h="4114800" w="4535348">
                <a:moveTo>
                  <a:pt x="0" y="0"/>
                </a:moveTo>
                <a:lnTo>
                  <a:pt x="4535348" y="0"/>
                </a:lnTo>
                <a:lnTo>
                  <a:pt x="453534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89" t="0" r="-89" b="0"/>
            </a:stretch>
          </a:blipFill>
        </p:spPr>
      </p:sp>
      <p:sp>
        <p:nvSpPr>
          <p:cNvPr name="TextBox 4" id="4"/>
          <p:cNvSpPr txBox="true"/>
          <p:nvPr/>
        </p:nvSpPr>
        <p:spPr>
          <a:xfrm rot="0">
            <a:off x="662911" y="1633785"/>
            <a:ext cx="16962187" cy="1301906"/>
          </a:xfrm>
          <a:prstGeom prst="rect">
            <a:avLst/>
          </a:prstGeom>
        </p:spPr>
        <p:txBody>
          <a:bodyPr anchor="t" rtlCol="false" tIns="0" lIns="0" bIns="0" rIns="0">
            <a:spAutoFit/>
          </a:bodyPr>
          <a:lstStyle/>
          <a:p>
            <a:pPr algn="ctr">
              <a:lnSpc>
                <a:spcPts val="8140"/>
              </a:lnSpc>
            </a:pPr>
            <a:r>
              <a:rPr lang="en-US" sz="7079">
                <a:solidFill>
                  <a:srgbClr val="000000"/>
                </a:solidFill>
                <a:latin typeface="Bungee"/>
                <a:ea typeface="Bungee"/>
                <a:cs typeface="Bungee"/>
                <a:sym typeface="Bungee"/>
              </a:rPr>
              <a:t>REQUERIMIENTOS</a:t>
            </a:r>
          </a:p>
        </p:txBody>
      </p:sp>
      <p:sp>
        <p:nvSpPr>
          <p:cNvPr name="TextBox 5" id="5"/>
          <p:cNvSpPr txBox="true"/>
          <p:nvPr/>
        </p:nvSpPr>
        <p:spPr>
          <a:xfrm rot="0">
            <a:off x="13042859" y="3589972"/>
            <a:ext cx="4038057" cy="763905"/>
          </a:xfrm>
          <a:prstGeom prst="rect">
            <a:avLst/>
          </a:prstGeom>
        </p:spPr>
        <p:txBody>
          <a:bodyPr anchor="t" rtlCol="false" tIns="0" lIns="0" bIns="0" rIns="0">
            <a:spAutoFit/>
          </a:bodyPr>
          <a:lstStyle/>
          <a:p>
            <a:pPr algn="l">
              <a:lnSpc>
                <a:spcPts val="4620"/>
              </a:lnSpc>
            </a:pPr>
            <a:r>
              <a:rPr lang="en-US" sz="3300" u="sng">
                <a:solidFill>
                  <a:srgbClr val="000000"/>
                </a:solidFill>
                <a:latin typeface="Bungee"/>
                <a:ea typeface="Bungee"/>
                <a:cs typeface="Bungee"/>
                <a:sym typeface="Bungee"/>
              </a:rPr>
              <a:t>NO FUNCIONALES</a:t>
            </a:r>
          </a:p>
        </p:txBody>
      </p:sp>
      <p:sp>
        <p:nvSpPr>
          <p:cNvPr name="TextBox 6" id="6"/>
          <p:cNvSpPr txBox="true"/>
          <p:nvPr/>
        </p:nvSpPr>
        <p:spPr>
          <a:xfrm rot="0">
            <a:off x="3061202" y="3592506"/>
            <a:ext cx="3815124" cy="763905"/>
          </a:xfrm>
          <a:prstGeom prst="rect">
            <a:avLst/>
          </a:prstGeom>
        </p:spPr>
        <p:txBody>
          <a:bodyPr anchor="t" rtlCol="false" tIns="0" lIns="0" bIns="0" rIns="0">
            <a:spAutoFit/>
          </a:bodyPr>
          <a:lstStyle/>
          <a:p>
            <a:pPr algn="l">
              <a:lnSpc>
                <a:spcPts val="4620"/>
              </a:lnSpc>
            </a:pPr>
            <a:r>
              <a:rPr lang="en-US" sz="3300" u="sng">
                <a:solidFill>
                  <a:srgbClr val="000000"/>
                </a:solidFill>
                <a:latin typeface="Bungee"/>
                <a:ea typeface="Bungee"/>
                <a:cs typeface="Bungee"/>
                <a:sym typeface="Bungee"/>
              </a:rPr>
              <a:t>FUNCIONALES</a:t>
            </a:r>
          </a:p>
        </p:txBody>
      </p:sp>
      <p:sp>
        <p:nvSpPr>
          <p:cNvPr name="TextBox 7" id="7"/>
          <p:cNvSpPr txBox="true"/>
          <p:nvPr/>
        </p:nvSpPr>
        <p:spPr>
          <a:xfrm rot="0">
            <a:off x="1658541" y="4683252"/>
            <a:ext cx="5432355" cy="4135755"/>
          </a:xfrm>
          <a:prstGeom prst="rect">
            <a:avLst/>
          </a:prstGeom>
        </p:spPr>
        <p:txBody>
          <a:bodyPr anchor="t" rtlCol="false" tIns="0" lIns="0" bIns="0" rIns="0">
            <a:spAutoFit/>
          </a:bodyPr>
          <a:lstStyle/>
          <a:p>
            <a:pPr algn="l" marL="411480" indent="-137160" lvl="2">
              <a:lnSpc>
                <a:spcPts val="2520"/>
              </a:lnSpc>
              <a:buFont typeface="Arial"/>
              <a:buChar char="⚬"/>
            </a:pPr>
            <a:r>
              <a:rPr lang="en-US" sz="1800">
                <a:solidFill>
                  <a:srgbClr val="000000"/>
                </a:solidFill>
                <a:latin typeface="Questrial"/>
                <a:ea typeface="Questrial"/>
                <a:cs typeface="Questrial"/>
                <a:sym typeface="Questrial"/>
              </a:rPr>
              <a:t>RF01: El sistema debe permitir registrar vehículos.</a:t>
            </a:r>
          </a:p>
          <a:p>
            <a:pPr algn="l" marL="411480" indent="-137160" lvl="2">
              <a:lnSpc>
                <a:spcPts val="2520"/>
              </a:lnSpc>
              <a:buFont typeface="Arial"/>
              <a:buChar char="⚬"/>
            </a:pPr>
            <a:r>
              <a:rPr lang="en-US" sz="1800">
                <a:solidFill>
                  <a:srgbClr val="000000"/>
                </a:solidFill>
                <a:latin typeface="Questrial"/>
                <a:ea typeface="Questrial"/>
                <a:cs typeface="Questrial"/>
                <a:sym typeface="Questrial"/>
              </a:rPr>
              <a:t>RF02: El sistema debe permitir visualizar y consultar la información de los vehículos.</a:t>
            </a:r>
          </a:p>
          <a:p>
            <a:pPr algn="l" marL="411480" indent="-137160" lvl="2">
              <a:lnSpc>
                <a:spcPts val="2520"/>
              </a:lnSpc>
              <a:buFont typeface="Arial"/>
              <a:buChar char="⚬"/>
            </a:pPr>
            <a:r>
              <a:rPr lang="en-US" sz="1800">
                <a:solidFill>
                  <a:srgbClr val="000000"/>
                </a:solidFill>
                <a:latin typeface="Questrial"/>
                <a:ea typeface="Questrial"/>
                <a:cs typeface="Questrial"/>
                <a:sym typeface="Questrial"/>
              </a:rPr>
              <a:t>RF03: El sistema debe permitir registrar mantenimientos asociados a los vehículos.</a:t>
            </a:r>
          </a:p>
          <a:p>
            <a:pPr algn="l" marL="411480" indent="-137160" lvl="2">
              <a:lnSpc>
                <a:spcPts val="2520"/>
              </a:lnSpc>
              <a:buFont typeface="Arial"/>
              <a:buChar char="⚬"/>
            </a:pPr>
            <a:r>
              <a:rPr lang="en-US" sz="1800">
                <a:solidFill>
                  <a:srgbClr val="000000"/>
                </a:solidFill>
                <a:latin typeface="Questrial"/>
                <a:ea typeface="Questrial"/>
                <a:cs typeface="Questrial"/>
                <a:sym typeface="Questrial"/>
              </a:rPr>
              <a:t>RF04: El sistema debe permitir registrar fallas y generar reportes.</a:t>
            </a:r>
          </a:p>
          <a:p>
            <a:pPr algn="l" marL="411480" indent="-137160" lvl="2">
              <a:lnSpc>
                <a:spcPts val="2520"/>
              </a:lnSpc>
              <a:buFont typeface="Arial"/>
              <a:buChar char="⚬"/>
            </a:pPr>
            <a:r>
              <a:rPr lang="en-US" sz="1800">
                <a:solidFill>
                  <a:srgbClr val="000000"/>
                </a:solidFill>
                <a:latin typeface="Questrial"/>
                <a:ea typeface="Questrial"/>
                <a:cs typeface="Questrial"/>
                <a:sym typeface="Questrial"/>
              </a:rPr>
              <a:t>RF05: El sistema debe permitir consultar y modificar los reportes registrados.</a:t>
            </a:r>
          </a:p>
          <a:p>
            <a:pPr algn="l" marL="411480" indent="-137160" lvl="2">
              <a:lnSpc>
                <a:spcPts val="2520"/>
              </a:lnSpc>
              <a:buFont typeface="Arial"/>
              <a:buChar char="⚬"/>
            </a:pPr>
            <a:r>
              <a:rPr lang="en-US" sz="1800">
                <a:solidFill>
                  <a:srgbClr val="000000"/>
                </a:solidFill>
                <a:latin typeface="Questrial"/>
                <a:ea typeface="Questrial"/>
                <a:cs typeface="Questrial"/>
                <a:sym typeface="Questrial"/>
              </a:rPr>
              <a:t>RF06: El sistema debe almacenar la información de vehículos, mantenimientos y reportes en una base de datos</a:t>
            </a:r>
          </a:p>
        </p:txBody>
      </p:sp>
      <p:sp>
        <p:nvSpPr>
          <p:cNvPr name="TextBox 8" id="8"/>
          <p:cNvSpPr txBox="true"/>
          <p:nvPr/>
        </p:nvSpPr>
        <p:spPr>
          <a:xfrm rot="0">
            <a:off x="11728590" y="4683252"/>
            <a:ext cx="5352326" cy="4450080"/>
          </a:xfrm>
          <a:prstGeom prst="rect">
            <a:avLst/>
          </a:prstGeom>
        </p:spPr>
        <p:txBody>
          <a:bodyPr anchor="t" rtlCol="false" tIns="0" lIns="0" bIns="0" rIns="0">
            <a:spAutoFit/>
          </a:bodyPr>
          <a:lstStyle/>
          <a:p>
            <a:pPr algn="l" marL="411480" indent="-137160" lvl="2">
              <a:lnSpc>
                <a:spcPts val="2520"/>
              </a:lnSpc>
              <a:buFont typeface="Arial"/>
              <a:buChar char="⚬"/>
            </a:pPr>
            <a:r>
              <a:rPr lang="en-US" sz="1800">
                <a:solidFill>
                  <a:srgbClr val="000000"/>
                </a:solidFill>
                <a:latin typeface="Questrial"/>
                <a:ea typeface="Questrial"/>
                <a:cs typeface="Questrial"/>
                <a:sym typeface="Questrial"/>
              </a:rPr>
              <a:t>RNF01: La aplicación debe contar con una interfaz intuitiva y fácil de utilizar.</a:t>
            </a:r>
          </a:p>
          <a:p>
            <a:pPr algn="l" marL="411480" indent="-137160" lvl="2">
              <a:lnSpc>
                <a:spcPts val="2520"/>
              </a:lnSpc>
              <a:buFont typeface="Arial"/>
              <a:buChar char="⚬"/>
            </a:pPr>
            <a:r>
              <a:rPr lang="en-US" sz="1800">
                <a:solidFill>
                  <a:srgbClr val="000000"/>
                </a:solidFill>
                <a:latin typeface="Questrial"/>
                <a:ea typeface="Questrial"/>
                <a:cs typeface="Questrial"/>
                <a:sym typeface="Questrial"/>
              </a:rPr>
              <a:t>RNF02: El sistema debe ser compatible con dispositivos móviles Android.</a:t>
            </a:r>
          </a:p>
          <a:p>
            <a:pPr algn="l" marL="411480" indent="-137160" lvl="2">
              <a:lnSpc>
                <a:spcPts val="2520"/>
              </a:lnSpc>
              <a:buFont typeface="Arial"/>
              <a:buChar char="⚬"/>
            </a:pPr>
            <a:r>
              <a:rPr lang="en-US" sz="1800">
                <a:solidFill>
                  <a:srgbClr val="000000"/>
                </a:solidFill>
                <a:latin typeface="Questrial"/>
                <a:ea typeface="Questrial"/>
                <a:cs typeface="Questrial"/>
                <a:sym typeface="Questrial"/>
              </a:rPr>
              <a:t>RNF03: La comunicación entre la aplicación y la API debe realizarse mediante HTTPS.</a:t>
            </a:r>
          </a:p>
          <a:p>
            <a:pPr algn="l" marL="411480" indent="-137160" lvl="2">
              <a:lnSpc>
                <a:spcPts val="2520"/>
              </a:lnSpc>
              <a:buFont typeface="Arial"/>
              <a:buChar char="⚬"/>
            </a:pPr>
            <a:r>
              <a:rPr lang="en-US" sz="1800">
                <a:solidFill>
                  <a:srgbClr val="000000"/>
                </a:solidFill>
                <a:latin typeface="Questrial"/>
                <a:ea typeface="Questrial"/>
                <a:cs typeface="Questrial"/>
                <a:sym typeface="Questrial"/>
              </a:rPr>
              <a:t>RNF04: La información debe almacenarse de forma persistente en la base de datos.</a:t>
            </a:r>
          </a:p>
          <a:p>
            <a:pPr algn="l" marL="411480" indent="-137160" lvl="2">
              <a:lnSpc>
                <a:spcPts val="2520"/>
              </a:lnSpc>
              <a:buFont typeface="Arial"/>
              <a:buChar char="⚬"/>
            </a:pPr>
            <a:r>
              <a:rPr lang="en-US" sz="1800">
                <a:solidFill>
                  <a:srgbClr val="000000"/>
                </a:solidFill>
                <a:latin typeface="Questrial"/>
                <a:ea typeface="Questrial"/>
                <a:cs typeface="Questrial"/>
                <a:sym typeface="Questrial"/>
              </a:rPr>
              <a:t>RNF05: El sistema debe entregar mensajes al usuario cuando una operación sea exitosa o presente un error.</a:t>
            </a:r>
          </a:p>
          <a:p>
            <a:pPr algn="l" marL="411480" indent="-137160" lvl="2">
              <a:lnSpc>
                <a:spcPts val="2520"/>
              </a:lnSpc>
              <a:buFont typeface="Arial"/>
              <a:buChar char="⚬"/>
            </a:pPr>
            <a:r>
              <a:rPr lang="en-US" sz="1800">
                <a:solidFill>
                  <a:srgbClr val="000000"/>
                </a:solidFill>
                <a:latin typeface="Questrial"/>
                <a:ea typeface="Questrial"/>
                <a:cs typeface="Questrial"/>
                <a:sym typeface="Questrial"/>
              </a:rPr>
              <a:t>RNF06: La aplicación debe presentar tiempos de respuesta adecuados al consultar o registrar información.</a:t>
            </a:r>
          </a:p>
        </p:txBody>
      </p:sp>
      <p:grpSp>
        <p:nvGrpSpPr>
          <p:cNvPr name="Group 9" id="9"/>
          <p:cNvGrpSpPr/>
          <p:nvPr/>
        </p:nvGrpSpPr>
        <p:grpSpPr>
          <a:xfrm rot="0">
            <a:off x="1885950" y="3629025"/>
            <a:ext cx="952500" cy="952500"/>
            <a:chOff x="0" y="0"/>
            <a:chExt cx="1270000" cy="1270000"/>
          </a:xfrm>
        </p:grpSpPr>
        <p:sp>
          <p:nvSpPr>
            <p:cNvPr name="Freeform 10" id="10"/>
            <p:cNvSpPr/>
            <p:nvPr/>
          </p:nvSpPr>
          <p:spPr>
            <a:xfrm flipH="false" flipV="false" rot="0">
              <a:off x="0" y="0"/>
              <a:ext cx="1270000" cy="1270000"/>
            </a:xfrm>
            <a:custGeom>
              <a:avLst/>
              <a:gdLst/>
              <a:ahLst/>
              <a:cxnLst/>
              <a:rect r="r" b="b" t="t" l="l"/>
              <a:pathLst>
                <a:path h="1270000" w="1270000">
                  <a:moveTo>
                    <a:pt x="0" y="0"/>
                  </a:moveTo>
                  <a:lnTo>
                    <a:pt x="1270000" y="0"/>
                  </a:lnTo>
                  <a:lnTo>
                    <a:pt x="1270000" y="1270000"/>
                  </a:lnTo>
                  <a:lnTo>
                    <a:pt x="0" y="1270000"/>
                  </a:lnTo>
                  <a:lnTo>
                    <a:pt x="0" y="0"/>
                  </a:lnTo>
                  <a:close/>
                </a:path>
              </a:pathLst>
            </a:custGeom>
            <a:blipFill>
              <a:blip r:embed="rId6"/>
              <a:stretch>
                <a:fillRect l="0" t="0" r="0" b="0"/>
              </a:stretch>
            </a:blipFill>
          </p:spPr>
        </p:sp>
      </p:grpSp>
      <p:grpSp>
        <p:nvGrpSpPr>
          <p:cNvPr name="Group 11" id="11"/>
          <p:cNvGrpSpPr/>
          <p:nvPr/>
        </p:nvGrpSpPr>
        <p:grpSpPr>
          <a:xfrm rot="0">
            <a:off x="11728590" y="3629025"/>
            <a:ext cx="952500" cy="952500"/>
            <a:chOff x="0" y="0"/>
            <a:chExt cx="1270000" cy="1270000"/>
          </a:xfrm>
        </p:grpSpPr>
        <p:sp>
          <p:nvSpPr>
            <p:cNvPr name="Freeform 12" id="12"/>
            <p:cNvSpPr/>
            <p:nvPr/>
          </p:nvSpPr>
          <p:spPr>
            <a:xfrm flipH="false" flipV="false" rot="0">
              <a:off x="0" y="0"/>
              <a:ext cx="1270000" cy="1270000"/>
            </a:xfrm>
            <a:custGeom>
              <a:avLst/>
              <a:gdLst/>
              <a:ahLst/>
              <a:cxnLst/>
              <a:rect r="r" b="b" t="t" l="l"/>
              <a:pathLst>
                <a:path h="1270000" w="1270000">
                  <a:moveTo>
                    <a:pt x="0" y="0"/>
                  </a:moveTo>
                  <a:lnTo>
                    <a:pt x="1270000" y="0"/>
                  </a:lnTo>
                  <a:lnTo>
                    <a:pt x="1270000" y="1270000"/>
                  </a:lnTo>
                  <a:lnTo>
                    <a:pt x="0" y="1270000"/>
                  </a:lnTo>
                  <a:lnTo>
                    <a:pt x="0" y="0"/>
                  </a:lnTo>
                  <a:close/>
                </a:path>
              </a:pathLst>
            </a:custGeom>
            <a:blipFill>
              <a:blip r:embed="rId6"/>
              <a:stretch>
                <a:fillRect l="0" t="0" r="0" b="0"/>
              </a:stretch>
            </a:blipFill>
          </p:spPr>
        </p:sp>
      </p:grpSp>
      <p:sp>
        <p:nvSpPr>
          <p:cNvPr name="TextBox 13" id="13"/>
          <p:cNvSpPr txBox="true"/>
          <p:nvPr/>
        </p:nvSpPr>
        <p:spPr>
          <a:xfrm rot="0">
            <a:off x="430473" y="85820"/>
            <a:ext cx="185585" cy="532600"/>
          </a:xfrm>
          <a:prstGeom prst="rect">
            <a:avLst/>
          </a:prstGeom>
        </p:spPr>
        <p:txBody>
          <a:bodyPr anchor="t" rtlCol="false" tIns="0" lIns="0" bIns="0" rIns="0">
            <a:spAutoFit/>
          </a:bodyPr>
          <a:lstStyle/>
          <a:p>
            <a:pPr algn="ctr">
              <a:lnSpc>
                <a:spcPts val="3719"/>
              </a:lnSpc>
            </a:pPr>
            <a:r>
              <a:rPr lang="en-US" sz="2655">
                <a:solidFill>
                  <a:srgbClr val="000000"/>
                </a:solidFill>
                <a:latin typeface="Questrial"/>
                <a:ea typeface="Questrial"/>
                <a:cs typeface="Questrial"/>
                <a:sym typeface="Questrial"/>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sp>
        <p:nvSpPr>
          <p:cNvPr name="Freeform 2" id="2"/>
          <p:cNvSpPr/>
          <p:nvPr/>
        </p:nvSpPr>
        <p:spPr>
          <a:xfrm flipH="false" flipV="false" rot="0">
            <a:off x="734749" y="361283"/>
            <a:ext cx="16818493" cy="9365523"/>
          </a:xfrm>
          <a:custGeom>
            <a:avLst/>
            <a:gdLst/>
            <a:ahLst/>
            <a:cxnLst/>
            <a:rect r="r" b="b" t="t" l="l"/>
            <a:pathLst>
              <a:path h="9365523" w="16818493">
                <a:moveTo>
                  <a:pt x="0" y="0"/>
                </a:moveTo>
                <a:lnTo>
                  <a:pt x="16818493" y="0"/>
                </a:lnTo>
                <a:lnTo>
                  <a:pt x="16818493" y="9365523"/>
                </a:lnTo>
                <a:lnTo>
                  <a:pt x="0" y="9365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413799" y="36593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021291" y="1250680"/>
            <a:ext cx="15601769" cy="1609725"/>
          </a:xfrm>
          <a:prstGeom prst="rect">
            <a:avLst/>
          </a:prstGeom>
        </p:spPr>
        <p:txBody>
          <a:bodyPr anchor="t" rtlCol="false" tIns="0" lIns="0" bIns="0" rIns="0">
            <a:spAutoFit/>
          </a:bodyPr>
          <a:lstStyle/>
          <a:p>
            <a:pPr algn="l">
              <a:lnSpc>
                <a:spcPts val="10026"/>
              </a:lnSpc>
            </a:pPr>
            <a:r>
              <a:rPr lang="en-US" sz="8355">
                <a:solidFill>
                  <a:srgbClr val="05061C"/>
                </a:solidFill>
                <a:latin typeface="Bungee"/>
                <a:ea typeface="Bungee"/>
                <a:cs typeface="Bungee"/>
                <a:sym typeface="Bungee"/>
              </a:rPr>
              <a:t>epicas</a:t>
            </a:r>
          </a:p>
        </p:txBody>
      </p:sp>
      <p:sp>
        <p:nvSpPr>
          <p:cNvPr name="TextBox 5" id="5"/>
          <p:cNvSpPr txBox="true"/>
          <p:nvPr/>
        </p:nvSpPr>
        <p:spPr>
          <a:xfrm rot="0">
            <a:off x="9822170" y="4947456"/>
            <a:ext cx="7604493" cy="471287"/>
          </a:xfrm>
          <a:prstGeom prst="rect">
            <a:avLst/>
          </a:prstGeom>
        </p:spPr>
        <p:txBody>
          <a:bodyPr anchor="t" rtlCol="false" tIns="0" lIns="0" bIns="0" rIns="0">
            <a:spAutoFit/>
          </a:bodyPr>
          <a:lstStyle/>
          <a:p>
            <a:pPr algn="l">
              <a:lnSpc>
                <a:spcPts val="3433"/>
              </a:lnSpc>
            </a:pPr>
            <a:r>
              <a:rPr lang="en-US" sz="2640" spc="138">
                <a:solidFill>
                  <a:srgbClr val="FFFFFF"/>
                </a:solidFill>
                <a:latin typeface="Questrial"/>
                <a:ea typeface="Questrial"/>
                <a:cs typeface="Questrial"/>
                <a:sym typeface="Questrial"/>
              </a:rPr>
              <a:t>EPICA 2</a:t>
            </a:r>
          </a:p>
        </p:txBody>
      </p:sp>
      <p:sp>
        <p:nvSpPr>
          <p:cNvPr name="TextBox 6" id="6"/>
          <p:cNvSpPr txBox="true"/>
          <p:nvPr/>
        </p:nvSpPr>
        <p:spPr>
          <a:xfrm rot="0">
            <a:off x="9725158" y="5705961"/>
            <a:ext cx="6997341" cy="825065"/>
          </a:xfrm>
          <a:prstGeom prst="rect">
            <a:avLst/>
          </a:prstGeom>
        </p:spPr>
        <p:txBody>
          <a:bodyPr anchor="t" rtlCol="false" tIns="0" lIns="0" bIns="0" rIns="0">
            <a:spAutoFit/>
          </a:bodyPr>
          <a:lstStyle/>
          <a:p>
            <a:pPr algn="l">
              <a:lnSpc>
                <a:spcPts val="2170"/>
              </a:lnSpc>
            </a:pPr>
            <a:r>
              <a:rPr lang="en-US" sz="1722">
                <a:solidFill>
                  <a:srgbClr val="05061C"/>
                </a:solidFill>
                <a:latin typeface="Questrial"/>
                <a:ea typeface="Questrial"/>
                <a:cs typeface="Questrial"/>
                <a:sym typeface="Questrial"/>
              </a:rPr>
              <a:t>Gestionar los reportes asociados a los vehículos, permitiendo registrar fallas, reparaciones, mantenimientos y repuestos utilizados para mantener un historial de cada vehículo.</a:t>
            </a:r>
          </a:p>
        </p:txBody>
      </p:sp>
      <p:sp>
        <p:nvSpPr>
          <p:cNvPr name="TextBox 7" id="7"/>
          <p:cNvSpPr txBox="true"/>
          <p:nvPr/>
        </p:nvSpPr>
        <p:spPr>
          <a:xfrm rot="0">
            <a:off x="9822170" y="6997751"/>
            <a:ext cx="7460218" cy="471287"/>
          </a:xfrm>
          <a:prstGeom prst="rect">
            <a:avLst/>
          </a:prstGeom>
        </p:spPr>
        <p:txBody>
          <a:bodyPr anchor="t" rtlCol="false" tIns="0" lIns="0" bIns="0" rIns="0">
            <a:spAutoFit/>
          </a:bodyPr>
          <a:lstStyle/>
          <a:p>
            <a:pPr algn="l">
              <a:lnSpc>
                <a:spcPts val="3433"/>
              </a:lnSpc>
            </a:pPr>
            <a:r>
              <a:rPr lang="en-US" sz="2640" spc="138">
                <a:solidFill>
                  <a:srgbClr val="FFFFFF"/>
                </a:solidFill>
                <a:latin typeface="Questrial"/>
                <a:ea typeface="Questrial"/>
                <a:cs typeface="Questrial"/>
                <a:sym typeface="Questrial"/>
              </a:rPr>
              <a:t>EPICA 4</a:t>
            </a:r>
          </a:p>
        </p:txBody>
      </p:sp>
      <p:sp>
        <p:nvSpPr>
          <p:cNvPr name="TextBox 8" id="8"/>
          <p:cNvSpPr txBox="true"/>
          <p:nvPr/>
        </p:nvSpPr>
        <p:spPr>
          <a:xfrm rot="0">
            <a:off x="1706870" y="4947456"/>
            <a:ext cx="7460218" cy="471287"/>
          </a:xfrm>
          <a:prstGeom prst="rect">
            <a:avLst/>
          </a:prstGeom>
        </p:spPr>
        <p:txBody>
          <a:bodyPr anchor="t" rtlCol="false" tIns="0" lIns="0" bIns="0" rIns="0">
            <a:spAutoFit/>
          </a:bodyPr>
          <a:lstStyle/>
          <a:p>
            <a:pPr algn="l">
              <a:lnSpc>
                <a:spcPts val="3433"/>
              </a:lnSpc>
            </a:pPr>
            <a:r>
              <a:rPr lang="en-US" sz="2640" spc="138">
                <a:solidFill>
                  <a:srgbClr val="FFFFFF"/>
                </a:solidFill>
                <a:latin typeface="Questrial"/>
                <a:ea typeface="Questrial"/>
                <a:cs typeface="Questrial"/>
                <a:sym typeface="Questrial"/>
              </a:rPr>
              <a:t>EPICA 1</a:t>
            </a:r>
          </a:p>
        </p:txBody>
      </p:sp>
      <p:sp>
        <p:nvSpPr>
          <p:cNvPr name="TextBox 9" id="9"/>
          <p:cNvSpPr txBox="true"/>
          <p:nvPr/>
        </p:nvSpPr>
        <p:spPr>
          <a:xfrm rot="0">
            <a:off x="9725158" y="7757960"/>
            <a:ext cx="6997341" cy="825065"/>
          </a:xfrm>
          <a:prstGeom prst="rect">
            <a:avLst/>
          </a:prstGeom>
        </p:spPr>
        <p:txBody>
          <a:bodyPr anchor="t" rtlCol="false" tIns="0" lIns="0" bIns="0" rIns="0">
            <a:spAutoFit/>
          </a:bodyPr>
          <a:lstStyle/>
          <a:p>
            <a:pPr algn="l">
              <a:lnSpc>
                <a:spcPts val="2170"/>
              </a:lnSpc>
            </a:pPr>
            <a:r>
              <a:rPr lang="en-US" sz="1722">
                <a:solidFill>
                  <a:srgbClr val="05061C"/>
                </a:solidFill>
                <a:latin typeface="Questrial"/>
                <a:ea typeface="Questrial"/>
                <a:cs typeface="Questrial"/>
                <a:sym typeface="Questrial"/>
              </a:rPr>
              <a:t>Centralizar y mantener disponible la información de vehículos, empleados, reportes y mantenimientos mediante una aplicación móvil conectada a una API y una base de datos.</a:t>
            </a:r>
          </a:p>
        </p:txBody>
      </p:sp>
      <p:sp>
        <p:nvSpPr>
          <p:cNvPr name="TextBox 10" id="10"/>
          <p:cNvSpPr txBox="true"/>
          <p:nvPr/>
        </p:nvSpPr>
        <p:spPr>
          <a:xfrm rot="0">
            <a:off x="1634738" y="5771217"/>
            <a:ext cx="6835026" cy="825065"/>
          </a:xfrm>
          <a:prstGeom prst="rect">
            <a:avLst/>
          </a:prstGeom>
        </p:spPr>
        <p:txBody>
          <a:bodyPr anchor="t" rtlCol="false" tIns="0" lIns="0" bIns="0" rIns="0">
            <a:spAutoFit/>
          </a:bodyPr>
          <a:lstStyle/>
          <a:p>
            <a:pPr algn="l">
              <a:lnSpc>
                <a:spcPts val="2170"/>
              </a:lnSpc>
            </a:pPr>
            <a:r>
              <a:rPr lang="en-US" sz="1722">
                <a:solidFill>
                  <a:srgbClr val="05061C"/>
                </a:solidFill>
                <a:latin typeface="Questrial"/>
                <a:ea typeface="Questrial"/>
                <a:cs typeface="Questrial"/>
                <a:sym typeface="Questrial"/>
              </a:rPr>
              <a:t>Administrar y mantener centralizada la información de los vehículos de la empresa, permitiendo registrar sus características, estado, kilometraje, mantenimientos y demás antecedentes relevantes.</a:t>
            </a:r>
          </a:p>
        </p:txBody>
      </p:sp>
      <p:sp>
        <p:nvSpPr>
          <p:cNvPr name="TextBox 11" id="11"/>
          <p:cNvSpPr txBox="true"/>
          <p:nvPr/>
        </p:nvSpPr>
        <p:spPr>
          <a:xfrm rot="0">
            <a:off x="1778317" y="6894890"/>
            <a:ext cx="7460218" cy="471287"/>
          </a:xfrm>
          <a:prstGeom prst="rect">
            <a:avLst/>
          </a:prstGeom>
        </p:spPr>
        <p:txBody>
          <a:bodyPr anchor="t" rtlCol="false" tIns="0" lIns="0" bIns="0" rIns="0">
            <a:spAutoFit/>
          </a:bodyPr>
          <a:lstStyle/>
          <a:p>
            <a:pPr algn="l">
              <a:lnSpc>
                <a:spcPts val="3433"/>
              </a:lnSpc>
            </a:pPr>
            <a:r>
              <a:rPr lang="en-US" sz="2640" spc="138">
                <a:solidFill>
                  <a:srgbClr val="FFFFFF"/>
                </a:solidFill>
                <a:latin typeface="Questrial"/>
                <a:ea typeface="Questrial"/>
                <a:cs typeface="Questrial"/>
                <a:sym typeface="Questrial"/>
              </a:rPr>
              <a:t>EPICA 3</a:t>
            </a:r>
          </a:p>
        </p:txBody>
      </p:sp>
      <p:sp>
        <p:nvSpPr>
          <p:cNvPr name="TextBox 12" id="12"/>
          <p:cNvSpPr txBox="true"/>
          <p:nvPr/>
        </p:nvSpPr>
        <p:spPr>
          <a:xfrm rot="0">
            <a:off x="1634738" y="7782258"/>
            <a:ext cx="6976929" cy="825065"/>
          </a:xfrm>
          <a:prstGeom prst="rect">
            <a:avLst/>
          </a:prstGeom>
        </p:spPr>
        <p:txBody>
          <a:bodyPr anchor="t" rtlCol="false" tIns="0" lIns="0" bIns="0" rIns="0">
            <a:spAutoFit/>
          </a:bodyPr>
          <a:lstStyle/>
          <a:p>
            <a:pPr algn="l">
              <a:lnSpc>
                <a:spcPts val="2170"/>
              </a:lnSpc>
            </a:pPr>
            <a:r>
              <a:rPr lang="en-US" sz="1722">
                <a:solidFill>
                  <a:srgbClr val="05061C"/>
                </a:solidFill>
                <a:latin typeface="Questrial"/>
                <a:ea typeface="Questrial"/>
                <a:cs typeface="Questrial"/>
                <a:sym typeface="Questrial"/>
              </a:rPr>
              <a:t>Administrar la información del personal de la empresa, permitiendo registrar sus antecedentes laborales, cargos, tipos de contrato y estado laboral.</a:t>
            </a:r>
          </a:p>
        </p:txBody>
      </p:sp>
      <p:sp>
        <p:nvSpPr>
          <p:cNvPr name="TextBox 13" id="13"/>
          <p:cNvSpPr txBox="true"/>
          <p:nvPr/>
        </p:nvSpPr>
        <p:spPr>
          <a:xfrm rot="0">
            <a:off x="430473" y="85820"/>
            <a:ext cx="185585" cy="532600"/>
          </a:xfrm>
          <a:prstGeom prst="rect">
            <a:avLst/>
          </a:prstGeom>
        </p:spPr>
        <p:txBody>
          <a:bodyPr anchor="t" rtlCol="false" tIns="0" lIns="0" bIns="0" rIns="0">
            <a:spAutoFit/>
          </a:bodyPr>
          <a:lstStyle/>
          <a:p>
            <a:pPr algn="ctr">
              <a:lnSpc>
                <a:spcPts val="3719"/>
              </a:lnSpc>
            </a:pPr>
            <a:r>
              <a:rPr lang="en-US" sz="2655">
                <a:solidFill>
                  <a:srgbClr val="000000"/>
                </a:solidFill>
                <a:latin typeface="Questrial"/>
                <a:ea typeface="Questrial"/>
                <a:cs typeface="Questrial"/>
                <a:sym typeface="Questrial"/>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sp>
        <p:nvSpPr>
          <p:cNvPr name="Freeform 2" id="2"/>
          <p:cNvSpPr/>
          <p:nvPr/>
        </p:nvSpPr>
        <p:spPr>
          <a:xfrm flipH="false" flipV="false" rot="0">
            <a:off x="734749" y="361283"/>
            <a:ext cx="16818493" cy="9365523"/>
          </a:xfrm>
          <a:custGeom>
            <a:avLst/>
            <a:gdLst/>
            <a:ahLst/>
            <a:cxnLst/>
            <a:rect r="r" b="b" t="t" l="l"/>
            <a:pathLst>
              <a:path h="9365523" w="16818493">
                <a:moveTo>
                  <a:pt x="0" y="0"/>
                </a:moveTo>
                <a:lnTo>
                  <a:pt x="16818493" y="0"/>
                </a:lnTo>
                <a:lnTo>
                  <a:pt x="16818493" y="9365523"/>
                </a:lnTo>
                <a:lnTo>
                  <a:pt x="0" y="9365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454516" y="3342018"/>
            <a:ext cx="1162279" cy="1162279"/>
            <a:chOff x="0" y="0"/>
            <a:chExt cx="1549705" cy="1549705"/>
          </a:xfrm>
        </p:grpSpPr>
        <p:sp>
          <p:nvSpPr>
            <p:cNvPr name="Freeform 4" id="4"/>
            <p:cNvSpPr/>
            <p:nvPr/>
          </p:nvSpPr>
          <p:spPr>
            <a:xfrm flipH="false" flipV="false" rot="0">
              <a:off x="0" y="0"/>
              <a:ext cx="1549654" cy="1549654"/>
            </a:xfrm>
            <a:custGeom>
              <a:avLst/>
              <a:gdLst/>
              <a:ahLst/>
              <a:cxnLst/>
              <a:rect r="r" b="b" t="t" l="l"/>
              <a:pathLst>
                <a:path h="1549654" w="1549654">
                  <a:moveTo>
                    <a:pt x="0" y="0"/>
                  </a:moveTo>
                  <a:lnTo>
                    <a:pt x="1549654" y="0"/>
                  </a:lnTo>
                  <a:lnTo>
                    <a:pt x="1549654" y="1549654"/>
                  </a:lnTo>
                  <a:lnTo>
                    <a:pt x="0" y="1549654"/>
                  </a:lnTo>
                  <a:lnTo>
                    <a:pt x="0" y="0"/>
                  </a:lnTo>
                  <a:close/>
                </a:path>
              </a:pathLst>
            </a:custGeom>
            <a:blipFill>
              <a:blip r:embed="rId4"/>
              <a:stretch>
                <a:fillRect l="0" t="0" r="-3" b="-3"/>
              </a:stretch>
            </a:blipFill>
          </p:spPr>
        </p:sp>
      </p:grpSp>
      <p:grpSp>
        <p:nvGrpSpPr>
          <p:cNvPr name="Group 5" id="5"/>
          <p:cNvGrpSpPr/>
          <p:nvPr/>
        </p:nvGrpSpPr>
        <p:grpSpPr>
          <a:xfrm rot="0">
            <a:off x="5981843" y="3394291"/>
            <a:ext cx="1109053" cy="1110005"/>
            <a:chOff x="0" y="0"/>
            <a:chExt cx="1478737" cy="1480007"/>
          </a:xfrm>
        </p:grpSpPr>
        <p:sp>
          <p:nvSpPr>
            <p:cNvPr name="Freeform 6" id="6"/>
            <p:cNvSpPr/>
            <p:nvPr/>
          </p:nvSpPr>
          <p:spPr>
            <a:xfrm flipH="false" flipV="false" rot="0">
              <a:off x="0" y="0"/>
              <a:ext cx="1478788" cy="1480058"/>
            </a:xfrm>
            <a:custGeom>
              <a:avLst/>
              <a:gdLst/>
              <a:ahLst/>
              <a:cxnLst/>
              <a:rect r="r" b="b" t="t" l="l"/>
              <a:pathLst>
                <a:path h="1480058" w="1478788">
                  <a:moveTo>
                    <a:pt x="0" y="0"/>
                  </a:moveTo>
                  <a:lnTo>
                    <a:pt x="1478788" y="0"/>
                  </a:lnTo>
                  <a:lnTo>
                    <a:pt x="1478788" y="1480058"/>
                  </a:lnTo>
                  <a:lnTo>
                    <a:pt x="0" y="1480058"/>
                  </a:lnTo>
                  <a:lnTo>
                    <a:pt x="0" y="0"/>
                  </a:lnTo>
                  <a:close/>
                </a:path>
              </a:pathLst>
            </a:custGeom>
            <a:blipFill>
              <a:blip r:embed="rId5"/>
              <a:stretch>
                <a:fillRect l="0" t="-3800" r="3" b="-3796"/>
              </a:stretch>
            </a:blipFill>
          </p:spPr>
        </p:sp>
      </p:grpSp>
      <p:sp>
        <p:nvSpPr>
          <p:cNvPr name="TextBox 7" id="7"/>
          <p:cNvSpPr txBox="true"/>
          <p:nvPr/>
        </p:nvSpPr>
        <p:spPr>
          <a:xfrm rot="0">
            <a:off x="662911" y="1633785"/>
            <a:ext cx="16962187" cy="1301906"/>
          </a:xfrm>
          <a:prstGeom prst="rect">
            <a:avLst/>
          </a:prstGeom>
        </p:spPr>
        <p:txBody>
          <a:bodyPr anchor="t" rtlCol="false" tIns="0" lIns="0" bIns="0" rIns="0">
            <a:spAutoFit/>
          </a:bodyPr>
          <a:lstStyle/>
          <a:p>
            <a:pPr algn="ctr">
              <a:lnSpc>
                <a:spcPts val="8140"/>
              </a:lnSpc>
            </a:pPr>
            <a:r>
              <a:rPr lang="en-US" sz="7079">
                <a:solidFill>
                  <a:srgbClr val="000000"/>
                </a:solidFill>
                <a:latin typeface="Bungee"/>
                <a:ea typeface="Bungee"/>
                <a:cs typeface="Bungee"/>
                <a:sym typeface="Bungee"/>
              </a:rPr>
              <a:t>HISTORIAS DE USUARIO</a:t>
            </a:r>
          </a:p>
        </p:txBody>
      </p:sp>
      <p:sp>
        <p:nvSpPr>
          <p:cNvPr name="TextBox 8" id="8"/>
          <p:cNvSpPr txBox="true"/>
          <p:nvPr/>
        </p:nvSpPr>
        <p:spPr>
          <a:xfrm rot="0">
            <a:off x="11987393" y="3592506"/>
            <a:ext cx="4038057" cy="763905"/>
          </a:xfrm>
          <a:prstGeom prst="rect">
            <a:avLst/>
          </a:prstGeom>
        </p:spPr>
        <p:txBody>
          <a:bodyPr anchor="t" rtlCol="false" tIns="0" lIns="0" bIns="0" rIns="0">
            <a:spAutoFit/>
          </a:bodyPr>
          <a:lstStyle/>
          <a:p>
            <a:pPr algn="l">
              <a:lnSpc>
                <a:spcPts val="4620"/>
              </a:lnSpc>
            </a:pPr>
            <a:r>
              <a:rPr lang="en-US" sz="3300" u="sng">
                <a:solidFill>
                  <a:srgbClr val="000000"/>
                </a:solidFill>
                <a:latin typeface="Bungee"/>
                <a:ea typeface="Bungee"/>
                <a:cs typeface="Bungee"/>
                <a:sym typeface="Bungee"/>
              </a:rPr>
              <a:t>USAURIO</a:t>
            </a:r>
          </a:p>
        </p:txBody>
      </p:sp>
      <p:sp>
        <p:nvSpPr>
          <p:cNvPr name="TextBox 9" id="9"/>
          <p:cNvSpPr txBox="true"/>
          <p:nvPr/>
        </p:nvSpPr>
        <p:spPr>
          <a:xfrm rot="0">
            <a:off x="1916544" y="3592506"/>
            <a:ext cx="4959782" cy="763905"/>
          </a:xfrm>
          <a:prstGeom prst="rect">
            <a:avLst/>
          </a:prstGeom>
        </p:spPr>
        <p:txBody>
          <a:bodyPr anchor="t" rtlCol="false" tIns="0" lIns="0" bIns="0" rIns="0">
            <a:spAutoFit/>
          </a:bodyPr>
          <a:lstStyle/>
          <a:p>
            <a:pPr algn="l">
              <a:lnSpc>
                <a:spcPts val="4620"/>
              </a:lnSpc>
            </a:pPr>
            <a:r>
              <a:rPr lang="en-US" sz="3300" u="sng">
                <a:solidFill>
                  <a:srgbClr val="000000"/>
                </a:solidFill>
                <a:latin typeface="Bungee"/>
                <a:ea typeface="Bungee"/>
                <a:cs typeface="Bungee"/>
                <a:sym typeface="Bungee"/>
              </a:rPr>
              <a:t>ADMINISTRADOR</a:t>
            </a:r>
          </a:p>
        </p:txBody>
      </p:sp>
      <p:sp>
        <p:nvSpPr>
          <p:cNvPr name="TextBox 10" id="10"/>
          <p:cNvSpPr txBox="true"/>
          <p:nvPr/>
        </p:nvSpPr>
        <p:spPr>
          <a:xfrm rot="0">
            <a:off x="1658541" y="4683252"/>
            <a:ext cx="5432355" cy="3821430"/>
          </a:xfrm>
          <a:prstGeom prst="rect">
            <a:avLst/>
          </a:prstGeom>
        </p:spPr>
        <p:txBody>
          <a:bodyPr anchor="t" rtlCol="false" tIns="0" lIns="0" bIns="0" rIns="0">
            <a:spAutoFit/>
          </a:bodyPr>
          <a:lstStyle/>
          <a:p>
            <a:pPr algn="l" marL="411480" indent="-137160" lvl="2">
              <a:lnSpc>
                <a:spcPts val="2520"/>
              </a:lnSpc>
              <a:buFont typeface="Arial"/>
              <a:buChar char="⚬"/>
            </a:pPr>
            <a:r>
              <a:rPr lang="en-US" sz="1800">
                <a:solidFill>
                  <a:srgbClr val="000000"/>
                </a:solidFill>
                <a:latin typeface="Questrial"/>
                <a:ea typeface="Questrial"/>
                <a:cs typeface="Questrial"/>
                <a:sym typeface="Questrial"/>
              </a:rPr>
              <a:t>Como administrador, quiero registrar los vehículos de la empresa para mantener almacenada y organizada la información de la flota.</a:t>
            </a:r>
          </a:p>
          <a:p>
            <a:pPr algn="l" marL="411480" indent="-137160" lvl="2">
              <a:lnSpc>
                <a:spcPts val="2520"/>
              </a:lnSpc>
              <a:buFont typeface="Arial"/>
              <a:buChar char="⚬"/>
            </a:pPr>
            <a:r>
              <a:rPr lang="en-US" sz="1800">
                <a:solidFill>
                  <a:srgbClr val="000000"/>
                </a:solidFill>
                <a:latin typeface="Questrial"/>
                <a:ea typeface="Questrial"/>
                <a:cs typeface="Questrial"/>
                <a:sym typeface="Questrial"/>
              </a:rPr>
              <a:t>Como administrador, quiero registrar los empleados de la empresa para mantener organizada y centralizada la información del personal.</a:t>
            </a:r>
          </a:p>
          <a:p>
            <a:pPr algn="l" marL="411480" indent="-137160" lvl="2">
              <a:lnSpc>
                <a:spcPts val="2520"/>
              </a:lnSpc>
              <a:buFont typeface="Arial"/>
              <a:buChar char="⚬"/>
            </a:pPr>
            <a:r>
              <a:rPr lang="en-US" sz="1800">
                <a:solidFill>
                  <a:srgbClr val="000000"/>
                </a:solidFill>
                <a:latin typeface="Questrial"/>
                <a:ea typeface="Questrial"/>
                <a:cs typeface="Questrial"/>
                <a:sym typeface="Questrial"/>
              </a:rPr>
              <a:t>Como administrador, quiero que la información de vehículos, empleados, reportes y mantenimientos se encuentre centralizada para facilitar su administración y consulta.</a:t>
            </a:r>
          </a:p>
        </p:txBody>
      </p:sp>
      <p:sp>
        <p:nvSpPr>
          <p:cNvPr name="TextBox 11" id="11"/>
          <p:cNvSpPr txBox="true"/>
          <p:nvPr/>
        </p:nvSpPr>
        <p:spPr>
          <a:xfrm rot="0">
            <a:off x="11728590" y="4683252"/>
            <a:ext cx="5352326" cy="2878455"/>
          </a:xfrm>
          <a:prstGeom prst="rect">
            <a:avLst/>
          </a:prstGeom>
        </p:spPr>
        <p:txBody>
          <a:bodyPr anchor="t" rtlCol="false" tIns="0" lIns="0" bIns="0" rIns="0">
            <a:spAutoFit/>
          </a:bodyPr>
          <a:lstStyle/>
          <a:p>
            <a:pPr algn="l" marL="411480" indent="-137160" lvl="2">
              <a:lnSpc>
                <a:spcPts val="2520"/>
              </a:lnSpc>
              <a:buFont typeface="Arial"/>
              <a:buChar char="⚬"/>
            </a:pPr>
            <a:r>
              <a:rPr lang="en-US" sz="1800">
                <a:solidFill>
                  <a:srgbClr val="000000"/>
                </a:solidFill>
                <a:latin typeface="Questrial"/>
                <a:ea typeface="Questrial"/>
                <a:cs typeface="Questrial"/>
                <a:sym typeface="Questrial"/>
              </a:rPr>
              <a:t>Como usuario, quiero visualizar los vehículos registrados para consultar rápidamente sus características y estado.</a:t>
            </a:r>
          </a:p>
          <a:p>
            <a:pPr algn="l" marL="411480" indent="-137160" lvl="2">
              <a:lnSpc>
                <a:spcPts val="2520"/>
              </a:lnSpc>
              <a:buFont typeface="Arial"/>
              <a:buChar char="⚬"/>
            </a:pPr>
            <a:r>
              <a:rPr lang="en-US" sz="1800">
                <a:solidFill>
                  <a:srgbClr val="000000"/>
                </a:solidFill>
                <a:latin typeface="Questrial"/>
                <a:ea typeface="Questrial"/>
                <a:cs typeface="Questrial"/>
                <a:sym typeface="Questrial"/>
              </a:rPr>
              <a:t>Como usuario, quiero generar reportes asociados a un vehículo para registrar fallas, problemas o situaciones relevantes.</a:t>
            </a:r>
          </a:p>
          <a:p>
            <a:pPr algn="l" marL="411480" indent="-137160" lvl="2">
              <a:lnSpc>
                <a:spcPts val="2520"/>
              </a:lnSpc>
              <a:buFont typeface="Arial"/>
              <a:buChar char="⚬"/>
            </a:pPr>
            <a:r>
              <a:rPr lang="en-US" sz="1800">
                <a:solidFill>
                  <a:srgbClr val="000000"/>
                </a:solidFill>
                <a:latin typeface="Questrial"/>
                <a:ea typeface="Questrial"/>
                <a:cs typeface="Questrial"/>
                <a:sym typeface="Questrial"/>
              </a:rPr>
              <a:t>Como usuario, quiero que la información registrada permanezca almacenada en la base de datos para poder consultarla posteriormente.</a:t>
            </a:r>
          </a:p>
        </p:txBody>
      </p:sp>
      <p:sp>
        <p:nvSpPr>
          <p:cNvPr name="TextBox 12" id="12"/>
          <p:cNvSpPr txBox="true"/>
          <p:nvPr/>
        </p:nvSpPr>
        <p:spPr>
          <a:xfrm rot="0">
            <a:off x="430473" y="85820"/>
            <a:ext cx="185585" cy="532600"/>
          </a:xfrm>
          <a:prstGeom prst="rect">
            <a:avLst/>
          </a:prstGeom>
        </p:spPr>
        <p:txBody>
          <a:bodyPr anchor="t" rtlCol="false" tIns="0" lIns="0" bIns="0" rIns="0">
            <a:spAutoFit/>
          </a:bodyPr>
          <a:lstStyle/>
          <a:p>
            <a:pPr algn="ctr">
              <a:lnSpc>
                <a:spcPts val="3719"/>
              </a:lnSpc>
            </a:pPr>
            <a:r>
              <a:rPr lang="en-US" sz="2655">
                <a:solidFill>
                  <a:srgbClr val="000000"/>
                </a:solidFill>
                <a:latin typeface="Questrial"/>
                <a:ea typeface="Questrial"/>
                <a:cs typeface="Questrial"/>
                <a:sym typeface="Questrial"/>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sp>
        <p:nvSpPr>
          <p:cNvPr name="Freeform 2" id="2"/>
          <p:cNvSpPr/>
          <p:nvPr/>
        </p:nvSpPr>
        <p:spPr>
          <a:xfrm flipH="false" flipV="false" rot="0">
            <a:off x="734749" y="361283"/>
            <a:ext cx="16818493" cy="9365523"/>
          </a:xfrm>
          <a:custGeom>
            <a:avLst/>
            <a:gdLst/>
            <a:ahLst/>
            <a:cxnLst/>
            <a:rect r="r" b="b" t="t" l="l"/>
            <a:pathLst>
              <a:path h="9365523" w="16818493">
                <a:moveTo>
                  <a:pt x="0" y="0"/>
                </a:moveTo>
                <a:lnTo>
                  <a:pt x="16818493" y="0"/>
                </a:lnTo>
                <a:lnTo>
                  <a:pt x="16818493" y="9365523"/>
                </a:lnTo>
                <a:lnTo>
                  <a:pt x="0" y="9365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904235" y="219170"/>
            <a:ext cx="720481" cy="1619050"/>
          </a:xfrm>
          <a:custGeom>
            <a:avLst/>
            <a:gdLst/>
            <a:ahLst/>
            <a:cxnLst/>
            <a:rect r="r" b="b" t="t" l="l"/>
            <a:pathLst>
              <a:path h="1619050" w="720481">
                <a:moveTo>
                  <a:pt x="0" y="0"/>
                </a:moveTo>
                <a:lnTo>
                  <a:pt x="720481" y="0"/>
                </a:lnTo>
                <a:lnTo>
                  <a:pt x="720481" y="1619050"/>
                </a:lnTo>
                <a:lnTo>
                  <a:pt x="0" y="1619050"/>
                </a:lnTo>
                <a:lnTo>
                  <a:pt x="0" y="0"/>
                </a:lnTo>
                <a:close/>
              </a:path>
            </a:pathLst>
          </a:custGeom>
          <a:blipFill>
            <a:blip r:embed="rId4">
              <a:extLst>
                <a:ext uri="{96DAC541-7B7A-43D3-8B79-37D633B846F1}">
                  <asvg:svgBlip xmlns:asvg="http://schemas.microsoft.com/office/drawing/2016/SVG/main" r:embed="rId5"/>
                </a:ext>
              </a:extLst>
            </a:blip>
            <a:stretch>
              <a:fillRect l="0" t="-62" r="0" b="-62"/>
            </a:stretch>
          </a:blipFill>
        </p:spPr>
      </p:sp>
      <p:grpSp>
        <p:nvGrpSpPr>
          <p:cNvPr name="Group 4" id="4"/>
          <p:cNvGrpSpPr/>
          <p:nvPr/>
        </p:nvGrpSpPr>
        <p:grpSpPr>
          <a:xfrm rot="0">
            <a:off x="4210869" y="1838230"/>
            <a:ext cx="9571758" cy="7687313"/>
            <a:chOff x="0" y="0"/>
            <a:chExt cx="12762344" cy="10249751"/>
          </a:xfrm>
        </p:grpSpPr>
        <p:sp>
          <p:nvSpPr>
            <p:cNvPr name="Freeform 5" id="5"/>
            <p:cNvSpPr/>
            <p:nvPr/>
          </p:nvSpPr>
          <p:spPr>
            <a:xfrm flipH="false" flipV="false" rot="0">
              <a:off x="0" y="0"/>
              <a:ext cx="12762357" cy="10249789"/>
            </a:xfrm>
            <a:custGeom>
              <a:avLst/>
              <a:gdLst/>
              <a:ahLst/>
              <a:cxnLst/>
              <a:rect r="r" b="b" t="t" l="l"/>
              <a:pathLst>
                <a:path h="10249789" w="12762357">
                  <a:moveTo>
                    <a:pt x="0" y="0"/>
                  </a:moveTo>
                  <a:lnTo>
                    <a:pt x="12762357" y="0"/>
                  </a:lnTo>
                  <a:lnTo>
                    <a:pt x="12762357" y="10249789"/>
                  </a:lnTo>
                  <a:lnTo>
                    <a:pt x="0" y="10249789"/>
                  </a:lnTo>
                  <a:lnTo>
                    <a:pt x="0" y="0"/>
                  </a:lnTo>
                  <a:close/>
                </a:path>
              </a:pathLst>
            </a:custGeom>
            <a:blipFill>
              <a:blip r:embed="rId6"/>
              <a:stretch>
                <a:fillRect l="0" t="-27" r="0" b="-27"/>
              </a:stretch>
            </a:blipFill>
          </p:spPr>
        </p:sp>
      </p:grpSp>
      <p:sp>
        <p:nvSpPr>
          <p:cNvPr name="TextBox 6" id="6"/>
          <p:cNvSpPr txBox="true"/>
          <p:nvPr/>
        </p:nvSpPr>
        <p:spPr>
          <a:xfrm rot="0">
            <a:off x="1759267" y="838200"/>
            <a:ext cx="7384732" cy="1089574"/>
          </a:xfrm>
          <a:prstGeom prst="rect">
            <a:avLst/>
          </a:prstGeom>
        </p:spPr>
        <p:txBody>
          <a:bodyPr anchor="t" rtlCol="false" tIns="0" lIns="0" bIns="0" rIns="0">
            <a:spAutoFit/>
          </a:bodyPr>
          <a:lstStyle/>
          <a:p>
            <a:pPr algn="ctr">
              <a:lnSpc>
                <a:spcPts val="6818"/>
              </a:lnSpc>
            </a:pPr>
            <a:r>
              <a:rPr lang="en-US" sz="5928">
                <a:solidFill>
                  <a:srgbClr val="000000"/>
                </a:solidFill>
                <a:latin typeface="Bungee"/>
                <a:ea typeface="Bungee"/>
                <a:cs typeface="Bungee"/>
                <a:sym typeface="Bungee"/>
              </a:rPr>
              <a:t>ARQUITECTURA</a:t>
            </a:r>
          </a:p>
        </p:txBody>
      </p:sp>
      <p:sp>
        <p:nvSpPr>
          <p:cNvPr name="TextBox 7" id="7"/>
          <p:cNvSpPr txBox="true"/>
          <p:nvPr/>
        </p:nvSpPr>
        <p:spPr>
          <a:xfrm rot="0">
            <a:off x="337680" y="85820"/>
            <a:ext cx="371180" cy="532600"/>
          </a:xfrm>
          <a:prstGeom prst="rect">
            <a:avLst/>
          </a:prstGeom>
        </p:spPr>
        <p:txBody>
          <a:bodyPr anchor="t" rtlCol="false" tIns="0" lIns="0" bIns="0" rIns="0">
            <a:spAutoFit/>
          </a:bodyPr>
          <a:lstStyle/>
          <a:p>
            <a:pPr algn="ctr">
              <a:lnSpc>
                <a:spcPts val="3719"/>
              </a:lnSpc>
            </a:pPr>
            <a:r>
              <a:rPr lang="en-US" sz="2655">
                <a:solidFill>
                  <a:srgbClr val="000000"/>
                </a:solidFill>
                <a:latin typeface="Questrial"/>
                <a:ea typeface="Questrial"/>
                <a:cs typeface="Questrial"/>
                <a:sym typeface="Questrial"/>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sp>
        <p:nvSpPr>
          <p:cNvPr name="Freeform 2" id="2"/>
          <p:cNvSpPr/>
          <p:nvPr/>
        </p:nvSpPr>
        <p:spPr>
          <a:xfrm flipH="false" flipV="false" rot="0">
            <a:off x="734749" y="361283"/>
            <a:ext cx="16818493" cy="9365523"/>
          </a:xfrm>
          <a:custGeom>
            <a:avLst/>
            <a:gdLst/>
            <a:ahLst/>
            <a:cxnLst/>
            <a:rect r="r" b="b" t="t" l="l"/>
            <a:pathLst>
              <a:path h="9365523" w="16818493">
                <a:moveTo>
                  <a:pt x="0" y="0"/>
                </a:moveTo>
                <a:lnTo>
                  <a:pt x="16818493" y="0"/>
                </a:lnTo>
                <a:lnTo>
                  <a:pt x="16818493" y="9365523"/>
                </a:lnTo>
                <a:lnTo>
                  <a:pt x="0" y="9365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360495" y="966045"/>
            <a:ext cx="13015912" cy="1592894"/>
          </a:xfrm>
          <a:prstGeom prst="rect">
            <a:avLst/>
          </a:prstGeom>
        </p:spPr>
        <p:txBody>
          <a:bodyPr anchor="t" rtlCol="false" tIns="0" lIns="0" bIns="0" rIns="0">
            <a:spAutoFit/>
          </a:bodyPr>
          <a:lstStyle/>
          <a:p>
            <a:pPr algn="ctr">
              <a:lnSpc>
                <a:spcPts val="9829"/>
              </a:lnSpc>
            </a:pPr>
            <a:r>
              <a:rPr lang="en-US" sz="7503">
                <a:solidFill>
                  <a:srgbClr val="000000"/>
                </a:solidFill>
                <a:latin typeface="Bungee"/>
                <a:ea typeface="Bungee"/>
                <a:cs typeface="Bungee"/>
                <a:sym typeface="Bungee"/>
              </a:rPr>
              <a:t>Metodologia</a:t>
            </a:r>
          </a:p>
        </p:txBody>
      </p:sp>
      <p:sp>
        <p:nvSpPr>
          <p:cNvPr name="Freeform 4" id="4"/>
          <p:cNvSpPr/>
          <p:nvPr/>
        </p:nvSpPr>
        <p:spPr>
          <a:xfrm flipH="false" flipV="false" rot="0">
            <a:off x="2168490" y="219170"/>
            <a:ext cx="720481" cy="1619050"/>
          </a:xfrm>
          <a:custGeom>
            <a:avLst/>
            <a:gdLst/>
            <a:ahLst/>
            <a:cxnLst/>
            <a:rect r="r" b="b" t="t" l="l"/>
            <a:pathLst>
              <a:path h="1619050" w="720481">
                <a:moveTo>
                  <a:pt x="0" y="0"/>
                </a:moveTo>
                <a:lnTo>
                  <a:pt x="720481" y="0"/>
                </a:lnTo>
                <a:lnTo>
                  <a:pt x="720481" y="1619050"/>
                </a:lnTo>
                <a:lnTo>
                  <a:pt x="0" y="1619050"/>
                </a:lnTo>
                <a:lnTo>
                  <a:pt x="0" y="0"/>
                </a:lnTo>
                <a:close/>
              </a:path>
            </a:pathLst>
          </a:custGeom>
          <a:blipFill>
            <a:blip r:embed="rId4">
              <a:extLst>
                <a:ext uri="{96DAC541-7B7A-43D3-8B79-37D633B846F1}">
                  <asvg:svgBlip xmlns:asvg="http://schemas.microsoft.com/office/drawing/2016/SVG/main" r:embed="rId5"/>
                </a:ext>
              </a:extLst>
            </a:blip>
            <a:stretch>
              <a:fillRect l="0" t="-62" r="0" b="-62"/>
            </a:stretch>
          </a:blipFill>
        </p:spPr>
      </p:sp>
      <p:sp>
        <p:nvSpPr>
          <p:cNvPr name="Freeform 5" id="5"/>
          <p:cNvSpPr/>
          <p:nvPr/>
        </p:nvSpPr>
        <p:spPr>
          <a:xfrm flipH="false" flipV="false" rot="7230240">
            <a:off x="14483096" y="1809321"/>
            <a:ext cx="1183605" cy="2188483"/>
          </a:xfrm>
          <a:custGeom>
            <a:avLst/>
            <a:gdLst/>
            <a:ahLst/>
            <a:cxnLst/>
            <a:rect r="r" b="b" t="t" l="l"/>
            <a:pathLst>
              <a:path h="2188483" w="1183605">
                <a:moveTo>
                  <a:pt x="0" y="0"/>
                </a:moveTo>
                <a:lnTo>
                  <a:pt x="1183605" y="0"/>
                </a:lnTo>
                <a:lnTo>
                  <a:pt x="1183605" y="2188483"/>
                </a:lnTo>
                <a:lnTo>
                  <a:pt x="0" y="2188483"/>
                </a:lnTo>
                <a:lnTo>
                  <a:pt x="0" y="0"/>
                </a:lnTo>
                <a:close/>
              </a:path>
            </a:pathLst>
          </a:custGeom>
          <a:blipFill>
            <a:blip r:embed="rId6">
              <a:extLst>
                <a:ext uri="{96DAC541-7B7A-43D3-8B79-37D633B846F1}">
                  <asvg:svgBlip xmlns:asvg="http://schemas.microsoft.com/office/drawing/2016/SVG/main" r:embed="rId7"/>
                </a:ext>
              </a:extLst>
            </a:blip>
            <a:stretch>
              <a:fillRect l="-244" t="0" r="-244" b="0"/>
            </a:stretch>
          </a:blipFill>
        </p:spPr>
      </p:sp>
      <p:grpSp>
        <p:nvGrpSpPr>
          <p:cNvPr name="Group 6" id="6"/>
          <p:cNvGrpSpPr/>
          <p:nvPr/>
        </p:nvGrpSpPr>
        <p:grpSpPr>
          <a:xfrm rot="0">
            <a:off x="9420235" y="2903563"/>
            <a:ext cx="6434376" cy="6219901"/>
            <a:chOff x="0" y="0"/>
            <a:chExt cx="8579168" cy="8293202"/>
          </a:xfrm>
        </p:grpSpPr>
        <p:sp>
          <p:nvSpPr>
            <p:cNvPr name="Freeform 7" id="7"/>
            <p:cNvSpPr/>
            <p:nvPr/>
          </p:nvSpPr>
          <p:spPr>
            <a:xfrm flipH="false" flipV="false" rot="0">
              <a:off x="0" y="0"/>
              <a:ext cx="8579231" cy="8293227"/>
            </a:xfrm>
            <a:custGeom>
              <a:avLst/>
              <a:gdLst/>
              <a:ahLst/>
              <a:cxnLst/>
              <a:rect r="r" b="b" t="t" l="l"/>
              <a:pathLst>
                <a:path h="8293227" w="8579231">
                  <a:moveTo>
                    <a:pt x="0" y="0"/>
                  </a:moveTo>
                  <a:lnTo>
                    <a:pt x="8579231" y="0"/>
                  </a:lnTo>
                  <a:lnTo>
                    <a:pt x="8579231" y="8293227"/>
                  </a:lnTo>
                  <a:lnTo>
                    <a:pt x="0" y="8293227"/>
                  </a:lnTo>
                  <a:lnTo>
                    <a:pt x="0" y="0"/>
                  </a:lnTo>
                  <a:close/>
                </a:path>
              </a:pathLst>
            </a:custGeom>
            <a:blipFill>
              <a:blip r:embed="rId8"/>
              <a:stretch>
                <a:fillRect l="0" t="0" r="0" b="0"/>
              </a:stretch>
            </a:blipFill>
          </p:spPr>
        </p:sp>
      </p:grpSp>
      <p:sp>
        <p:nvSpPr>
          <p:cNvPr name="TextBox 8" id="8"/>
          <p:cNvSpPr txBox="true"/>
          <p:nvPr/>
        </p:nvSpPr>
        <p:spPr>
          <a:xfrm rot="0">
            <a:off x="1599514" y="3873637"/>
            <a:ext cx="6442986" cy="1695288"/>
          </a:xfrm>
          <a:prstGeom prst="rect">
            <a:avLst/>
          </a:prstGeom>
        </p:spPr>
        <p:txBody>
          <a:bodyPr anchor="t" rtlCol="false" tIns="0" lIns="0" bIns="0" rIns="0">
            <a:spAutoFit/>
          </a:bodyPr>
          <a:lstStyle/>
          <a:p>
            <a:pPr algn="l">
              <a:lnSpc>
                <a:spcPts val="3334"/>
              </a:lnSpc>
            </a:pPr>
            <a:r>
              <a:rPr lang="en-US" sz="2382">
                <a:solidFill>
                  <a:srgbClr val="000000"/>
                </a:solidFill>
                <a:latin typeface="Questrial"/>
                <a:ea typeface="Questrial"/>
                <a:cs typeface="Questrial"/>
                <a:sym typeface="Questrial"/>
              </a:rPr>
              <a:t>Se eligió la metodología Scrum debido a que permite desarrollar el proyecto de manera incremental, dividiendo el trabajo en pequeños ciclos de desarrollo denominados Sprints.</a:t>
            </a:r>
          </a:p>
        </p:txBody>
      </p:sp>
      <p:sp>
        <p:nvSpPr>
          <p:cNvPr name="TextBox 9" id="9"/>
          <p:cNvSpPr txBox="true"/>
          <p:nvPr/>
        </p:nvSpPr>
        <p:spPr>
          <a:xfrm rot="0">
            <a:off x="1599514" y="5726925"/>
            <a:ext cx="6442986" cy="2940691"/>
          </a:xfrm>
          <a:prstGeom prst="rect">
            <a:avLst/>
          </a:prstGeom>
        </p:spPr>
        <p:txBody>
          <a:bodyPr anchor="t" rtlCol="false" tIns="0" lIns="0" bIns="0" rIns="0">
            <a:spAutoFit/>
          </a:bodyPr>
          <a:lstStyle/>
          <a:p>
            <a:pPr algn="l">
              <a:lnSpc>
                <a:spcPts val="3334"/>
              </a:lnSpc>
            </a:pPr>
            <a:r>
              <a:rPr lang="en-US" sz="2382">
                <a:solidFill>
                  <a:srgbClr val="000000"/>
                </a:solidFill>
                <a:latin typeface="Questrial"/>
                <a:ea typeface="Questrial"/>
                <a:cs typeface="Questrial"/>
                <a:sym typeface="Questrial"/>
              </a:rPr>
              <a:t>Esta metodología facilita la incorporación de nuevas funcionalidades, la detección y corrección de errores y la adaptación a cambios en los requerimientos. Además, permite realizar un seguimiento constante del avance del proyecto y obtener resultados funcionales de manera progresiva.</a:t>
            </a:r>
          </a:p>
        </p:txBody>
      </p:sp>
      <p:sp>
        <p:nvSpPr>
          <p:cNvPr name="TextBox 10" id="10"/>
          <p:cNvSpPr txBox="true"/>
          <p:nvPr/>
        </p:nvSpPr>
        <p:spPr>
          <a:xfrm rot="0">
            <a:off x="337680" y="85820"/>
            <a:ext cx="371180" cy="532600"/>
          </a:xfrm>
          <a:prstGeom prst="rect">
            <a:avLst/>
          </a:prstGeom>
        </p:spPr>
        <p:txBody>
          <a:bodyPr anchor="t" rtlCol="false" tIns="0" lIns="0" bIns="0" rIns="0">
            <a:spAutoFit/>
          </a:bodyPr>
          <a:lstStyle/>
          <a:p>
            <a:pPr algn="ctr">
              <a:lnSpc>
                <a:spcPts val="3719"/>
              </a:lnSpc>
            </a:pPr>
            <a:r>
              <a:rPr lang="en-US" sz="2655">
                <a:solidFill>
                  <a:srgbClr val="000000"/>
                </a:solidFill>
                <a:latin typeface="Questrial"/>
                <a:ea typeface="Questrial"/>
                <a:cs typeface="Questrial"/>
                <a:sym typeface="Questrial"/>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sp>
        <p:nvSpPr>
          <p:cNvPr name="Freeform 2" id="2"/>
          <p:cNvSpPr/>
          <p:nvPr/>
        </p:nvSpPr>
        <p:spPr>
          <a:xfrm flipH="false" flipV="false" rot="0">
            <a:off x="734749" y="361283"/>
            <a:ext cx="16818493" cy="9365523"/>
          </a:xfrm>
          <a:custGeom>
            <a:avLst/>
            <a:gdLst/>
            <a:ahLst/>
            <a:cxnLst/>
            <a:rect r="r" b="b" t="t" l="l"/>
            <a:pathLst>
              <a:path h="9365523" w="16818493">
                <a:moveTo>
                  <a:pt x="0" y="0"/>
                </a:moveTo>
                <a:lnTo>
                  <a:pt x="16818493" y="0"/>
                </a:lnTo>
                <a:lnTo>
                  <a:pt x="16818493" y="9365523"/>
                </a:lnTo>
                <a:lnTo>
                  <a:pt x="0" y="9365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026647" y="5881888"/>
            <a:ext cx="3741249" cy="1347883"/>
            <a:chOff x="0" y="0"/>
            <a:chExt cx="4988331" cy="1797177"/>
          </a:xfrm>
        </p:grpSpPr>
        <p:sp>
          <p:nvSpPr>
            <p:cNvPr name="Freeform 4" id="4"/>
            <p:cNvSpPr/>
            <p:nvPr/>
          </p:nvSpPr>
          <p:spPr>
            <a:xfrm flipH="false" flipV="false" rot="0">
              <a:off x="0" y="0"/>
              <a:ext cx="4988306" cy="1797177"/>
            </a:xfrm>
            <a:custGeom>
              <a:avLst/>
              <a:gdLst/>
              <a:ahLst/>
              <a:cxnLst/>
              <a:rect r="r" b="b" t="t" l="l"/>
              <a:pathLst>
                <a:path h="1797177" w="4988306">
                  <a:moveTo>
                    <a:pt x="121285" y="0"/>
                  </a:moveTo>
                  <a:lnTo>
                    <a:pt x="4867021" y="0"/>
                  </a:lnTo>
                  <a:cubicBezTo>
                    <a:pt x="4934077" y="0"/>
                    <a:pt x="4988306" y="54356"/>
                    <a:pt x="4988306" y="121285"/>
                  </a:cubicBezTo>
                  <a:lnTo>
                    <a:pt x="4988306" y="1675765"/>
                  </a:lnTo>
                  <a:cubicBezTo>
                    <a:pt x="4988306" y="1707896"/>
                    <a:pt x="4975479" y="1738757"/>
                    <a:pt x="4952746" y="1761617"/>
                  </a:cubicBezTo>
                  <a:cubicBezTo>
                    <a:pt x="4930013" y="1784477"/>
                    <a:pt x="4899152" y="1797177"/>
                    <a:pt x="4866894" y="1797177"/>
                  </a:cubicBezTo>
                  <a:lnTo>
                    <a:pt x="121285" y="1797177"/>
                  </a:lnTo>
                  <a:cubicBezTo>
                    <a:pt x="54229" y="1797177"/>
                    <a:pt x="0" y="1742821"/>
                    <a:pt x="0" y="1675892"/>
                  </a:cubicBezTo>
                  <a:lnTo>
                    <a:pt x="0" y="121285"/>
                  </a:lnTo>
                  <a:cubicBezTo>
                    <a:pt x="0" y="54356"/>
                    <a:pt x="54356" y="0"/>
                    <a:pt x="121285" y="0"/>
                  </a:cubicBezTo>
                  <a:close/>
                </a:path>
              </a:pathLst>
            </a:custGeom>
            <a:solidFill>
              <a:srgbClr val="70B2E2"/>
            </a:solidFill>
          </p:spPr>
        </p:sp>
      </p:grpSp>
      <p:grpSp>
        <p:nvGrpSpPr>
          <p:cNvPr name="Group 5" id="5"/>
          <p:cNvGrpSpPr/>
          <p:nvPr/>
        </p:nvGrpSpPr>
        <p:grpSpPr>
          <a:xfrm rot="0">
            <a:off x="5026647" y="5771321"/>
            <a:ext cx="3741249" cy="1458449"/>
            <a:chOff x="0" y="0"/>
            <a:chExt cx="4988331" cy="1944599"/>
          </a:xfrm>
        </p:grpSpPr>
        <p:sp>
          <p:nvSpPr>
            <p:cNvPr name="Freeform 6" id="6"/>
            <p:cNvSpPr/>
            <p:nvPr/>
          </p:nvSpPr>
          <p:spPr>
            <a:xfrm flipH="false" flipV="false" rot="0">
              <a:off x="0" y="0"/>
              <a:ext cx="4988334" cy="1944598"/>
            </a:xfrm>
            <a:custGeom>
              <a:avLst/>
              <a:gdLst/>
              <a:ahLst/>
              <a:cxnLst/>
              <a:rect r="r" b="b" t="t" l="l"/>
              <a:pathLst>
                <a:path h="1944598" w="4988334">
                  <a:moveTo>
                    <a:pt x="0" y="0"/>
                  </a:moveTo>
                  <a:lnTo>
                    <a:pt x="4988334" y="0"/>
                  </a:lnTo>
                  <a:lnTo>
                    <a:pt x="4988334" y="1944598"/>
                  </a:lnTo>
                  <a:lnTo>
                    <a:pt x="0" y="1944598"/>
                  </a:lnTo>
                  <a:close/>
                </a:path>
              </a:pathLst>
            </a:custGeom>
            <a:blipFill>
              <a:blip r:embed="rId4">
                <a:alphaModFix amt="0"/>
              </a:blip>
              <a:stretch>
                <a:fillRect l="-16" t="0" r="-16" b="0"/>
              </a:stretch>
            </a:blipFill>
          </p:spPr>
        </p:sp>
        <p:sp>
          <p:nvSpPr>
            <p:cNvPr name="TextBox 7" id="7"/>
            <p:cNvSpPr txBox="true"/>
            <p:nvPr/>
          </p:nvSpPr>
          <p:spPr>
            <a:xfrm>
              <a:off x="0" y="-66675"/>
              <a:ext cx="4988331" cy="2011274"/>
            </a:xfrm>
            <a:prstGeom prst="rect">
              <a:avLst/>
            </a:prstGeom>
          </p:spPr>
          <p:txBody>
            <a:bodyPr anchor="ctr" rtlCol="false" tIns="0" lIns="0" bIns="0" rIns="0"/>
            <a:lstStyle/>
            <a:p>
              <a:pPr algn="ctr">
                <a:lnSpc>
                  <a:spcPts val="2859"/>
                </a:lnSpc>
              </a:pPr>
              <a:r>
                <a:rPr lang="en-US" sz="2199">
                  <a:solidFill>
                    <a:srgbClr val="FFFFFF"/>
                  </a:solidFill>
                  <a:latin typeface="Bungee"/>
                  <a:ea typeface="Bungee"/>
                  <a:cs typeface="Bungee"/>
                  <a:sym typeface="Bungee"/>
                </a:rPr>
                <a:t>Pruebas funcionales</a:t>
              </a:r>
            </a:p>
          </p:txBody>
        </p:sp>
      </p:grpSp>
      <p:grpSp>
        <p:nvGrpSpPr>
          <p:cNvPr name="Group 8" id="8"/>
          <p:cNvGrpSpPr/>
          <p:nvPr/>
        </p:nvGrpSpPr>
        <p:grpSpPr>
          <a:xfrm rot="0">
            <a:off x="5026647" y="4328617"/>
            <a:ext cx="3741249" cy="1347883"/>
            <a:chOff x="0" y="0"/>
            <a:chExt cx="4988331" cy="1797177"/>
          </a:xfrm>
        </p:grpSpPr>
        <p:sp>
          <p:nvSpPr>
            <p:cNvPr name="Freeform 9" id="9"/>
            <p:cNvSpPr/>
            <p:nvPr/>
          </p:nvSpPr>
          <p:spPr>
            <a:xfrm flipH="false" flipV="false" rot="0">
              <a:off x="0" y="0"/>
              <a:ext cx="4988306" cy="1797177"/>
            </a:xfrm>
            <a:custGeom>
              <a:avLst/>
              <a:gdLst/>
              <a:ahLst/>
              <a:cxnLst/>
              <a:rect r="r" b="b" t="t" l="l"/>
              <a:pathLst>
                <a:path h="1797177" w="4988306">
                  <a:moveTo>
                    <a:pt x="121285" y="0"/>
                  </a:moveTo>
                  <a:lnTo>
                    <a:pt x="4867021" y="0"/>
                  </a:lnTo>
                  <a:cubicBezTo>
                    <a:pt x="4934077" y="0"/>
                    <a:pt x="4988306" y="54356"/>
                    <a:pt x="4988306" y="121285"/>
                  </a:cubicBezTo>
                  <a:lnTo>
                    <a:pt x="4988306" y="1675765"/>
                  </a:lnTo>
                  <a:cubicBezTo>
                    <a:pt x="4988306" y="1707896"/>
                    <a:pt x="4975479" y="1738757"/>
                    <a:pt x="4952746" y="1761617"/>
                  </a:cubicBezTo>
                  <a:cubicBezTo>
                    <a:pt x="4930013" y="1784477"/>
                    <a:pt x="4899152" y="1797177"/>
                    <a:pt x="4866894" y="1797177"/>
                  </a:cubicBezTo>
                  <a:lnTo>
                    <a:pt x="121285" y="1797177"/>
                  </a:lnTo>
                  <a:cubicBezTo>
                    <a:pt x="54229" y="1797177"/>
                    <a:pt x="0" y="1742821"/>
                    <a:pt x="0" y="1675892"/>
                  </a:cubicBezTo>
                  <a:lnTo>
                    <a:pt x="0" y="121285"/>
                  </a:lnTo>
                  <a:cubicBezTo>
                    <a:pt x="0" y="54356"/>
                    <a:pt x="54356" y="0"/>
                    <a:pt x="121285" y="0"/>
                  </a:cubicBezTo>
                  <a:close/>
                </a:path>
              </a:pathLst>
            </a:custGeom>
            <a:solidFill>
              <a:srgbClr val="70B2E2"/>
            </a:solidFill>
          </p:spPr>
        </p:sp>
      </p:grpSp>
      <p:grpSp>
        <p:nvGrpSpPr>
          <p:cNvPr name="Group 10" id="10"/>
          <p:cNvGrpSpPr/>
          <p:nvPr/>
        </p:nvGrpSpPr>
        <p:grpSpPr>
          <a:xfrm rot="0">
            <a:off x="5026647" y="4218051"/>
            <a:ext cx="3741249" cy="1458449"/>
            <a:chOff x="0" y="0"/>
            <a:chExt cx="4988331" cy="1944599"/>
          </a:xfrm>
        </p:grpSpPr>
        <p:sp>
          <p:nvSpPr>
            <p:cNvPr name="Freeform 11" id="11"/>
            <p:cNvSpPr/>
            <p:nvPr/>
          </p:nvSpPr>
          <p:spPr>
            <a:xfrm flipH="false" flipV="false" rot="0">
              <a:off x="0" y="0"/>
              <a:ext cx="4988334" cy="1944598"/>
            </a:xfrm>
            <a:custGeom>
              <a:avLst/>
              <a:gdLst/>
              <a:ahLst/>
              <a:cxnLst/>
              <a:rect r="r" b="b" t="t" l="l"/>
              <a:pathLst>
                <a:path h="1944598" w="4988334">
                  <a:moveTo>
                    <a:pt x="0" y="0"/>
                  </a:moveTo>
                  <a:lnTo>
                    <a:pt x="4988334" y="0"/>
                  </a:lnTo>
                  <a:lnTo>
                    <a:pt x="4988334" y="1944598"/>
                  </a:lnTo>
                  <a:lnTo>
                    <a:pt x="0" y="1944598"/>
                  </a:lnTo>
                  <a:close/>
                </a:path>
              </a:pathLst>
            </a:custGeom>
            <a:blipFill>
              <a:blip r:embed="rId4">
                <a:alphaModFix amt="0"/>
              </a:blip>
              <a:stretch>
                <a:fillRect l="-16" t="0" r="-16" b="0"/>
              </a:stretch>
            </a:blipFill>
          </p:spPr>
        </p:sp>
        <p:sp>
          <p:nvSpPr>
            <p:cNvPr name="TextBox 12" id="12"/>
            <p:cNvSpPr txBox="true"/>
            <p:nvPr/>
          </p:nvSpPr>
          <p:spPr>
            <a:xfrm>
              <a:off x="0" y="-66675"/>
              <a:ext cx="4988331" cy="2011274"/>
            </a:xfrm>
            <a:prstGeom prst="rect">
              <a:avLst/>
            </a:prstGeom>
          </p:spPr>
          <p:txBody>
            <a:bodyPr anchor="ctr" rtlCol="false" tIns="0" lIns="0" bIns="0" rIns="0"/>
            <a:lstStyle/>
            <a:p>
              <a:pPr algn="ctr">
                <a:lnSpc>
                  <a:spcPts val="2859"/>
                </a:lnSpc>
              </a:pPr>
              <a:r>
                <a:rPr lang="en-US" sz="2199">
                  <a:solidFill>
                    <a:srgbClr val="FFFFFF"/>
                  </a:solidFill>
                  <a:latin typeface="Bungee"/>
                  <a:ea typeface="Bungee"/>
                  <a:cs typeface="Bungee"/>
                  <a:sym typeface="Bungee"/>
                </a:rPr>
                <a:t>Producto minimo viable</a:t>
              </a:r>
            </a:p>
          </p:txBody>
        </p:sp>
      </p:grpSp>
      <p:grpSp>
        <p:nvGrpSpPr>
          <p:cNvPr name="Group 13" id="13"/>
          <p:cNvGrpSpPr/>
          <p:nvPr/>
        </p:nvGrpSpPr>
        <p:grpSpPr>
          <a:xfrm rot="0">
            <a:off x="9426883" y="5881888"/>
            <a:ext cx="3741249" cy="1347883"/>
            <a:chOff x="0" y="0"/>
            <a:chExt cx="4988331" cy="1797177"/>
          </a:xfrm>
        </p:grpSpPr>
        <p:sp>
          <p:nvSpPr>
            <p:cNvPr name="Freeform 14" id="14"/>
            <p:cNvSpPr/>
            <p:nvPr/>
          </p:nvSpPr>
          <p:spPr>
            <a:xfrm flipH="false" flipV="false" rot="0">
              <a:off x="0" y="0"/>
              <a:ext cx="4988306" cy="1797177"/>
            </a:xfrm>
            <a:custGeom>
              <a:avLst/>
              <a:gdLst/>
              <a:ahLst/>
              <a:cxnLst/>
              <a:rect r="r" b="b" t="t" l="l"/>
              <a:pathLst>
                <a:path h="1797177" w="4988306">
                  <a:moveTo>
                    <a:pt x="121285" y="0"/>
                  </a:moveTo>
                  <a:lnTo>
                    <a:pt x="4867021" y="0"/>
                  </a:lnTo>
                  <a:cubicBezTo>
                    <a:pt x="4934077" y="0"/>
                    <a:pt x="4988306" y="54356"/>
                    <a:pt x="4988306" y="121285"/>
                  </a:cubicBezTo>
                  <a:lnTo>
                    <a:pt x="4988306" y="1675765"/>
                  </a:lnTo>
                  <a:cubicBezTo>
                    <a:pt x="4988306" y="1707896"/>
                    <a:pt x="4975479" y="1738757"/>
                    <a:pt x="4952746" y="1761617"/>
                  </a:cubicBezTo>
                  <a:cubicBezTo>
                    <a:pt x="4930013" y="1784477"/>
                    <a:pt x="4899152" y="1797177"/>
                    <a:pt x="4866894" y="1797177"/>
                  </a:cubicBezTo>
                  <a:lnTo>
                    <a:pt x="121285" y="1797177"/>
                  </a:lnTo>
                  <a:cubicBezTo>
                    <a:pt x="54229" y="1797177"/>
                    <a:pt x="0" y="1742821"/>
                    <a:pt x="0" y="1675892"/>
                  </a:cubicBezTo>
                  <a:lnTo>
                    <a:pt x="0" y="121285"/>
                  </a:lnTo>
                  <a:cubicBezTo>
                    <a:pt x="0" y="54356"/>
                    <a:pt x="54356" y="0"/>
                    <a:pt x="121285" y="0"/>
                  </a:cubicBezTo>
                  <a:close/>
                </a:path>
              </a:pathLst>
            </a:custGeom>
            <a:solidFill>
              <a:srgbClr val="70B2E2"/>
            </a:solidFill>
          </p:spPr>
        </p:sp>
      </p:grpSp>
      <p:grpSp>
        <p:nvGrpSpPr>
          <p:cNvPr name="Group 15" id="15"/>
          <p:cNvGrpSpPr/>
          <p:nvPr/>
        </p:nvGrpSpPr>
        <p:grpSpPr>
          <a:xfrm rot="0">
            <a:off x="9426883" y="5771321"/>
            <a:ext cx="3741249" cy="1458449"/>
            <a:chOff x="0" y="0"/>
            <a:chExt cx="4988331" cy="1944599"/>
          </a:xfrm>
        </p:grpSpPr>
        <p:sp>
          <p:nvSpPr>
            <p:cNvPr name="Freeform 16" id="16"/>
            <p:cNvSpPr/>
            <p:nvPr/>
          </p:nvSpPr>
          <p:spPr>
            <a:xfrm flipH="false" flipV="false" rot="0">
              <a:off x="0" y="0"/>
              <a:ext cx="4988334" cy="1944598"/>
            </a:xfrm>
            <a:custGeom>
              <a:avLst/>
              <a:gdLst/>
              <a:ahLst/>
              <a:cxnLst/>
              <a:rect r="r" b="b" t="t" l="l"/>
              <a:pathLst>
                <a:path h="1944598" w="4988334">
                  <a:moveTo>
                    <a:pt x="0" y="0"/>
                  </a:moveTo>
                  <a:lnTo>
                    <a:pt x="4988334" y="0"/>
                  </a:lnTo>
                  <a:lnTo>
                    <a:pt x="4988334" y="1944598"/>
                  </a:lnTo>
                  <a:lnTo>
                    <a:pt x="0" y="1944598"/>
                  </a:lnTo>
                  <a:close/>
                </a:path>
              </a:pathLst>
            </a:custGeom>
            <a:blipFill>
              <a:blip r:embed="rId4">
                <a:alphaModFix amt="0"/>
              </a:blip>
              <a:stretch>
                <a:fillRect l="-16" t="0" r="-16" b="0"/>
              </a:stretch>
            </a:blipFill>
          </p:spPr>
        </p:sp>
        <p:sp>
          <p:nvSpPr>
            <p:cNvPr name="TextBox 17" id="17"/>
            <p:cNvSpPr txBox="true"/>
            <p:nvPr/>
          </p:nvSpPr>
          <p:spPr>
            <a:xfrm>
              <a:off x="0" y="-66675"/>
              <a:ext cx="4988331" cy="2011274"/>
            </a:xfrm>
            <a:prstGeom prst="rect">
              <a:avLst/>
            </a:prstGeom>
          </p:spPr>
          <p:txBody>
            <a:bodyPr anchor="ctr" rtlCol="false" tIns="0" lIns="0" bIns="0" rIns="0"/>
            <a:lstStyle/>
            <a:p>
              <a:pPr algn="ctr">
                <a:lnSpc>
                  <a:spcPts val="2859"/>
                </a:lnSpc>
              </a:pPr>
              <a:r>
                <a:rPr lang="en-US" sz="2199">
                  <a:solidFill>
                    <a:srgbClr val="FFFFFF"/>
                  </a:solidFill>
                  <a:latin typeface="Bungee"/>
                  <a:ea typeface="Bungee"/>
                  <a:cs typeface="Bungee"/>
                  <a:sym typeface="Bungee"/>
                </a:rPr>
                <a:t>Plan de pruebas</a:t>
              </a:r>
            </a:p>
          </p:txBody>
        </p:sp>
      </p:grpSp>
      <p:grpSp>
        <p:nvGrpSpPr>
          <p:cNvPr name="Group 18" id="18"/>
          <p:cNvGrpSpPr/>
          <p:nvPr/>
        </p:nvGrpSpPr>
        <p:grpSpPr>
          <a:xfrm rot="0">
            <a:off x="9426883" y="4328617"/>
            <a:ext cx="3741249" cy="1347883"/>
            <a:chOff x="0" y="0"/>
            <a:chExt cx="4988331" cy="1797177"/>
          </a:xfrm>
        </p:grpSpPr>
        <p:sp>
          <p:nvSpPr>
            <p:cNvPr name="Freeform 19" id="19"/>
            <p:cNvSpPr/>
            <p:nvPr/>
          </p:nvSpPr>
          <p:spPr>
            <a:xfrm flipH="false" flipV="false" rot="0">
              <a:off x="0" y="0"/>
              <a:ext cx="4988306" cy="1797177"/>
            </a:xfrm>
            <a:custGeom>
              <a:avLst/>
              <a:gdLst/>
              <a:ahLst/>
              <a:cxnLst/>
              <a:rect r="r" b="b" t="t" l="l"/>
              <a:pathLst>
                <a:path h="1797177" w="4988306">
                  <a:moveTo>
                    <a:pt x="121285" y="0"/>
                  </a:moveTo>
                  <a:lnTo>
                    <a:pt x="4867021" y="0"/>
                  </a:lnTo>
                  <a:cubicBezTo>
                    <a:pt x="4934077" y="0"/>
                    <a:pt x="4988306" y="54356"/>
                    <a:pt x="4988306" y="121285"/>
                  </a:cubicBezTo>
                  <a:lnTo>
                    <a:pt x="4988306" y="1675765"/>
                  </a:lnTo>
                  <a:cubicBezTo>
                    <a:pt x="4988306" y="1707896"/>
                    <a:pt x="4975479" y="1738757"/>
                    <a:pt x="4952746" y="1761617"/>
                  </a:cubicBezTo>
                  <a:cubicBezTo>
                    <a:pt x="4930013" y="1784477"/>
                    <a:pt x="4899152" y="1797177"/>
                    <a:pt x="4866894" y="1797177"/>
                  </a:cubicBezTo>
                  <a:lnTo>
                    <a:pt x="121285" y="1797177"/>
                  </a:lnTo>
                  <a:cubicBezTo>
                    <a:pt x="54229" y="1797177"/>
                    <a:pt x="0" y="1742821"/>
                    <a:pt x="0" y="1675892"/>
                  </a:cubicBezTo>
                  <a:lnTo>
                    <a:pt x="0" y="121285"/>
                  </a:lnTo>
                  <a:cubicBezTo>
                    <a:pt x="0" y="54356"/>
                    <a:pt x="54356" y="0"/>
                    <a:pt x="121285" y="0"/>
                  </a:cubicBezTo>
                  <a:close/>
                </a:path>
              </a:pathLst>
            </a:custGeom>
            <a:solidFill>
              <a:srgbClr val="70B2E2"/>
            </a:solidFill>
          </p:spPr>
        </p:sp>
      </p:grpSp>
      <p:grpSp>
        <p:nvGrpSpPr>
          <p:cNvPr name="Group 20" id="20"/>
          <p:cNvGrpSpPr/>
          <p:nvPr/>
        </p:nvGrpSpPr>
        <p:grpSpPr>
          <a:xfrm rot="0">
            <a:off x="9426883" y="4218051"/>
            <a:ext cx="3741249" cy="1458449"/>
            <a:chOff x="0" y="0"/>
            <a:chExt cx="4988331" cy="1944599"/>
          </a:xfrm>
        </p:grpSpPr>
        <p:sp>
          <p:nvSpPr>
            <p:cNvPr name="Freeform 21" id="21"/>
            <p:cNvSpPr/>
            <p:nvPr/>
          </p:nvSpPr>
          <p:spPr>
            <a:xfrm flipH="false" flipV="false" rot="0">
              <a:off x="0" y="0"/>
              <a:ext cx="4988334" cy="1944598"/>
            </a:xfrm>
            <a:custGeom>
              <a:avLst/>
              <a:gdLst/>
              <a:ahLst/>
              <a:cxnLst/>
              <a:rect r="r" b="b" t="t" l="l"/>
              <a:pathLst>
                <a:path h="1944598" w="4988334">
                  <a:moveTo>
                    <a:pt x="0" y="0"/>
                  </a:moveTo>
                  <a:lnTo>
                    <a:pt x="4988334" y="0"/>
                  </a:lnTo>
                  <a:lnTo>
                    <a:pt x="4988334" y="1944598"/>
                  </a:lnTo>
                  <a:lnTo>
                    <a:pt x="0" y="1944598"/>
                  </a:lnTo>
                  <a:close/>
                </a:path>
              </a:pathLst>
            </a:custGeom>
            <a:blipFill>
              <a:blip r:embed="rId4">
                <a:alphaModFix amt="0"/>
              </a:blip>
              <a:stretch>
                <a:fillRect l="-16" t="0" r="-16" b="0"/>
              </a:stretch>
            </a:blipFill>
          </p:spPr>
        </p:sp>
        <p:sp>
          <p:nvSpPr>
            <p:cNvPr name="TextBox 22" id="22"/>
            <p:cNvSpPr txBox="true"/>
            <p:nvPr/>
          </p:nvSpPr>
          <p:spPr>
            <a:xfrm>
              <a:off x="0" y="-66675"/>
              <a:ext cx="4988331" cy="2011274"/>
            </a:xfrm>
            <a:prstGeom prst="rect">
              <a:avLst/>
            </a:prstGeom>
          </p:spPr>
          <p:txBody>
            <a:bodyPr anchor="ctr" rtlCol="false" tIns="0" lIns="0" bIns="0" rIns="0"/>
            <a:lstStyle/>
            <a:p>
              <a:pPr algn="ctr">
                <a:lnSpc>
                  <a:spcPts val="2859"/>
                </a:lnSpc>
              </a:pPr>
              <a:r>
                <a:rPr lang="en-US" sz="2199">
                  <a:solidFill>
                    <a:srgbClr val="FFFFFF"/>
                  </a:solidFill>
                  <a:latin typeface="Bungee"/>
                  <a:ea typeface="Bungee"/>
                  <a:cs typeface="Bungee"/>
                  <a:sym typeface="Bungee"/>
                </a:rPr>
                <a:t>Reuniones de seguimiento</a:t>
              </a:r>
            </a:p>
          </p:txBody>
        </p:sp>
      </p:grpSp>
      <p:sp>
        <p:nvSpPr>
          <p:cNvPr name="TextBox 23" id="23"/>
          <p:cNvSpPr txBox="true"/>
          <p:nvPr/>
        </p:nvSpPr>
        <p:spPr>
          <a:xfrm rot="0">
            <a:off x="2973143" y="1397232"/>
            <a:ext cx="12248493" cy="1476375"/>
          </a:xfrm>
          <a:prstGeom prst="rect">
            <a:avLst/>
          </a:prstGeom>
        </p:spPr>
        <p:txBody>
          <a:bodyPr anchor="t" rtlCol="false" tIns="0" lIns="0" bIns="0" rIns="0">
            <a:spAutoFit/>
          </a:bodyPr>
          <a:lstStyle/>
          <a:p>
            <a:pPr algn="ctr">
              <a:lnSpc>
                <a:spcPts val="9261"/>
              </a:lnSpc>
            </a:pPr>
            <a:r>
              <a:rPr lang="en-US" sz="7718">
                <a:solidFill>
                  <a:srgbClr val="000000"/>
                </a:solidFill>
                <a:latin typeface="Bungee"/>
                <a:ea typeface="Bungee"/>
                <a:cs typeface="Bungee"/>
                <a:sym typeface="Bungee"/>
              </a:rPr>
              <a:t>Evidencias</a:t>
            </a:r>
          </a:p>
        </p:txBody>
      </p:sp>
      <p:sp>
        <p:nvSpPr>
          <p:cNvPr name="Freeform 24" id="24"/>
          <p:cNvSpPr/>
          <p:nvPr/>
        </p:nvSpPr>
        <p:spPr>
          <a:xfrm flipH="false" flipV="false" rot="0">
            <a:off x="15476268" y="219170"/>
            <a:ext cx="720481" cy="1619050"/>
          </a:xfrm>
          <a:custGeom>
            <a:avLst/>
            <a:gdLst/>
            <a:ahLst/>
            <a:cxnLst/>
            <a:rect r="r" b="b" t="t" l="l"/>
            <a:pathLst>
              <a:path h="1619050" w="720481">
                <a:moveTo>
                  <a:pt x="0" y="0"/>
                </a:moveTo>
                <a:lnTo>
                  <a:pt x="720480" y="0"/>
                </a:lnTo>
                <a:lnTo>
                  <a:pt x="720480" y="1619050"/>
                </a:lnTo>
                <a:lnTo>
                  <a:pt x="0" y="1619050"/>
                </a:lnTo>
                <a:lnTo>
                  <a:pt x="0" y="0"/>
                </a:lnTo>
                <a:close/>
              </a:path>
            </a:pathLst>
          </a:custGeom>
          <a:blipFill>
            <a:blip r:embed="rId5">
              <a:extLst>
                <a:ext uri="{96DAC541-7B7A-43D3-8B79-37D633B846F1}">
                  <asvg:svgBlip xmlns:asvg="http://schemas.microsoft.com/office/drawing/2016/SVG/main" r:embed="rId6"/>
                </a:ext>
              </a:extLst>
            </a:blip>
            <a:stretch>
              <a:fillRect l="0" t="-62" r="0" b="-62"/>
            </a:stretch>
          </a:blipFill>
        </p:spPr>
      </p:sp>
      <p:sp>
        <p:nvSpPr>
          <p:cNvPr name="Freeform 25" id="25"/>
          <p:cNvSpPr/>
          <p:nvPr/>
        </p:nvSpPr>
        <p:spPr>
          <a:xfrm flipH="false" flipV="false" rot="3222120">
            <a:off x="3298022" y="1396222"/>
            <a:ext cx="1183605" cy="2188483"/>
          </a:xfrm>
          <a:custGeom>
            <a:avLst/>
            <a:gdLst/>
            <a:ahLst/>
            <a:cxnLst/>
            <a:rect r="r" b="b" t="t" l="l"/>
            <a:pathLst>
              <a:path h="2188483" w="1183605">
                <a:moveTo>
                  <a:pt x="0" y="0"/>
                </a:moveTo>
                <a:lnTo>
                  <a:pt x="1183605" y="0"/>
                </a:lnTo>
                <a:lnTo>
                  <a:pt x="1183605" y="2188483"/>
                </a:lnTo>
                <a:lnTo>
                  <a:pt x="0" y="2188483"/>
                </a:lnTo>
                <a:lnTo>
                  <a:pt x="0" y="0"/>
                </a:lnTo>
                <a:close/>
              </a:path>
            </a:pathLst>
          </a:custGeom>
          <a:blipFill>
            <a:blip r:embed="rId7">
              <a:extLst>
                <a:ext uri="{96DAC541-7B7A-43D3-8B79-37D633B846F1}">
                  <asvg:svgBlip xmlns:asvg="http://schemas.microsoft.com/office/drawing/2016/SVG/main" r:embed="rId8"/>
                </a:ext>
              </a:extLst>
            </a:blip>
            <a:stretch>
              <a:fillRect l="-244" t="0" r="-244" b="0"/>
            </a:stretch>
          </a:blipFill>
        </p:spPr>
      </p:sp>
      <p:sp>
        <p:nvSpPr>
          <p:cNvPr name="TextBox 26" id="26"/>
          <p:cNvSpPr txBox="true"/>
          <p:nvPr/>
        </p:nvSpPr>
        <p:spPr>
          <a:xfrm rot="0">
            <a:off x="337680" y="85820"/>
            <a:ext cx="371180" cy="532600"/>
          </a:xfrm>
          <a:prstGeom prst="rect">
            <a:avLst/>
          </a:prstGeom>
        </p:spPr>
        <p:txBody>
          <a:bodyPr anchor="t" rtlCol="false" tIns="0" lIns="0" bIns="0" rIns="0">
            <a:spAutoFit/>
          </a:bodyPr>
          <a:lstStyle/>
          <a:p>
            <a:pPr algn="ctr">
              <a:lnSpc>
                <a:spcPts val="3719"/>
              </a:lnSpc>
            </a:pPr>
            <a:r>
              <a:rPr lang="en-US" sz="2655">
                <a:solidFill>
                  <a:srgbClr val="000000"/>
                </a:solidFill>
                <a:latin typeface="Questrial"/>
                <a:ea typeface="Questrial"/>
                <a:cs typeface="Questrial"/>
                <a:sym typeface="Questrial"/>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sp>
        <p:nvSpPr>
          <p:cNvPr name="Freeform 2" id="2"/>
          <p:cNvSpPr/>
          <p:nvPr/>
        </p:nvSpPr>
        <p:spPr>
          <a:xfrm flipH="false" flipV="false" rot="0">
            <a:off x="734749" y="361283"/>
            <a:ext cx="16818493" cy="9365523"/>
          </a:xfrm>
          <a:custGeom>
            <a:avLst/>
            <a:gdLst/>
            <a:ahLst/>
            <a:cxnLst/>
            <a:rect r="r" b="b" t="t" l="l"/>
            <a:pathLst>
              <a:path h="9365523" w="16818493">
                <a:moveTo>
                  <a:pt x="0" y="0"/>
                </a:moveTo>
                <a:lnTo>
                  <a:pt x="16818493" y="0"/>
                </a:lnTo>
                <a:lnTo>
                  <a:pt x="16818493" y="9365523"/>
                </a:lnTo>
                <a:lnTo>
                  <a:pt x="0" y="9365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19346" y="3364687"/>
            <a:ext cx="15649308" cy="1704975"/>
          </a:xfrm>
          <a:prstGeom prst="rect">
            <a:avLst/>
          </a:prstGeom>
        </p:spPr>
        <p:txBody>
          <a:bodyPr anchor="t" rtlCol="false" tIns="0" lIns="0" bIns="0" rIns="0">
            <a:spAutoFit/>
          </a:bodyPr>
          <a:lstStyle/>
          <a:p>
            <a:pPr algn="ctr">
              <a:lnSpc>
                <a:spcPts val="10771"/>
              </a:lnSpc>
            </a:pPr>
            <a:r>
              <a:rPr lang="en-US" sz="8976">
                <a:solidFill>
                  <a:srgbClr val="000000"/>
                </a:solidFill>
                <a:latin typeface="Bungee"/>
                <a:ea typeface="Bungee"/>
                <a:cs typeface="Bungee"/>
                <a:sym typeface="Bungee"/>
              </a:rPr>
              <a:t>CRONOGRAMA</a:t>
            </a:r>
          </a:p>
        </p:txBody>
      </p:sp>
      <p:sp>
        <p:nvSpPr>
          <p:cNvPr name="Freeform 4" id="4"/>
          <p:cNvSpPr/>
          <p:nvPr/>
        </p:nvSpPr>
        <p:spPr>
          <a:xfrm flipH="false" flipV="false" rot="-1862280">
            <a:off x="2469928" y="6412401"/>
            <a:ext cx="1183605" cy="2188483"/>
          </a:xfrm>
          <a:custGeom>
            <a:avLst/>
            <a:gdLst/>
            <a:ahLst/>
            <a:cxnLst/>
            <a:rect r="r" b="b" t="t" l="l"/>
            <a:pathLst>
              <a:path h="2188483" w="1183605">
                <a:moveTo>
                  <a:pt x="0" y="0"/>
                </a:moveTo>
                <a:lnTo>
                  <a:pt x="1183605" y="0"/>
                </a:lnTo>
                <a:lnTo>
                  <a:pt x="1183605" y="2188483"/>
                </a:lnTo>
                <a:lnTo>
                  <a:pt x="0" y="2188483"/>
                </a:lnTo>
                <a:lnTo>
                  <a:pt x="0" y="0"/>
                </a:lnTo>
                <a:close/>
              </a:path>
            </a:pathLst>
          </a:custGeom>
          <a:blipFill>
            <a:blip r:embed="rId4">
              <a:extLst>
                <a:ext uri="{96DAC541-7B7A-43D3-8B79-37D633B846F1}">
                  <asvg:svgBlip xmlns:asvg="http://schemas.microsoft.com/office/drawing/2016/SVG/main" r:embed="rId5"/>
                </a:ext>
              </a:extLst>
            </a:blip>
            <a:stretch>
              <a:fillRect l="-244" t="0" r="-244" b="0"/>
            </a:stretch>
          </a:blipFill>
        </p:spPr>
      </p:sp>
      <p:grpSp>
        <p:nvGrpSpPr>
          <p:cNvPr name="Group 5" id="5"/>
          <p:cNvGrpSpPr/>
          <p:nvPr/>
        </p:nvGrpSpPr>
        <p:grpSpPr>
          <a:xfrm rot="195360">
            <a:off x="3492189" y="1953482"/>
            <a:ext cx="1427636" cy="1442352"/>
            <a:chOff x="0" y="0"/>
            <a:chExt cx="1903514" cy="1923136"/>
          </a:xfrm>
        </p:grpSpPr>
        <p:sp>
          <p:nvSpPr>
            <p:cNvPr name="Freeform 6" id="6"/>
            <p:cNvSpPr/>
            <p:nvPr/>
          </p:nvSpPr>
          <p:spPr>
            <a:xfrm flipH="false" flipV="false" rot="0">
              <a:off x="0" y="0"/>
              <a:ext cx="1903476" cy="1923161"/>
            </a:xfrm>
            <a:custGeom>
              <a:avLst/>
              <a:gdLst/>
              <a:ahLst/>
              <a:cxnLst/>
              <a:rect r="r" b="b" t="t" l="l"/>
              <a:pathLst>
                <a:path h="1923161" w="1903476">
                  <a:moveTo>
                    <a:pt x="0" y="0"/>
                  </a:moveTo>
                  <a:lnTo>
                    <a:pt x="1903476" y="0"/>
                  </a:lnTo>
                  <a:lnTo>
                    <a:pt x="1903476" y="1923161"/>
                  </a:lnTo>
                  <a:lnTo>
                    <a:pt x="0" y="1923161"/>
                  </a:lnTo>
                  <a:lnTo>
                    <a:pt x="0" y="0"/>
                  </a:lnTo>
                  <a:close/>
                </a:path>
              </a:pathLst>
            </a:custGeom>
            <a:blipFill>
              <a:blip r:embed="rId6"/>
              <a:stretch>
                <a:fillRect l="-354" t="0" r="-356" b="1"/>
              </a:stretch>
            </a:blipFill>
          </p:spPr>
        </p:sp>
      </p:grpSp>
      <p:sp>
        <p:nvSpPr>
          <p:cNvPr name="Freeform 7" id="7"/>
          <p:cNvSpPr/>
          <p:nvPr/>
        </p:nvSpPr>
        <p:spPr>
          <a:xfrm flipH="false" flipV="false" rot="0">
            <a:off x="15163362" y="3026550"/>
            <a:ext cx="1125836" cy="1220410"/>
          </a:xfrm>
          <a:custGeom>
            <a:avLst/>
            <a:gdLst/>
            <a:ahLst/>
            <a:cxnLst/>
            <a:rect r="r" b="b" t="t" l="l"/>
            <a:pathLst>
              <a:path h="1220410" w="1125836">
                <a:moveTo>
                  <a:pt x="0" y="0"/>
                </a:moveTo>
                <a:lnTo>
                  <a:pt x="1125836" y="0"/>
                </a:lnTo>
                <a:lnTo>
                  <a:pt x="1125836" y="1220409"/>
                </a:lnTo>
                <a:lnTo>
                  <a:pt x="0" y="1220409"/>
                </a:lnTo>
                <a:lnTo>
                  <a:pt x="0" y="0"/>
                </a:lnTo>
                <a:close/>
              </a:path>
            </a:pathLst>
          </a:custGeom>
          <a:blipFill>
            <a:blip r:embed="rId7">
              <a:extLst>
                <a:ext uri="{96DAC541-7B7A-43D3-8B79-37D633B846F1}">
                  <asvg:svgBlip xmlns:asvg="http://schemas.microsoft.com/office/drawing/2016/SVG/main" r:embed="rId8"/>
                </a:ext>
              </a:extLst>
            </a:blip>
            <a:stretch>
              <a:fillRect l="0" t="0" r="0" b="-1"/>
            </a:stretch>
          </a:blipFill>
        </p:spPr>
      </p:sp>
      <p:sp>
        <p:nvSpPr>
          <p:cNvPr name="Freeform 8" id="8"/>
          <p:cNvSpPr/>
          <p:nvPr/>
        </p:nvSpPr>
        <p:spPr>
          <a:xfrm flipH="false" flipV="false" rot="0">
            <a:off x="14302283" y="1868167"/>
            <a:ext cx="1068610" cy="1158383"/>
          </a:xfrm>
          <a:custGeom>
            <a:avLst/>
            <a:gdLst/>
            <a:ahLst/>
            <a:cxnLst/>
            <a:rect r="r" b="b" t="t" l="l"/>
            <a:pathLst>
              <a:path h="1158383" w="1068610">
                <a:moveTo>
                  <a:pt x="0" y="0"/>
                </a:moveTo>
                <a:lnTo>
                  <a:pt x="1068610" y="0"/>
                </a:lnTo>
                <a:lnTo>
                  <a:pt x="1068610" y="1158383"/>
                </a:lnTo>
                <a:lnTo>
                  <a:pt x="0" y="1158383"/>
                </a:lnTo>
                <a:lnTo>
                  <a:pt x="0" y="0"/>
                </a:lnTo>
                <a:close/>
              </a:path>
            </a:pathLst>
          </a:custGeom>
          <a:blipFill>
            <a:blip r:embed="rId7">
              <a:extLst>
                <a:ext uri="{96DAC541-7B7A-43D3-8B79-37D633B846F1}">
                  <asvg:svgBlip xmlns:asvg="http://schemas.microsoft.com/office/drawing/2016/SVG/main" r:embed="rId8"/>
                </a:ext>
              </a:extLst>
            </a:blip>
            <a:stretch>
              <a:fillRect l="-202" t="0" r="-201" b="0"/>
            </a:stretch>
          </a:blipFill>
        </p:spPr>
      </p:sp>
      <p:grpSp>
        <p:nvGrpSpPr>
          <p:cNvPr name="Group 9" id="9"/>
          <p:cNvGrpSpPr/>
          <p:nvPr/>
        </p:nvGrpSpPr>
        <p:grpSpPr>
          <a:xfrm rot="0">
            <a:off x="5095875" y="4762500"/>
            <a:ext cx="8096250" cy="4000500"/>
            <a:chOff x="0" y="0"/>
            <a:chExt cx="10795000" cy="5334000"/>
          </a:xfrm>
        </p:grpSpPr>
        <p:sp>
          <p:nvSpPr>
            <p:cNvPr name="Freeform 10" id="10"/>
            <p:cNvSpPr/>
            <p:nvPr/>
          </p:nvSpPr>
          <p:spPr>
            <a:xfrm flipH="false" flipV="false" rot="0">
              <a:off x="0" y="0"/>
              <a:ext cx="10795000" cy="5334000"/>
            </a:xfrm>
            <a:custGeom>
              <a:avLst/>
              <a:gdLst/>
              <a:ahLst/>
              <a:cxnLst/>
              <a:rect r="r" b="b" t="t" l="l"/>
              <a:pathLst>
                <a:path h="5334000" w="10795000">
                  <a:moveTo>
                    <a:pt x="0" y="0"/>
                  </a:moveTo>
                  <a:lnTo>
                    <a:pt x="10795000" y="0"/>
                  </a:lnTo>
                  <a:lnTo>
                    <a:pt x="10795000" y="5334000"/>
                  </a:lnTo>
                  <a:lnTo>
                    <a:pt x="0" y="5334000"/>
                  </a:lnTo>
                  <a:lnTo>
                    <a:pt x="0" y="0"/>
                  </a:lnTo>
                  <a:close/>
                </a:path>
              </a:pathLst>
            </a:custGeom>
            <a:blipFill>
              <a:blip r:embed="rId9"/>
              <a:stretch>
                <a:fillRect l="0" t="0" r="0" b="0"/>
              </a:stretch>
            </a:blipFill>
          </p:spPr>
        </p:sp>
      </p:grpSp>
      <p:sp>
        <p:nvSpPr>
          <p:cNvPr name="TextBox 11" id="11"/>
          <p:cNvSpPr txBox="true"/>
          <p:nvPr/>
        </p:nvSpPr>
        <p:spPr>
          <a:xfrm rot="0">
            <a:off x="337680" y="85820"/>
            <a:ext cx="371180" cy="532600"/>
          </a:xfrm>
          <a:prstGeom prst="rect">
            <a:avLst/>
          </a:prstGeom>
        </p:spPr>
        <p:txBody>
          <a:bodyPr anchor="t" rtlCol="false" tIns="0" lIns="0" bIns="0" rIns="0">
            <a:spAutoFit/>
          </a:bodyPr>
          <a:lstStyle/>
          <a:p>
            <a:pPr algn="ctr">
              <a:lnSpc>
                <a:spcPts val="3719"/>
              </a:lnSpc>
            </a:pPr>
            <a:r>
              <a:rPr lang="en-US" sz="2655">
                <a:solidFill>
                  <a:srgbClr val="000000"/>
                </a:solidFill>
                <a:latin typeface="Questrial"/>
                <a:ea typeface="Questrial"/>
                <a:cs typeface="Questrial"/>
                <a:sym typeface="Questrial"/>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sp>
        <p:nvSpPr>
          <p:cNvPr name="Freeform 2" id="2"/>
          <p:cNvSpPr/>
          <p:nvPr/>
        </p:nvSpPr>
        <p:spPr>
          <a:xfrm flipH="false" flipV="false" rot="0">
            <a:off x="734749" y="361283"/>
            <a:ext cx="16818493" cy="9365523"/>
          </a:xfrm>
          <a:custGeom>
            <a:avLst/>
            <a:gdLst/>
            <a:ahLst/>
            <a:cxnLst/>
            <a:rect r="r" b="b" t="t" l="l"/>
            <a:pathLst>
              <a:path h="9365523" w="16818493">
                <a:moveTo>
                  <a:pt x="0" y="0"/>
                </a:moveTo>
                <a:lnTo>
                  <a:pt x="16818493" y="0"/>
                </a:lnTo>
                <a:lnTo>
                  <a:pt x="16818493" y="9365523"/>
                </a:lnTo>
                <a:lnTo>
                  <a:pt x="0" y="9365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48691" y="1978400"/>
            <a:ext cx="5685663" cy="6330191"/>
          </a:xfrm>
          <a:custGeom>
            <a:avLst/>
            <a:gdLst/>
            <a:ahLst/>
            <a:cxnLst/>
            <a:rect r="r" b="b" t="t" l="l"/>
            <a:pathLst>
              <a:path h="6330191" w="5685663">
                <a:moveTo>
                  <a:pt x="0" y="0"/>
                </a:moveTo>
                <a:lnTo>
                  <a:pt x="5685663" y="0"/>
                </a:lnTo>
                <a:lnTo>
                  <a:pt x="5685663" y="6330191"/>
                </a:lnTo>
                <a:lnTo>
                  <a:pt x="0" y="6330191"/>
                </a:lnTo>
                <a:lnTo>
                  <a:pt x="0" y="0"/>
                </a:lnTo>
                <a:close/>
              </a:path>
            </a:pathLst>
          </a:custGeom>
          <a:blipFill>
            <a:blip r:embed="rId4">
              <a:extLst>
                <a:ext uri="{96DAC541-7B7A-43D3-8B79-37D633B846F1}">
                  <asvg:svgBlip xmlns:asvg="http://schemas.microsoft.com/office/drawing/2016/SVG/main" r:embed="rId5"/>
                </a:ext>
              </a:extLst>
            </a:blip>
            <a:stretch>
              <a:fillRect l="-59" t="0" r="-59" b="0"/>
            </a:stretch>
          </a:blipFill>
        </p:spPr>
      </p:sp>
      <p:sp>
        <p:nvSpPr>
          <p:cNvPr name="TextBox 4" id="4"/>
          <p:cNvSpPr txBox="true"/>
          <p:nvPr/>
        </p:nvSpPr>
        <p:spPr>
          <a:xfrm rot="0">
            <a:off x="1948691" y="1349292"/>
            <a:ext cx="9152001" cy="1419673"/>
          </a:xfrm>
          <a:prstGeom prst="rect">
            <a:avLst/>
          </a:prstGeom>
        </p:spPr>
        <p:txBody>
          <a:bodyPr anchor="t" rtlCol="false" tIns="0" lIns="0" bIns="0" rIns="0">
            <a:spAutoFit/>
          </a:bodyPr>
          <a:lstStyle/>
          <a:p>
            <a:pPr algn="l">
              <a:lnSpc>
                <a:spcPts val="8742"/>
              </a:lnSpc>
            </a:pPr>
            <a:r>
              <a:rPr lang="en-US" sz="6476">
                <a:solidFill>
                  <a:srgbClr val="05061C"/>
                </a:solidFill>
                <a:latin typeface="Bungee"/>
                <a:ea typeface="Bungee"/>
                <a:cs typeface="Bungee"/>
                <a:sym typeface="Bungee"/>
              </a:rPr>
              <a:t>Sprint</a:t>
            </a:r>
          </a:p>
        </p:txBody>
      </p:sp>
      <p:sp>
        <p:nvSpPr>
          <p:cNvPr name="TextBox 5" id="5"/>
          <p:cNvSpPr txBox="true"/>
          <p:nvPr/>
        </p:nvSpPr>
        <p:spPr>
          <a:xfrm rot="0">
            <a:off x="8397802" y="4648057"/>
            <a:ext cx="8255784" cy="1071172"/>
          </a:xfrm>
          <a:prstGeom prst="rect">
            <a:avLst/>
          </a:prstGeom>
        </p:spPr>
        <p:txBody>
          <a:bodyPr anchor="t" rtlCol="false" tIns="0" lIns="0" bIns="0" rIns="0">
            <a:spAutoFit/>
          </a:bodyPr>
          <a:lstStyle/>
          <a:p>
            <a:pPr algn="just">
              <a:lnSpc>
                <a:spcPts val="2077"/>
              </a:lnSpc>
            </a:pPr>
            <a:r>
              <a:rPr lang="en-US" sz="1385">
                <a:solidFill>
                  <a:srgbClr val="05061C"/>
                </a:solidFill>
                <a:latin typeface="Questrial"/>
                <a:ea typeface="Questrial"/>
                <a:cs typeface="Questrial"/>
                <a:sym typeface="Questrial"/>
              </a:rPr>
              <a:t>Desarrollar la administración básica de los vehículos, permitiendo registrar, consultar y gestionar de manera organizada la información principal de cada vehículo, incluyendo sus características, estado, kilometraje, fechas de mantenimiento y revisión técnica, con el objetivo de facilitar su seguimiento y control dentro del sistema.</a:t>
            </a:r>
          </a:p>
        </p:txBody>
      </p:sp>
      <p:sp>
        <p:nvSpPr>
          <p:cNvPr name="TextBox 6" id="6"/>
          <p:cNvSpPr txBox="true"/>
          <p:nvPr/>
        </p:nvSpPr>
        <p:spPr>
          <a:xfrm rot="0">
            <a:off x="8397802" y="4017626"/>
            <a:ext cx="8255784" cy="563023"/>
          </a:xfrm>
          <a:prstGeom prst="rect">
            <a:avLst/>
          </a:prstGeom>
        </p:spPr>
        <p:txBody>
          <a:bodyPr anchor="t" rtlCol="false" tIns="0" lIns="0" bIns="0" rIns="0">
            <a:spAutoFit/>
          </a:bodyPr>
          <a:lstStyle/>
          <a:p>
            <a:pPr algn="l">
              <a:lnSpc>
                <a:spcPts val="4141"/>
              </a:lnSpc>
            </a:pPr>
            <a:r>
              <a:rPr lang="en-US" sz="2958">
                <a:solidFill>
                  <a:srgbClr val="05061C"/>
                </a:solidFill>
                <a:latin typeface="Questrial"/>
                <a:ea typeface="Questrial"/>
                <a:cs typeface="Questrial"/>
                <a:sym typeface="Questrial"/>
              </a:rPr>
              <a:t>01. Sprint 1</a:t>
            </a:r>
          </a:p>
        </p:txBody>
      </p:sp>
      <p:sp>
        <p:nvSpPr>
          <p:cNvPr name="TextBox 7" id="7"/>
          <p:cNvSpPr txBox="true"/>
          <p:nvPr/>
        </p:nvSpPr>
        <p:spPr>
          <a:xfrm rot="0">
            <a:off x="8442789" y="6529207"/>
            <a:ext cx="8255784" cy="998887"/>
          </a:xfrm>
          <a:prstGeom prst="rect">
            <a:avLst/>
          </a:prstGeom>
        </p:spPr>
        <p:txBody>
          <a:bodyPr anchor="t" rtlCol="false" tIns="0" lIns="0" bIns="0" rIns="0">
            <a:spAutoFit/>
          </a:bodyPr>
          <a:lstStyle/>
          <a:p>
            <a:pPr algn="just">
              <a:lnSpc>
                <a:spcPts val="1922"/>
              </a:lnSpc>
            </a:pPr>
            <a:r>
              <a:rPr lang="en-US" sz="1281">
                <a:solidFill>
                  <a:srgbClr val="05061C"/>
                </a:solidFill>
                <a:latin typeface="Questrial"/>
                <a:ea typeface="Questrial"/>
                <a:cs typeface="Questrial"/>
                <a:sym typeface="Questrial"/>
              </a:rPr>
              <a:t>Implementar la gestión de reportes y mantenimientos asociados a los vehículos, permitiendo registrar fallas, reparaciones y repuestos utilizados. Además, desarrollar el módulo de empleados para administrar la información del personal, incluyendo sus cargos, tipos de contrato, estado laboral y, cuando corresponda, información relacionada con despidos y sus motivos.</a:t>
            </a:r>
          </a:p>
        </p:txBody>
      </p:sp>
      <p:sp>
        <p:nvSpPr>
          <p:cNvPr name="TextBox 8" id="8"/>
          <p:cNvSpPr txBox="true"/>
          <p:nvPr/>
        </p:nvSpPr>
        <p:spPr>
          <a:xfrm rot="0">
            <a:off x="8397802" y="5897613"/>
            <a:ext cx="8345767" cy="563023"/>
          </a:xfrm>
          <a:prstGeom prst="rect">
            <a:avLst/>
          </a:prstGeom>
        </p:spPr>
        <p:txBody>
          <a:bodyPr anchor="t" rtlCol="false" tIns="0" lIns="0" bIns="0" rIns="0">
            <a:spAutoFit/>
          </a:bodyPr>
          <a:lstStyle/>
          <a:p>
            <a:pPr algn="l">
              <a:lnSpc>
                <a:spcPts val="4141"/>
              </a:lnSpc>
            </a:pPr>
            <a:r>
              <a:rPr lang="en-US" sz="2958">
                <a:solidFill>
                  <a:srgbClr val="05061C"/>
                </a:solidFill>
                <a:latin typeface="Questrial"/>
                <a:ea typeface="Questrial"/>
                <a:cs typeface="Questrial"/>
                <a:sym typeface="Questrial"/>
              </a:rPr>
              <a:t>02. Sprint 2</a:t>
            </a:r>
          </a:p>
        </p:txBody>
      </p:sp>
      <p:sp>
        <p:nvSpPr>
          <p:cNvPr name="Freeform 9" id="9"/>
          <p:cNvSpPr/>
          <p:nvPr/>
        </p:nvSpPr>
        <p:spPr>
          <a:xfrm flipH="false" flipV="false" rot="0">
            <a:off x="1588456" y="242306"/>
            <a:ext cx="720481" cy="1619050"/>
          </a:xfrm>
          <a:custGeom>
            <a:avLst/>
            <a:gdLst/>
            <a:ahLst/>
            <a:cxnLst/>
            <a:rect r="r" b="b" t="t" l="l"/>
            <a:pathLst>
              <a:path h="1619050" w="720481">
                <a:moveTo>
                  <a:pt x="0" y="0"/>
                </a:moveTo>
                <a:lnTo>
                  <a:pt x="720480" y="0"/>
                </a:lnTo>
                <a:lnTo>
                  <a:pt x="720480" y="1619050"/>
                </a:lnTo>
                <a:lnTo>
                  <a:pt x="0" y="1619050"/>
                </a:lnTo>
                <a:lnTo>
                  <a:pt x="0" y="0"/>
                </a:lnTo>
                <a:close/>
              </a:path>
            </a:pathLst>
          </a:custGeom>
          <a:blipFill>
            <a:blip r:embed="rId6">
              <a:extLst>
                <a:ext uri="{96DAC541-7B7A-43D3-8B79-37D633B846F1}">
                  <asvg:svgBlip xmlns:asvg="http://schemas.microsoft.com/office/drawing/2016/SVG/main" r:embed="rId7"/>
                </a:ext>
              </a:extLst>
            </a:blip>
            <a:stretch>
              <a:fillRect l="0" t="-62" r="0" b="-62"/>
            </a:stretch>
          </a:blipFill>
        </p:spPr>
      </p:sp>
      <p:sp>
        <p:nvSpPr>
          <p:cNvPr name="TextBox 10" id="10"/>
          <p:cNvSpPr txBox="true"/>
          <p:nvPr/>
        </p:nvSpPr>
        <p:spPr>
          <a:xfrm rot="0">
            <a:off x="8397802" y="8348320"/>
            <a:ext cx="8255784" cy="998887"/>
          </a:xfrm>
          <a:prstGeom prst="rect">
            <a:avLst/>
          </a:prstGeom>
        </p:spPr>
        <p:txBody>
          <a:bodyPr anchor="t" rtlCol="false" tIns="0" lIns="0" bIns="0" rIns="0">
            <a:spAutoFit/>
          </a:bodyPr>
          <a:lstStyle/>
          <a:p>
            <a:pPr algn="just">
              <a:lnSpc>
                <a:spcPts val="1922"/>
              </a:lnSpc>
            </a:pPr>
            <a:r>
              <a:rPr lang="en-US" sz="1281">
                <a:solidFill>
                  <a:srgbClr val="05061C"/>
                </a:solidFill>
                <a:latin typeface="Questrial"/>
                <a:ea typeface="Questrial"/>
                <a:cs typeface="Questrial"/>
                <a:sym typeface="Questrial"/>
              </a:rPr>
              <a:t>Integrar los módulos desarrollados durante los Sprints anteriores, verificando la correcta comunicación entre la aplicación móvil, la API y la base de datos. Durante este Sprint se realizarán pruebas generales, corrección de errores, mejoras de la interfaz, validación de la persistencia de los datos y preparación del sistema para su despliegue y presentación final.</a:t>
            </a:r>
          </a:p>
        </p:txBody>
      </p:sp>
      <p:sp>
        <p:nvSpPr>
          <p:cNvPr name="TextBox 11" id="11"/>
          <p:cNvSpPr txBox="true"/>
          <p:nvPr/>
        </p:nvSpPr>
        <p:spPr>
          <a:xfrm rot="0">
            <a:off x="8352806" y="7716726"/>
            <a:ext cx="8345767" cy="563023"/>
          </a:xfrm>
          <a:prstGeom prst="rect">
            <a:avLst/>
          </a:prstGeom>
        </p:spPr>
        <p:txBody>
          <a:bodyPr anchor="t" rtlCol="false" tIns="0" lIns="0" bIns="0" rIns="0">
            <a:spAutoFit/>
          </a:bodyPr>
          <a:lstStyle/>
          <a:p>
            <a:pPr algn="l">
              <a:lnSpc>
                <a:spcPts val="4141"/>
              </a:lnSpc>
            </a:pPr>
            <a:r>
              <a:rPr lang="en-US" sz="2958">
                <a:solidFill>
                  <a:srgbClr val="05061C"/>
                </a:solidFill>
                <a:latin typeface="Questrial"/>
                <a:ea typeface="Questrial"/>
                <a:cs typeface="Questrial"/>
                <a:sym typeface="Questrial"/>
              </a:rPr>
              <a:t>03. Sprint 3</a:t>
            </a:r>
          </a:p>
        </p:txBody>
      </p:sp>
      <p:sp>
        <p:nvSpPr>
          <p:cNvPr name="TextBox 12" id="12"/>
          <p:cNvSpPr txBox="true"/>
          <p:nvPr/>
        </p:nvSpPr>
        <p:spPr>
          <a:xfrm rot="0">
            <a:off x="8352806" y="2898819"/>
            <a:ext cx="8255784" cy="1071172"/>
          </a:xfrm>
          <a:prstGeom prst="rect">
            <a:avLst/>
          </a:prstGeom>
        </p:spPr>
        <p:txBody>
          <a:bodyPr anchor="t" rtlCol="false" tIns="0" lIns="0" bIns="0" rIns="0">
            <a:spAutoFit/>
          </a:bodyPr>
          <a:lstStyle/>
          <a:p>
            <a:pPr algn="just">
              <a:lnSpc>
                <a:spcPts val="2077"/>
              </a:lnSpc>
            </a:pPr>
            <a:r>
              <a:rPr lang="en-US" sz="1385">
                <a:solidFill>
                  <a:srgbClr val="05061C"/>
                </a:solidFill>
                <a:latin typeface="Questrial"/>
                <a:ea typeface="Questrial"/>
                <a:cs typeface="Questrial"/>
                <a:sym typeface="Questrial"/>
              </a:rPr>
              <a:t>Definir y planificar el proyecto, identificando las necesidades principales del sistema, los requerimientos funcionales y no funcionales, las historias de usuario y la arquitectura tecnológica. En esta etapa también se establecerá el Product Backlog, se definirán las prioridades de desarrollo y se preparará el entorno de trabajo para comenzar la implementación.</a:t>
            </a:r>
          </a:p>
        </p:txBody>
      </p:sp>
      <p:sp>
        <p:nvSpPr>
          <p:cNvPr name="TextBox 13" id="13"/>
          <p:cNvSpPr txBox="true"/>
          <p:nvPr/>
        </p:nvSpPr>
        <p:spPr>
          <a:xfrm rot="0">
            <a:off x="8352806" y="2268388"/>
            <a:ext cx="8255784" cy="563023"/>
          </a:xfrm>
          <a:prstGeom prst="rect">
            <a:avLst/>
          </a:prstGeom>
        </p:spPr>
        <p:txBody>
          <a:bodyPr anchor="t" rtlCol="false" tIns="0" lIns="0" bIns="0" rIns="0">
            <a:spAutoFit/>
          </a:bodyPr>
          <a:lstStyle/>
          <a:p>
            <a:pPr algn="l">
              <a:lnSpc>
                <a:spcPts val="4141"/>
              </a:lnSpc>
            </a:pPr>
            <a:r>
              <a:rPr lang="en-US" sz="2958">
                <a:solidFill>
                  <a:srgbClr val="05061C"/>
                </a:solidFill>
                <a:latin typeface="Questrial"/>
                <a:ea typeface="Questrial"/>
                <a:cs typeface="Questrial"/>
                <a:sym typeface="Questrial"/>
              </a:rPr>
              <a:t>00. Sprint 0</a:t>
            </a:r>
          </a:p>
        </p:txBody>
      </p:sp>
      <p:sp>
        <p:nvSpPr>
          <p:cNvPr name="TextBox 14" id="14"/>
          <p:cNvSpPr txBox="true"/>
          <p:nvPr/>
        </p:nvSpPr>
        <p:spPr>
          <a:xfrm rot="0">
            <a:off x="337680" y="85820"/>
            <a:ext cx="371180" cy="532600"/>
          </a:xfrm>
          <a:prstGeom prst="rect">
            <a:avLst/>
          </a:prstGeom>
        </p:spPr>
        <p:txBody>
          <a:bodyPr anchor="t" rtlCol="false" tIns="0" lIns="0" bIns="0" rIns="0">
            <a:spAutoFit/>
          </a:bodyPr>
          <a:lstStyle/>
          <a:p>
            <a:pPr algn="ctr">
              <a:lnSpc>
                <a:spcPts val="3719"/>
              </a:lnSpc>
            </a:pPr>
            <a:r>
              <a:rPr lang="en-US" sz="2655">
                <a:solidFill>
                  <a:srgbClr val="000000"/>
                </a:solidFill>
                <a:latin typeface="Questrial"/>
                <a:ea typeface="Questrial"/>
                <a:cs typeface="Questrial"/>
                <a:sym typeface="Questrial"/>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sp>
        <p:nvSpPr>
          <p:cNvPr name="Freeform 2" id="2"/>
          <p:cNvSpPr/>
          <p:nvPr/>
        </p:nvSpPr>
        <p:spPr>
          <a:xfrm flipH="false" flipV="false" rot="0">
            <a:off x="734749" y="319840"/>
            <a:ext cx="16818493" cy="9365523"/>
          </a:xfrm>
          <a:custGeom>
            <a:avLst/>
            <a:gdLst/>
            <a:ahLst/>
            <a:cxnLst/>
            <a:rect r="r" b="b" t="t" l="l"/>
            <a:pathLst>
              <a:path h="9365523" w="16818493">
                <a:moveTo>
                  <a:pt x="0" y="0"/>
                </a:moveTo>
                <a:lnTo>
                  <a:pt x="16818493" y="0"/>
                </a:lnTo>
                <a:lnTo>
                  <a:pt x="16818493" y="9365523"/>
                </a:lnTo>
                <a:lnTo>
                  <a:pt x="0" y="9365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429299" y="500605"/>
            <a:ext cx="9942176" cy="6489535"/>
          </a:xfrm>
          <a:custGeom>
            <a:avLst/>
            <a:gdLst/>
            <a:ahLst/>
            <a:cxnLst/>
            <a:rect r="r" b="b" t="t" l="l"/>
            <a:pathLst>
              <a:path h="6489535" w="9942176">
                <a:moveTo>
                  <a:pt x="0" y="0"/>
                </a:moveTo>
                <a:lnTo>
                  <a:pt x="9942176" y="0"/>
                </a:lnTo>
                <a:lnTo>
                  <a:pt x="9942176" y="6489535"/>
                </a:lnTo>
                <a:lnTo>
                  <a:pt x="0" y="6489535"/>
                </a:lnTo>
                <a:lnTo>
                  <a:pt x="0" y="0"/>
                </a:lnTo>
                <a:close/>
              </a:path>
            </a:pathLst>
          </a:custGeom>
          <a:blipFill>
            <a:blip r:embed="rId4">
              <a:extLst>
                <a:ext uri="{96DAC541-7B7A-43D3-8B79-37D633B846F1}">
                  <asvg:svgBlip xmlns:asvg="http://schemas.microsoft.com/office/drawing/2016/SVG/main" r:embed="rId5"/>
                </a:ext>
              </a:extLst>
            </a:blip>
            <a:stretch>
              <a:fillRect l="0" t="-260" r="0" b="-260"/>
            </a:stretch>
          </a:blipFill>
        </p:spPr>
      </p:sp>
      <p:sp>
        <p:nvSpPr>
          <p:cNvPr name="TextBox 4" id="4"/>
          <p:cNvSpPr txBox="true"/>
          <p:nvPr/>
        </p:nvSpPr>
        <p:spPr>
          <a:xfrm rot="0">
            <a:off x="1282713" y="828037"/>
            <a:ext cx="11565350" cy="1706251"/>
          </a:xfrm>
          <a:prstGeom prst="rect">
            <a:avLst/>
          </a:prstGeom>
        </p:spPr>
        <p:txBody>
          <a:bodyPr anchor="t" rtlCol="false" tIns="0" lIns="0" bIns="0" rIns="0">
            <a:spAutoFit/>
          </a:bodyPr>
          <a:lstStyle/>
          <a:p>
            <a:pPr algn="l">
              <a:lnSpc>
                <a:spcPts val="10598"/>
              </a:lnSpc>
            </a:pPr>
            <a:r>
              <a:rPr lang="en-US" sz="8090">
                <a:solidFill>
                  <a:srgbClr val="000000"/>
                </a:solidFill>
                <a:latin typeface="Bungee"/>
                <a:ea typeface="Bungee"/>
                <a:cs typeface="Bungee"/>
                <a:sym typeface="Bungee"/>
              </a:rPr>
              <a:t>carta gant </a:t>
            </a:r>
          </a:p>
        </p:txBody>
      </p:sp>
      <p:grpSp>
        <p:nvGrpSpPr>
          <p:cNvPr name="Group 5" id="5"/>
          <p:cNvGrpSpPr/>
          <p:nvPr/>
        </p:nvGrpSpPr>
        <p:grpSpPr>
          <a:xfrm rot="5483820">
            <a:off x="8221056" y="799481"/>
            <a:ext cx="999296" cy="1009602"/>
            <a:chOff x="0" y="0"/>
            <a:chExt cx="1332395" cy="1346136"/>
          </a:xfrm>
        </p:grpSpPr>
        <p:sp>
          <p:nvSpPr>
            <p:cNvPr name="Freeform 6" id="6"/>
            <p:cNvSpPr/>
            <p:nvPr/>
          </p:nvSpPr>
          <p:spPr>
            <a:xfrm flipH="false" flipV="false" rot="0">
              <a:off x="0" y="0"/>
              <a:ext cx="1332357" cy="1346200"/>
            </a:xfrm>
            <a:custGeom>
              <a:avLst/>
              <a:gdLst/>
              <a:ahLst/>
              <a:cxnLst/>
              <a:rect r="r" b="b" t="t" l="l"/>
              <a:pathLst>
                <a:path h="1346200" w="1332357">
                  <a:moveTo>
                    <a:pt x="0" y="0"/>
                  </a:moveTo>
                  <a:lnTo>
                    <a:pt x="1332357" y="0"/>
                  </a:lnTo>
                  <a:lnTo>
                    <a:pt x="1332357" y="1346200"/>
                  </a:lnTo>
                  <a:lnTo>
                    <a:pt x="0" y="1346200"/>
                  </a:lnTo>
                  <a:lnTo>
                    <a:pt x="0" y="0"/>
                  </a:lnTo>
                  <a:close/>
                </a:path>
              </a:pathLst>
            </a:custGeom>
            <a:blipFill>
              <a:blip r:embed="rId6"/>
              <a:stretch>
                <a:fillRect l="-354" t="0" r="-357" b="4"/>
              </a:stretch>
            </a:blipFill>
          </p:spPr>
        </p:sp>
      </p:grpSp>
      <p:grpSp>
        <p:nvGrpSpPr>
          <p:cNvPr name="Group 7" id="7"/>
          <p:cNvGrpSpPr/>
          <p:nvPr/>
        </p:nvGrpSpPr>
        <p:grpSpPr>
          <a:xfrm rot="0">
            <a:off x="1282713" y="2844822"/>
            <a:ext cx="9295609" cy="6202851"/>
            <a:chOff x="0" y="0"/>
            <a:chExt cx="12394146" cy="8270469"/>
          </a:xfrm>
        </p:grpSpPr>
        <p:sp>
          <p:nvSpPr>
            <p:cNvPr name="Freeform 8" id="8"/>
            <p:cNvSpPr/>
            <p:nvPr/>
          </p:nvSpPr>
          <p:spPr>
            <a:xfrm flipH="false" flipV="false" rot="0">
              <a:off x="0" y="0"/>
              <a:ext cx="12394184" cy="8270494"/>
            </a:xfrm>
            <a:custGeom>
              <a:avLst/>
              <a:gdLst/>
              <a:ahLst/>
              <a:cxnLst/>
              <a:rect r="r" b="b" t="t" l="l"/>
              <a:pathLst>
                <a:path h="8270494" w="12394184">
                  <a:moveTo>
                    <a:pt x="0" y="0"/>
                  </a:moveTo>
                  <a:lnTo>
                    <a:pt x="12394184" y="0"/>
                  </a:lnTo>
                  <a:lnTo>
                    <a:pt x="12394184" y="8270494"/>
                  </a:lnTo>
                  <a:lnTo>
                    <a:pt x="0" y="8270494"/>
                  </a:lnTo>
                  <a:lnTo>
                    <a:pt x="0" y="0"/>
                  </a:lnTo>
                  <a:close/>
                </a:path>
              </a:pathLst>
            </a:custGeom>
            <a:blipFill>
              <a:blip r:embed="rId7"/>
              <a:stretch>
                <a:fillRect l="0" t="0" r="0" b="0"/>
              </a:stretch>
            </a:blipFill>
          </p:spPr>
        </p:sp>
      </p:grpSp>
      <p:sp>
        <p:nvSpPr>
          <p:cNvPr name="TextBox 9" id="9"/>
          <p:cNvSpPr txBox="true"/>
          <p:nvPr/>
        </p:nvSpPr>
        <p:spPr>
          <a:xfrm rot="0">
            <a:off x="337680" y="85820"/>
            <a:ext cx="371180" cy="532600"/>
          </a:xfrm>
          <a:prstGeom prst="rect">
            <a:avLst/>
          </a:prstGeom>
        </p:spPr>
        <p:txBody>
          <a:bodyPr anchor="t" rtlCol="false" tIns="0" lIns="0" bIns="0" rIns="0">
            <a:spAutoFit/>
          </a:bodyPr>
          <a:lstStyle/>
          <a:p>
            <a:pPr algn="ctr">
              <a:lnSpc>
                <a:spcPts val="3719"/>
              </a:lnSpc>
            </a:pPr>
            <a:r>
              <a:rPr lang="en-US" sz="2655">
                <a:solidFill>
                  <a:srgbClr val="000000"/>
                </a:solidFill>
                <a:latin typeface="Questrial"/>
                <a:ea typeface="Questrial"/>
                <a:cs typeface="Questrial"/>
                <a:sym typeface="Questrial"/>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sp>
        <p:nvSpPr>
          <p:cNvPr name="Freeform 2" id="2"/>
          <p:cNvSpPr/>
          <p:nvPr/>
        </p:nvSpPr>
        <p:spPr>
          <a:xfrm flipH="false" flipV="false" rot="0">
            <a:off x="883415" y="376152"/>
            <a:ext cx="16818493" cy="9365523"/>
          </a:xfrm>
          <a:custGeom>
            <a:avLst/>
            <a:gdLst/>
            <a:ahLst/>
            <a:cxnLst/>
            <a:rect r="r" b="b" t="t" l="l"/>
            <a:pathLst>
              <a:path h="9365523" w="16818493">
                <a:moveTo>
                  <a:pt x="0" y="0"/>
                </a:moveTo>
                <a:lnTo>
                  <a:pt x="16818493" y="0"/>
                </a:lnTo>
                <a:lnTo>
                  <a:pt x="16818493" y="9365523"/>
                </a:lnTo>
                <a:lnTo>
                  <a:pt x="0" y="9365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62911" y="1633785"/>
            <a:ext cx="16962187" cy="1301906"/>
          </a:xfrm>
          <a:prstGeom prst="rect">
            <a:avLst/>
          </a:prstGeom>
        </p:spPr>
        <p:txBody>
          <a:bodyPr anchor="t" rtlCol="false" tIns="0" lIns="0" bIns="0" rIns="0">
            <a:spAutoFit/>
          </a:bodyPr>
          <a:lstStyle/>
          <a:p>
            <a:pPr algn="ctr">
              <a:lnSpc>
                <a:spcPts val="8140"/>
              </a:lnSpc>
            </a:pPr>
            <a:r>
              <a:rPr lang="en-US" sz="7079">
                <a:solidFill>
                  <a:srgbClr val="000000"/>
                </a:solidFill>
                <a:latin typeface="Bungee"/>
                <a:ea typeface="Bungee"/>
                <a:cs typeface="Bungee"/>
                <a:sym typeface="Bungee"/>
              </a:rPr>
              <a:t>REFLEXIONES FINALES</a:t>
            </a:r>
          </a:p>
        </p:txBody>
      </p:sp>
      <p:sp>
        <p:nvSpPr>
          <p:cNvPr name="TextBox 4" id="4"/>
          <p:cNvSpPr txBox="true"/>
          <p:nvPr/>
        </p:nvSpPr>
        <p:spPr>
          <a:xfrm rot="0">
            <a:off x="11700977" y="3343904"/>
            <a:ext cx="5407543" cy="763905"/>
          </a:xfrm>
          <a:prstGeom prst="rect">
            <a:avLst/>
          </a:prstGeom>
        </p:spPr>
        <p:txBody>
          <a:bodyPr anchor="t" rtlCol="false" tIns="0" lIns="0" bIns="0" rIns="0">
            <a:spAutoFit/>
          </a:bodyPr>
          <a:lstStyle/>
          <a:p>
            <a:pPr algn="l">
              <a:lnSpc>
                <a:spcPts val="4620"/>
              </a:lnSpc>
            </a:pPr>
            <a:r>
              <a:rPr lang="en-US" sz="3300" u="sng">
                <a:solidFill>
                  <a:srgbClr val="000000"/>
                </a:solidFill>
                <a:latin typeface="Bungee"/>
                <a:ea typeface="Bungee"/>
                <a:cs typeface="Bungee"/>
                <a:sym typeface="Bungee"/>
              </a:rPr>
              <a:t>CRISTOBAL OYARZUN</a:t>
            </a:r>
          </a:p>
        </p:txBody>
      </p:sp>
      <p:sp>
        <p:nvSpPr>
          <p:cNvPr name="TextBox 5" id="5"/>
          <p:cNvSpPr txBox="true"/>
          <p:nvPr/>
        </p:nvSpPr>
        <p:spPr>
          <a:xfrm rot="0">
            <a:off x="1894827" y="3343904"/>
            <a:ext cx="4959782" cy="763905"/>
          </a:xfrm>
          <a:prstGeom prst="rect">
            <a:avLst/>
          </a:prstGeom>
        </p:spPr>
        <p:txBody>
          <a:bodyPr anchor="t" rtlCol="false" tIns="0" lIns="0" bIns="0" rIns="0">
            <a:spAutoFit/>
          </a:bodyPr>
          <a:lstStyle/>
          <a:p>
            <a:pPr algn="l">
              <a:lnSpc>
                <a:spcPts val="4620"/>
              </a:lnSpc>
            </a:pPr>
            <a:r>
              <a:rPr lang="en-US" sz="3300" u="sng">
                <a:solidFill>
                  <a:srgbClr val="000000"/>
                </a:solidFill>
                <a:latin typeface="Bungee"/>
                <a:ea typeface="Bungee"/>
                <a:cs typeface="Bungee"/>
                <a:sym typeface="Bungee"/>
              </a:rPr>
              <a:t>SEBASTIAN CABRERA</a:t>
            </a:r>
          </a:p>
        </p:txBody>
      </p:sp>
      <p:sp>
        <p:nvSpPr>
          <p:cNvPr name="TextBox 6" id="6"/>
          <p:cNvSpPr txBox="true"/>
          <p:nvPr/>
        </p:nvSpPr>
        <p:spPr>
          <a:xfrm rot="0">
            <a:off x="1658541" y="4253293"/>
            <a:ext cx="5432355" cy="4450080"/>
          </a:xfrm>
          <a:prstGeom prst="rect">
            <a:avLst/>
          </a:prstGeom>
        </p:spPr>
        <p:txBody>
          <a:bodyPr anchor="t" rtlCol="false" tIns="0" lIns="0" bIns="0" rIns="0">
            <a:spAutoFit/>
          </a:bodyPr>
          <a:lstStyle/>
          <a:p>
            <a:pPr algn="l">
              <a:lnSpc>
                <a:spcPts val="2520"/>
              </a:lnSpc>
            </a:pPr>
            <a:r>
              <a:rPr lang="en-US" sz="1800">
                <a:solidFill>
                  <a:srgbClr val="000000"/>
                </a:solidFill>
                <a:latin typeface="Questrial"/>
                <a:ea typeface="Questrial"/>
                <a:cs typeface="Questrial"/>
                <a:sym typeface="Questrial"/>
              </a:rPr>
              <a:t>Este proyecto lo veo con mucho futuro, tanto para mejorar nuestra formación como profesionales como por la gran escalabilidad que tiene. Nos permitirá aplicar los conocimientos que hemos adquirido y, al mismo tiempo, seguir desarrollando nuestras habilidades y ejercitando la mente mediante nuevos desafíos.</a:t>
            </a:r>
          </a:p>
          <a:p>
            <a:pPr algn="l">
              <a:lnSpc>
                <a:spcPts val="2520"/>
              </a:lnSpc>
            </a:pPr>
            <a:r>
              <a:rPr lang="en-US" sz="1800">
                <a:solidFill>
                  <a:srgbClr val="000000"/>
                </a:solidFill>
                <a:latin typeface="Questrial"/>
                <a:ea typeface="Questrial"/>
                <a:cs typeface="Questrial"/>
                <a:sym typeface="Questrial"/>
              </a:rPr>
              <a:t>Además, el proyecto puede seguir creciendo con la incorporación de nuevas funciones y tecnologías, como la inteligencia artificial, permitiendo mejorar y optimizar los procesos de la empresa. También nos entrega experiencia práctica que será muy útil para nuestro futuro laboral y profesional.</a:t>
            </a:r>
          </a:p>
          <a:p>
            <a:pPr algn="l">
              <a:lnSpc>
                <a:spcPts val="2520"/>
              </a:lnSpc>
            </a:pPr>
          </a:p>
        </p:txBody>
      </p:sp>
      <p:sp>
        <p:nvSpPr>
          <p:cNvPr name="TextBox 7" id="7"/>
          <p:cNvSpPr txBox="true"/>
          <p:nvPr/>
        </p:nvSpPr>
        <p:spPr>
          <a:xfrm rot="0">
            <a:off x="11700977" y="4253293"/>
            <a:ext cx="5352326" cy="3192780"/>
          </a:xfrm>
          <a:prstGeom prst="rect">
            <a:avLst/>
          </a:prstGeom>
        </p:spPr>
        <p:txBody>
          <a:bodyPr anchor="t" rtlCol="false" tIns="0" lIns="0" bIns="0" rIns="0">
            <a:spAutoFit/>
          </a:bodyPr>
          <a:lstStyle/>
          <a:p>
            <a:pPr algn="l">
              <a:lnSpc>
                <a:spcPts val="2520"/>
              </a:lnSpc>
            </a:pPr>
            <a:r>
              <a:rPr lang="en-US" sz="1800">
                <a:solidFill>
                  <a:srgbClr val="000000"/>
                </a:solidFill>
                <a:latin typeface="Questrial"/>
                <a:ea typeface="Questrial"/>
                <a:cs typeface="Questrial"/>
                <a:sym typeface="Questrial"/>
              </a:rPr>
              <a:t>En lo personal el desarrollo del proyecto presento una dinamica que nunca antes habia puesto en practica, ya que esta vez estuvo en desarrollo tanto un pagina web como una aplicación movil, lo que presento como un desafio interesante, pero que por suertre se pudo llevar adelante con el equipo. Durante el desarrollo del proyecto reforce conocimientos que habia puesto en practica anteriormente, lo que a decir verdad fue gratificante el poder desenvolverme de buena manera.</a:t>
            </a:r>
          </a:p>
        </p:txBody>
      </p:sp>
      <p:sp>
        <p:nvSpPr>
          <p:cNvPr name="TextBox 8" id="8"/>
          <p:cNvSpPr txBox="true"/>
          <p:nvPr/>
        </p:nvSpPr>
        <p:spPr>
          <a:xfrm rot="0">
            <a:off x="337680" y="85820"/>
            <a:ext cx="371180" cy="532600"/>
          </a:xfrm>
          <a:prstGeom prst="rect">
            <a:avLst/>
          </a:prstGeom>
        </p:spPr>
        <p:txBody>
          <a:bodyPr anchor="t" rtlCol="false" tIns="0" lIns="0" bIns="0" rIns="0">
            <a:spAutoFit/>
          </a:bodyPr>
          <a:lstStyle/>
          <a:p>
            <a:pPr algn="ctr">
              <a:lnSpc>
                <a:spcPts val="3719"/>
              </a:lnSpc>
            </a:pPr>
            <a:r>
              <a:rPr lang="en-US" sz="2655">
                <a:solidFill>
                  <a:srgbClr val="000000"/>
                </a:solidFill>
                <a:latin typeface="Questrial"/>
                <a:ea typeface="Questrial"/>
                <a:cs typeface="Questrial"/>
                <a:sym typeface="Questrial"/>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sp>
        <p:nvSpPr>
          <p:cNvPr name="Freeform 2" id="2"/>
          <p:cNvSpPr/>
          <p:nvPr/>
        </p:nvSpPr>
        <p:spPr>
          <a:xfrm flipH="false" flipV="false" rot="0">
            <a:off x="1131399" y="447618"/>
            <a:ext cx="16999315" cy="9455934"/>
          </a:xfrm>
          <a:custGeom>
            <a:avLst/>
            <a:gdLst/>
            <a:ahLst/>
            <a:cxnLst/>
            <a:rect r="r" b="b" t="t" l="l"/>
            <a:pathLst>
              <a:path h="9455934" w="16999315">
                <a:moveTo>
                  <a:pt x="0" y="0"/>
                </a:moveTo>
                <a:lnTo>
                  <a:pt x="16999315" y="0"/>
                </a:lnTo>
                <a:lnTo>
                  <a:pt x="16999315" y="9455934"/>
                </a:lnTo>
                <a:lnTo>
                  <a:pt x="0" y="94559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821986" y="4128764"/>
            <a:ext cx="10500646" cy="6854057"/>
          </a:xfrm>
          <a:custGeom>
            <a:avLst/>
            <a:gdLst/>
            <a:ahLst/>
            <a:cxnLst/>
            <a:rect r="r" b="b" t="t" l="l"/>
            <a:pathLst>
              <a:path h="6854057" w="10500646">
                <a:moveTo>
                  <a:pt x="0" y="0"/>
                </a:moveTo>
                <a:lnTo>
                  <a:pt x="10500646" y="0"/>
                </a:lnTo>
                <a:lnTo>
                  <a:pt x="10500646" y="6854056"/>
                </a:lnTo>
                <a:lnTo>
                  <a:pt x="0" y="6854056"/>
                </a:lnTo>
                <a:lnTo>
                  <a:pt x="0" y="0"/>
                </a:lnTo>
                <a:close/>
              </a:path>
            </a:pathLst>
          </a:custGeom>
          <a:blipFill>
            <a:blip r:embed="rId4">
              <a:extLst>
                <a:ext uri="{96DAC541-7B7A-43D3-8B79-37D633B846F1}">
                  <asvg:svgBlip xmlns:asvg="http://schemas.microsoft.com/office/drawing/2016/SVG/main" r:embed="rId5"/>
                </a:ext>
              </a:extLst>
            </a:blip>
            <a:stretch>
              <a:fillRect l="0" t="-211" r="0" b="-211"/>
            </a:stretch>
          </a:blipFill>
        </p:spPr>
      </p:sp>
      <p:sp>
        <p:nvSpPr>
          <p:cNvPr name="TextBox 4" id="4"/>
          <p:cNvSpPr txBox="true"/>
          <p:nvPr/>
        </p:nvSpPr>
        <p:spPr>
          <a:xfrm rot="0">
            <a:off x="3172120" y="3257017"/>
            <a:ext cx="11943759" cy="1843926"/>
          </a:xfrm>
          <a:prstGeom prst="rect">
            <a:avLst/>
          </a:prstGeom>
        </p:spPr>
        <p:txBody>
          <a:bodyPr anchor="t" rtlCol="false" tIns="0" lIns="0" bIns="0" rIns="0">
            <a:spAutoFit/>
          </a:bodyPr>
          <a:lstStyle/>
          <a:p>
            <a:pPr algn="ctr">
              <a:lnSpc>
                <a:spcPts val="12151"/>
              </a:lnSpc>
            </a:pPr>
            <a:r>
              <a:rPr lang="en-US" sz="12527">
                <a:solidFill>
                  <a:srgbClr val="000000"/>
                </a:solidFill>
                <a:latin typeface="Bungee"/>
                <a:ea typeface="Bungee"/>
                <a:cs typeface="Bungee"/>
                <a:sym typeface="Bungee"/>
              </a:rPr>
              <a:t>MUCHAS</a:t>
            </a:r>
          </a:p>
        </p:txBody>
      </p:sp>
      <p:sp>
        <p:nvSpPr>
          <p:cNvPr name="Freeform 5" id="5"/>
          <p:cNvSpPr/>
          <p:nvPr/>
        </p:nvSpPr>
        <p:spPr>
          <a:xfrm flipH="false" flipV="false" rot="0">
            <a:off x="14441653" y="346986"/>
            <a:ext cx="9942176" cy="6489535"/>
          </a:xfrm>
          <a:custGeom>
            <a:avLst/>
            <a:gdLst/>
            <a:ahLst/>
            <a:cxnLst/>
            <a:rect r="r" b="b" t="t" l="l"/>
            <a:pathLst>
              <a:path h="6489535" w="9942176">
                <a:moveTo>
                  <a:pt x="0" y="0"/>
                </a:moveTo>
                <a:lnTo>
                  <a:pt x="9942176" y="0"/>
                </a:lnTo>
                <a:lnTo>
                  <a:pt x="9942176" y="6489535"/>
                </a:lnTo>
                <a:lnTo>
                  <a:pt x="0" y="6489535"/>
                </a:lnTo>
                <a:lnTo>
                  <a:pt x="0" y="0"/>
                </a:lnTo>
                <a:close/>
              </a:path>
            </a:pathLst>
          </a:custGeom>
          <a:blipFill>
            <a:blip r:embed="rId4">
              <a:extLst>
                <a:ext uri="{96DAC541-7B7A-43D3-8B79-37D633B846F1}">
                  <asvg:svgBlip xmlns:asvg="http://schemas.microsoft.com/office/drawing/2016/SVG/main" r:embed="rId5"/>
                </a:ext>
              </a:extLst>
            </a:blip>
            <a:stretch>
              <a:fillRect l="0" t="-260" r="0" b="-260"/>
            </a:stretch>
          </a:blipFill>
        </p:spPr>
      </p:sp>
      <p:sp>
        <p:nvSpPr>
          <p:cNvPr name="Freeform 6" id="6"/>
          <p:cNvSpPr/>
          <p:nvPr/>
        </p:nvSpPr>
        <p:spPr>
          <a:xfrm flipH="false" flipV="false" rot="0">
            <a:off x="1952158" y="214312"/>
            <a:ext cx="827075" cy="1858594"/>
          </a:xfrm>
          <a:custGeom>
            <a:avLst/>
            <a:gdLst/>
            <a:ahLst/>
            <a:cxnLst/>
            <a:rect r="r" b="b" t="t" l="l"/>
            <a:pathLst>
              <a:path h="1858594" w="827075">
                <a:moveTo>
                  <a:pt x="0" y="0"/>
                </a:moveTo>
                <a:lnTo>
                  <a:pt x="827075" y="0"/>
                </a:lnTo>
                <a:lnTo>
                  <a:pt x="827075" y="1858595"/>
                </a:lnTo>
                <a:lnTo>
                  <a:pt x="0" y="1858595"/>
                </a:lnTo>
                <a:lnTo>
                  <a:pt x="0" y="0"/>
                </a:lnTo>
                <a:close/>
              </a:path>
            </a:pathLst>
          </a:custGeom>
          <a:blipFill>
            <a:blip r:embed="rId6">
              <a:extLst>
                <a:ext uri="{96DAC541-7B7A-43D3-8B79-37D633B846F1}">
                  <asvg:svgBlip xmlns:asvg="http://schemas.microsoft.com/office/drawing/2016/SVG/main" r:embed="rId7"/>
                </a:ext>
              </a:extLst>
            </a:blip>
            <a:stretch>
              <a:fillRect l="0" t="-126" r="0" b="-126"/>
            </a:stretch>
          </a:blipFill>
        </p:spPr>
      </p:sp>
      <p:sp>
        <p:nvSpPr>
          <p:cNvPr name="Freeform 7" id="7"/>
          <p:cNvSpPr/>
          <p:nvPr/>
        </p:nvSpPr>
        <p:spPr>
          <a:xfrm flipH="true" flipV="false" rot="1935360">
            <a:off x="15277176" y="6801726"/>
            <a:ext cx="1183605" cy="2188483"/>
          </a:xfrm>
          <a:custGeom>
            <a:avLst/>
            <a:gdLst/>
            <a:ahLst/>
            <a:cxnLst/>
            <a:rect r="r" b="b" t="t" l="l"/>
            <a:pathLst>
              <a:path h="2188483" w="1183605">
                <a:moveTo>
                  <a:pt x="1183605" y="0"/>
                </a:moveTo>
                <a:lnTo>
                  <a:pt x="0" y="0"/>
                </a:lnTo>
                <a:lnTo>
                  <a:pt x="0" y="2188483"/>
                </a:lnTo>
                <a:lnTo>
                  <a:pt x="1183605" y="2188483"/>
                </a:lnTo>
                <a:lnTo>
                  <a:pt x="1183605" y="0"/>
                </a:lnTo>
                <a:close/>
              </a:path>
            </a:pathLst>
          </a:custGeom>
          <a:blipFill>
            <a:blip r:embed="rId8">
              <a:extLst>
                <a:ext uri="{96DAC541-7B7A-43D3-8B79-37D633B846F1}">
                  <asvg:svgBlip xmlns:asvg="http://schemas.microsoft.com/office/drawing/2016/SVG/main" r:embed="rId9"/>
                </a:ext>
              </a:extLst>
            </a:blip>
            <a:stretch>
              <a:fillRect l="-244" t="0" r="-244" b="0"/>
            </a:stretch>
          </a:blipFill>
        </p:spPr>
      </p:sp>
      <p:grpSp>
        <p:nvGrpSpPr>
          <p:cNvPr name="Group 8" id="8"/>
          <p:cNvGrpSpPr/>
          <p:nvPr/>
        </p:nvGrpSpPr>
        <p:grpSpPr>
          <a:xfrm rot="2483640">
            <a:off x="8366303" y="1722872"/>
            <a:ext cx="1555394" cy="1571434"/>
            <a:chOff x="0" y="0"/>
            <a:chExt cx="2073859" cy="2095246"/>
          </a:xfrm>
        </p:grpSpPr>
        <p:sp>
          <p:nvSpPr>
            <p:cNvPr name="Freeform 9" id="9"/>
            <p:cNvSpPr/>
            <p:nvPr/>
          </p:nvSpPr>
          <p:spPr>
            <a:xfrm flipH="false" flipV="false" rot="0">
              <a:off x="0" y="0"/>
              <a:ext cx="2073910" cy="2095246"/>
            </a:xfrm>
            <a:custGeom>
              <a:avLst/>
              <a:gdLst/>
              <a:ahLst/>
              <a:cxnLst/>
              <a:rect r="r" b="b" t="t" l="l"/>
              <a:pathLst>
                <a:path h="2095246" w="2073910">
                  <a:moveTo>
                    <a:pt x="0" y="0"/>
                  </a:moveTo>
                  <a:lnTo>
                    <a:pt x="2073910" y="0"/>
                  </a:lnTo>
                  <a:lnTo>
                    <a:pt x="2073910" y="2095246"/>
                  </a:lnTo>
                  <a:lnTo>
                    <a:pt x="0" y="2095246"/>
                  </a:lnTo>
                  <a:lnTo>
                    <a:pt x="0" y="0"/>
                  </a:lnTo>
                  <a:close/>
                </a:path>
              </a:pathLst>
            </a:custGeom>
            <a:blipFill>
              <a:blip r:embed="rId10"/>
              <a:stretch>
                <a:fillRect l="-354" t="0" r="-352" b="0"/>
              </a:stretch>
            </a:blipFill>
          </p:spPr>
        </p:sp>
      </p:grpSp>
      <p:sp>
        <p:nvSpPr>
          <p:cNvPr name="Freeform 10" id="10"/>
          <p:cNvSpPr/>
          <p:nvPr/>
        </p:nvSpPr>
        <p:spPr>
          <a:xfrm flipH="false" flipV="false" rot="0">
            <a:off x="4049201" y="4875219"/>
            <a:ext cx="9976828" cy="2486092"/>
          </a:xfrm>
          <a:custGeom>
            <a:avLst/>
            <a:gdLst/>
            <a:ahLst/>
            <a:cxnLst/>
            <a:rect r="r" b="b" t="t" l="l"/>
            <a:pathLst>
              <a:path h="2486092" w="9976828">
                <a:moveTo>
                  <a:pt x="0" y="0"/>
                </a:moveTo>
                <a:lnTo>
                  <a:pt x="9976828" y="0"/>
                </a:lnTo>
                <a:lnTo>
                  <a:pt x="9976828" y="2486092"/>
                </a:lnTo>
                <a:lnTo>
                  <a:pt x="0" y="248609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2814876" y="3087776"/>
            <a:ext cx="1125836" cy="1220410"/>
          </a:xfrm>
          <a:custGeom>
            <a:avLst/>
            <a:gdLst/>
            <a:ahLst/>
            <a:cxnLst/>
            <a:rect r="r" b="b" t="t" l="l"/>
            <a:pathLst>
              <a:path h="1220410" w="1125836">
                <a:moveTo>
                  <a:pt x="0" y="0"/>
                </a:moveTo>
                <a:lnTo>
                  <a:pt x="1125836" y="0"/>
                </a:lnTo>
                <a:lnTo>
                  <a:pt x="1125836" y="1220410"/>
                </a:lnTo>
                <a:lnTo>
                  <a:pt x="0" y="1220410"/>
                </a:lnTo>
                <a:lnTo>
                  <a:pt x="0" y="0"/>
                </a:lnTo>
                <a:close/>
              </a:path>
            </a:pathLst>
          </a:custGeom>
          <a:blipFill>
            <a:blip r:embed="rId13">
              <a:extLst>
                <a:ext uri="{96DAC541-7B7A-43D3-8B79-37D633B846F1}">
                  <asvg:svgBlip xmlns:asvg="http://schemas.microsoft.com/office/drawing/2016/SVG/main" r:embed="rId14"/>
                </a:ext>
              </a:extLst>
            </a:blip>
            <a:stretch>
              <a:fillRect l="0" t="0" r="0" b="-1"/>
            </a:stretch>
          </a:blipFill>
        </p:spPr>
      </p:sp>
      <p:sp>
        <p:nvSpPr>
          <p:cNvPr name="TextBox 12" id="12"/>
          <p:cNvSpPr txBox="true"/>
          <p:nvPr/>
        </p:nvSpPr>
        <p:spPr>
          <a:xfrm rot="0">
            <a:off x="5053813" y="7750292"/>
            <a:ext cx="7967586" cy="308972"/>
          </a:xfrm>
          <a:prstGeom prst="rect">
            <a:avLst/>
          </a:prstGeom>
        </p:spPr>
        <p:txBody>
          <a:bodyPr anchor="t" rtlCol="false" tIns="0" lIns="0" bIns="0" rIns="0">
            <a:spAutoFit/>
          </a:bodyPr>
          <a:lstStyle/>
          <a:p>
            <a:pPr algn="ctr">
              <a:lnSpc>
                <a:spcPts val="2284"/>
              </a:lnSpc>
            </a:pPr>
            <a:r>
              <a:rPr lang="en-US" sz="1718">
                <a:solidFill>
                  <a:srgbClr val="FBFEFE"/>
                </a:solidFill>
                <a:latin typeface="Questrial"/>
                <a:ea typeface="Questrial"/>
                <a:cs typeface="Questrial"/>
                <a:sym typeface="Questrial"/>
              </a:rPr>
              <a:t>www.unsitiogenial.es</a:t>
            </a:r>
          </a:p>
        </p:txBody>
      </p:sp>
      <p:sp>
        <p:nvSpPr>
          <p:cNvPr name="TextBox 13" id="13"/>
          <p:cNvSpPr txBox="true"/>
          <p:nvPr/>
        </p:nvSpPr>
        <p:spPr>
          <a:xfrm rot="0">
            <a:off x="4146471" y="5433317"/>
            <a:ext cx="9782270" cy="1843926"/>
          </a:xfrm>
          <a:prstGeom prst="rect">
            <a:avLst/>
          </a:prstGeom>
        </p:spPr>
        <p:txBody>
          <a:bodyPr anchor="t" rtlCol="false" tIns="0" lIns="0" bIns="0" rIns="0">
            <a:spAutoFit/>
          </a:bodyPr>
          <a:lstStyle/>
          <a:p>
            <a:pPr algn="ctr">
              <a:lnSpc>
                <a:spcPts val="12151"/>
              </a:lnSpc>
            </a:pPr>
            <a:r>
              <a:rPr lang="en-US" sz="12527">
                <a:solidFill>
                  <a:srgbClr val="FFFFFF"/>
                </a:solidFill>
                <a:latin typeface="Bungee"/>
                <a:ea typeface="Bungee"/>
                <a:cs typeface="Bungee"/>
                <a:sym typeface="Bungee"/>
              </a:rPr>
              <a:t>GRACIAS</a:t>
            </a:r>
          </a:p>
        </p:txBody>
      </p:sp>
      <p:sp>
        <p:nvSpPr>
          <p:cNvPr name="Freeform 14" id="14"/>
          <p:cNvSpPr/>
          <p:nvPr/>
        </p:nvSpPr>
        <p:spPr>
          <a:xfrm flipH="false" flipV="false" rot="0">
            <a:off x="3760146" y="1929394"/>
            <a:ext cx="1068610" cy="1158383"/>
          </a:xfrm>
          <a:custGeom>
            <a:avLst/>
            <a:gdLst/>
            <a:ahLst/>
            <a:cxnLst/>
            <a:rect r="r" b="b" t="t" l="l"/>
            <a:pathLst>
              <a:path h="1158383" w="1068610">
                <a:moveTo>
                  <a:pt x="0" y="0"/>
                </a:moveTo>
                <a:lnTo>
                  <a:pt x="1068610" y="0"/>
                </a:lnTo>
                <a:lnTo>
                  <a:pt x="1068610" y="1158382"/>
                </a:lnTo>
                <a:lnTo>
                  <a:pt x="0" y="1158382"/>
                </a:lnTo>
                <a:lnTo>
                  <a:pt x="0" y="0"/>
                </a:lnTo>
                <a:close/>
              </a:path>
            </a:pathLst>
          </a:custGeom>
          <a:blipFill>
            <a:blip r:embed="rId13">
              <a:extLst>
                <a:ext uri="{96DAC541-7B7A-43D3-8B79-37D633B846F1}">
                  <asvg:svgBlip xmlns:asvg="http://schemas.microsoft.com/office/drawing/2016/SVG/main" r:embed="rId14"/>
                </a:ext>
              </a:extLst>
            </a:blip>
            <a:stretch>
              <a:fillRect l="-202" t="0" r="-201" b="0"/>
            </a:stretch>
          </a:blipFill>
        </p:spPr>
      </p:sp>
      <p:sp>
        <p:nvSpPr>
          <p:cNvPr name="TextBox 15" id="15"/>
          <p:cNvSpPr txBox="true"/>
          <p:nvPr/>
        </p:nvSpPr>
        <p:spPr>
          <a:xfrm rot="0">
            <a:off x="4146471" y="5473656"/>
            <a:ext cx="7992989" cy="3649075"/>
          </a:xfrm>
          <a:prstGeom prst="rect">
            <a:avLst/>
          </a:prstGeom>
        </p:spPr>
        <p:txBody>
          <a:bodyPr anchor="t" rtlCol="false" tIns="0" lIns="0" bIns="0" rIns="0">
            <a:spAutoFit/>
          </a:bodyPr>
          <a:lstStyle/>
          <a:p>
            <a:pPr algn="ctr">
              <a:lnSpc>
                <a:spcPts val="22363"/>
              </a:lnSpc>
            </a:pPr>
            <a:r>
              <a:rPr lang="en-US" sz="16206" spc="-1879">
                <a:solidFill>
                  <a:srgbClr val="FFFFFF"/>
                </a:solidFill>
                <a:latin typeface="Bungee"/>
                <a:ea typeface="Bungee"/>
                <a:cs typeface="Bungee"/>
                <a:sym typeface="Bungee"/>
              </a:rPr>
              <a:t>-----------</a:t>
            </a:r>
          </a:p>
        </p:txBody>
      </p:sp>
      <p:sp>
        <p:nvSpPr>
          <p:cNvPr name="TextBox 16" id="16"/>
          <p:cNvSpPr txBox="true"/>
          <p:nvPr/>
        </p:nvSpPr>
        <p:spPr>
          <a:xfrm rot="0">
            <a:off x="337680" y="85820"/>
            <a:ext cx="371180" cy="532600"/>
          </a:xfrm>
          <a:prstGeom prst="rect">
            <a:avLst/>
          </a:prstGeom>
        </p:spPr>
        <p:txBody>
          <a:bodyPr anchor="t" rtlCol="false" tIns="0" lIns="0" bIns="0" rIns="0">
            <a:spAutoFit/>
          </a:bodyPr>
          <a:lstStyle/>
          <a:p>
            <a:pPr algn="ctr">
              <a:lnSpc>
                <a:spcPts val="3719"/>
              </a:lnSpc>
            </a:pPr>
            <a:r>
              <a:rPr lang="en-US" sz="2655">
                <a:solidFill>
                  <a:srgbClr val="000000"/>
                </a:solidFill>
                <a:latin typeface="Questrial"/>
                <a:ea typeface="Questrial"/>
                <a:cs typeface="Questrial"/>
                <a:sym typeface="Questrial"/>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DAHT5XNcqu4</dc:identifier>
  <dcterms:modified xsi:type="dcterms:W3CDTF">2011-08-01T06:04:30Z</dcterms:modified>
  <cp:revision>1</cp:revision>
  <dc:title>PresentacionFase1_20260831_170308_0000.pptx</dc:title>
</cp:coreProperties>
</file>